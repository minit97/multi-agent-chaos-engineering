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46"/>
    <p:restoredTop sz="94610"/>
  </p:normalViewPr>
  <p:slideViewPr>
    <p:cSldViewPr snapToGrid="0" snapToObjects="1">
      <p:cViewPr varScale="1">
        <p:scale>
          <a:sx n="221" d="100"/>
          <a:sy n="221"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300" b="0" i="0" u="none" strike="noStrike">
                <a:solidFill>
                  <a:srgbClr val="232F3E"/>
                </a:solidFill>
                <a:latin typeface="Apple SD Gothic Neo"/>
              </a:defRPr>
            </a:pPr>
            <a:r>
              <a:rPr lang="ko-KR" altLang="en-US" sz="1300" b="0" i="0" u="none" strike="noStrike">
                <a:solidFill>
                  <a:srgbClr val="232F3E"/>
                </a:solidFill>
                <a:latin typeface="Apple SD Gothic Neo"/>
              </a:rPr>
              <a:t>에이전트별 실행 시간 </a:t>
            </a:r>
            <a:r>
              <a:rPr lang="en-US" altLang="ko-KR" sz="1300" b="0" i="0" u="none" strike="noStrike">
                <a:solidFill>
                  <a:srgbClr val="232F3E"/>
                </a:solidFill>
                <a:latin typeface="Apple SD Gothic Neo"/>
              </a:rPr>
              <a:t>(</a:t>
            </a:r>
            <a:r>
              <a:rPr lang="ko-KR" altLang="en-US" sz="1300" b="0" i="0" u="none" strike="noStrike">
                <a:solidFill>
                  <a:srgbClr val="232F3E"/>
                </a:solidFill>
                <a:latin typeface="Apple SD Gothic Neo"/>
              </a:rPr>
              <a:t>초</a:t>
            </a:r>
            <a:r>
              <a:rPr lang="en-US" altLang="ko-KR" sz="1300" b="0" i="0" u="none" strike="noStrike">
                <a:solidFill>
                  <a:srgbClr val="232F3E"/>
                </a:solidFill>
                <a:latin typeface="Apple SD Gothic Neo"/>
              </a:rPr>
              <a:t>)</a:t>
            </a:r>
          </a:p>
        </c:rich>
      </c:tx>
      <c:overlay val="0"/>
    </c:title>
    <c:autoTitleDeleted val="0"/>
    <c:plotArea>
      <c:layout/>
      <c:barChart>
        <c:barDir val="bar"/>
        <c:grouping val="clustered"/>
        <c:varyColors val="0"/>
        <c:ser>
          <c:idx val="0"/>
          <c:order val="0"/>
          <c:tx>
            <c:strRef>
              <c:f>Sheet1!$B$1</c:f>
              <c:strCache>
                <c:ptCount val="1"/>
                <c:pt idx="0">
                  <c:v>실행 시간(초)</c:v>
                </c:pt>
              </c:strCache>
            </c:strRef>
          </c:tx>
          <c:spPr>
            <a:solidFill>
              <a:srgbClr val="FF9900"/>
            </a:solidFill>
            <a:effectLst/>
          </c:spPr>
          <c:invertIfNegative val="0"/>
          <c:dLbls>
            <c:numFmt formatCode="#,##0" sourceLinked="0"/>
            <c:spPr>
              <a:noFill/>
              <a:ln>
                <a:noFill/>
              </a:ln>
              <a:effectLst/>
            </c:spPr>
            <c:txPr>
              <a:bodyPr/>
              <a:lstStyle/>
              <a:p>
                <a:pPr>
                  <a:defRPr sz="1000" b="0" i="0" u="none" strike="noStrike">
                    <a:solidFill>
                      <a:srgbClr val="4A5561"/>
                    </a:solidFill>
                    <a:latin typeface="Apple SD Gothic Neo"/>
                  </a:defRPr>
                </a:pPr>
                <a:endParaRPr lang="ko-Kore-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Agent 5 학습 분석</c:v>
                </c:pt>
                <c:pt idx="1">
                  <c:v>Agent 4 사전 검증</c:v>
                </c:pt>
                <c:pt idx="2">
                  <c:v>Agent 3 실험 설계</c:v>
                </c:pt>
                <c:pt idx="3">
                  <c:v>Agent 2 우선순위</c:v>
                </c:pt>
                <c:pt idx="4">
                  <c:v>Agent 1 가설 생성</c:v>
                </c:pt>
              </c:strCache>
            </c:strRef>
          </c:cat>
          <c:val>
            <c:numRef>
              <c:f>Sheet1!$B$2:$B$6</c:f>
              <c:numCache>
                <c:formatCode>General</c:formatCode>
                <c:ptCount val="5"/>
                <c:pt idx="0">
                  <c:v>23.4</c:v>
                </c:pt>
                <c:pt idx="1">
                  <c:v>7.6</c:v>
                </c:pt>
                <c:pt idx="2">
                  <c:v>35.4</c:v>
                </c:pt>
                <c:pt idx="3">
                  <c:v>5.2</c:v>
                </c:pt>
                <c:pt idx="4">
                  <c:v>50.3</c:v>
                </c:pt>
              </c:numCache>
            </c:numRef>
          </c:val>
          <c:extLst>
            <c:ext xmlns:c16="http://schemas.microsoft.com/office/drawing/2014/chart" uri="{C3380CC4-5D6E-409C-BE32-E72D297353CC}">
              <c16:uniqueId val="{00000000-B706-404F-B6D8-BE16DDAF97D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561"/>
                </a:solidFill>
                <a:latin typeface="Apple SD Gothic Neo"/>
              </a:defRPr>
            </a:pPr>
            <a:endParaRPr lang="en-US"/>
          </a:p>
        </c:txPr>
        <c:crossAx val="2094734552"/>
        <c:crosses val="autoZero"/>
        <c:auto val="1"/>
        <c:lblAlgn val="ctr"/>
        <c:lblOffset val="100"/>
        <c:noMultiLvlLbl val="1"/>
      </c:catAx>
      <c:valAx>
        <c:axId val="2094734552"/>
        <c:scaling>
          <c:orientation val="minMax"/>
          <c:max val="60"/>
        </c:scaling>
        <c:delete val="0"/>
        <c:axPos val="b"/>
        <c:majorGridlines>
          <c:spPr>
            <a:ln w="12700" cap="flat">
              <a:solidFill>
                <a:srgbClr val="E9EC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87078"/>
                </a:solidFill>
                <a:latin typeface="Apple SD Gothic Neo"/>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7618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제가 할 이야기는 시스템을 안정적으로 만드는 방법이 아닙니다. 오히려 시스템을 일부러 고장 내는 이야기입니다. 그리고 그 고장을 AI 에이전트가 알아서 설계하게 만들어본 과정을 공유하려고 합니다.
[핵심 메시지] 이 발표는 "장애를 없애는 법"이 아니라 "장애를 일부러 만드는 법"에 대한 이야기다.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대부분은 "아마 괜찮을 것"이라고 답합니다. 문서에는 그렇게 쓰여 있고, 설계도 그렇게 했으니까요. 문제는 "아마"와 "확인했다" 사이의 간격입니다. 그 간격에서 장애가 터집니다. 카오스 엔지니어링은 그 간격을 없애는 작업입니다.
[핵심 메시지] 청중이 스스로 "모르겠다"를 자각하게 만든다.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정의는 제가 만든 게 아니고 넷플릭스가 2015년에 정리해 공개한 문장입니다. 이 분야의 용어 자체가 넷플릭스에서 나왔습니다.
이름 때문에 오해가 많습니다. "운영 서버를 랜덤하게 때려 부순다"가 아닙니다. 과학 실험과 구조가 똑같습니다. 가설을 세우고, 조건을 통제하고, 결과를 측정하고, 배웁니다. 다른 점은 실험 대상이 시험관이 아니라 우리 프로덕션 시스템이라는 것뿐입니다.
[핵심 메시지] 카오스 엔지니어링은 "고장 내기"가 아니라 "가설을 세우고 검증하는 실험"이다.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시작은 2010년입니다. 넷플릭스가 자체 데이터센터에서 AWS로 옮기던 시기인데, 클라우드에서는 인스턴스가 언제든 사라질 수 있다는 걸 받아들여야 했습니다. 그래서 "어차피 죽을 거면 우리가 먼저 죽이자"는 발상으로 Chaos Monkey를 만들었습니다. 업무 시간에 돌렸습니다. 새벽에 터지면 대응할 사람이 없으니 사람이 다 붙어 있을 때 일부러 터뜨린 겁니다.
2011년에는 원숭이가 군단이 됩니다. 이름이 재미있는데, Latency Monkey는 네트워크를 느리게 만들고 Chaos Gorilla는 가용영역을 통째로 날립니다. 원숭이에서 고릴라로 커진 겁니다. 장애의 종류와 범위가 넓어진 단계입니다.
2015년이 가장 중요한 전환입니다. 도구가 방법론이 됩니다. 넷플릭스가 "Chaos라는 말이 팀마다 다른 뜻으로 쓰인다"는 문제를 느끼고 원칙을 정리했고, 이때 가설과 정상 상태 같은 개념이 들어옵니다.
마지막 줄이 저희에게 직접적인 의미가 있습니다. 2021년에 AWS FIS가 나오면서 도구를 직접 만들 필요가 없어졌습니다. 그런데 도구가 공짜가 되니까 남은 병목이 드러났습니다. "그래서 뭘 실험할 건데?" 입니다. 이 질문이 오늘 발표의 중심입니다.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AWS가 EKS 컨트롤 플레인의 가용성을 보장해 줍니다. 하지만 그 위에 올린 우리 마이크로서비스가 Redis Pod 하나 죽었을 때 결제 전체가 멈추는지는 AWS가 알려주지 않습니다. 그건 우리 책임 영역이고, 우리가 직접 실험해서 확인해야 하는 부분입니다.
참고로 이 말을 한 Werner Vogels가 11년 뒤에 AWS FIS를 발표합니다. 그 자리에서 "카오스 엔지니어링은 아마존이나 넷플릭스 같은 회사만의 것이 아니라 모두의 것"이라고 말했습니다. 진입 장벽을 낮추겠다는 게 FIS의 출발점이었습니다.
[인용 출처 주의] "Everything fails all the time"은 2008년 The Next Web 키노트 발언이며 블로그 글에는 없다. 두 인용은 출처가 다르므로 묶어 표기하지 말 것.</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차이는 "실패가 나쁜 게 아니다"라는 점입니다. 카오스 실험에서 가설이 깨지는 순간이 가장 값진 순간입니다. 운영 중에 새벽 3시에 알게 될 사실을, 낮에 준비된 상태로 알게 되는 거니까요.
[시간 부족 시 생략 가능한 슬라이드]</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4단계입니다. 첫째, 평소 정상 상태를 숫자로 정의합니다. 주문 성공률 99.9% 같은 거요. 둘째, 가설을 세웁니다. 셋째, 장애를 주입하고 정상 상태 지표가 어떻게 흔들리는지 봅니다. 넷째, 배운 것을 고치고 다시 돌아갑니다.
이 4단계를 기억해 주세요. Part 3에서 이 단계 하나하나를 AI 에이전트에게 맡길 겁니다. 그리고 Part 4에서 저희가 1단계를 못 채웠다는 얘기를 하게 됩니다. 오늘 발표에서 가장 중요한 한계가 거기서 나옵니다.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오른쪽 열이 중요합니다. 카오스 실험의 산출물은 "장애가 났다/안 났다"가 아니라 숫자입니다. 복구까지 몇 초, 그 사이 몇 건 실패, 알람은 몇 초 후 울렸는지. 이 숫자가 없으면 개선했는지도 알 수 없습니다.
오른쪽 열을 눈여겨봐 주세요. "실패한 요청 수", "사용자 체감 응답 시간" 같은 건 트래픽이 있어야 측정됩니다. 이게 Part 4에서 다룰 저희의 가장 큰 한계입니다.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4개가 없으면 카오스 엔지니어링이 아니라 사고입니다. 그리고 바로 이 부분이 사람이 하기에 제일 귀찮고, 제일 자주 빠뜨리는 부분입니다. 이 지점이 뒤에 나올 자동화의 핵심 포인트가 됩니다.
미리 말씀드리면, 저희가 이 4개 중 2번을 아직 못 채웠습니다. FIS 템플릿 슬라이드(현재 17번)에서 그 얘기를 하겠습니다.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3~4주 걸린다는 건, 현실적으로는 "안 한다"는 뜻입니다. 분기 목표에 들어가지 않으면 영원히 밀립니다. 저희가 풀고 싶었던 문제는 "카오스 엔지니어링을 어떻게 잘할까"가 아니라 "어떻게 시작 자체를 가능하게 할까" 였습니다.
[주의] 3~4주는 AWS 자료 기준 추정치다. 우리가 측정한 값이 아니라고 반드시 밝힐 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단계가 왜 오래 걸리는지 보면 공통점이 있습니다. 어려운 알고리즘이 필요한 게 아닙니다. 흩어진 정보를 모아서, 패턴을 떠올리고, 정해진 형식으로 옮기는 일입니다.
두 번째 줄을 특히 강조하고 싶습니다. 사람이 가설을 세우면 자기가 겪어본 장애만 떠올립니다. DB가 죽어본 팀은 DB 시나리오를, 네트워크로 고생한 팀은 네트워크 시나리오를 만듭니다. 안 겪어본 유형은 아예 후보에 오르지 않습니다.
그리고 이 세 가지는 LLM이 제일 잘하는 작업입니다. 그래서 에이전트로 만들어봤습니다.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두 가지를 밝혀두겠습니다.
첫째, 지금부터 소개할 접근법은 제가 생각해낸 게 아닙니다. AWS Summit Seoul 2026에서 복원력과 AI 에이전트를 다룬 세션을 봤고, 거기서 다섯 개 에이전트가 카오스 엔지니어링 전 과정을 나눠 맡는 구조를 소개했습니다. 가드레일 5원칙도, 마지막에 다시 보여드릴 그 문장도 그 세션에서 나온 것입니다.
둘째, 이건 AI 해커톤에서 만든 토이 프로젝트입니다. 운영 서비스에 적용한 게 아닙니다. 해커톤 기간에 테스트용 EKS 클러스터를 새로 만들고, AWS가 공식 제공하는 샘플 쇼핑몰을 올려서 실험한 겁니다. 이 점을 먼저 말씀드리는 이유는, 뒤에 나올 결과를 그 전제 위에서 봐주셨으면 해서입니다.
그래도 하나는 말씀드릴 수 있습니다. 슬라이드에 코드만 띄워놓거나 API를 모킹한 게 아니라, 실제 AWS 계정에서 Bedrock을 호출하고 FIS API를 호출해서 끝까지 돌렸습니다. 그 결과로 FIS 실험 템플릿이 콘솔에 두 개 생겼고 지금도 남아 있습니다.
세션을 보고 든 생각은 "이거 진짜 되나?"였습니다. 발표에서 보여주는 건 보통 잘 되는 것만 보여주니까요. 오늘은 직접 해보니 어디까지 되고 어디서 막혔는지를 말씀드리려고 합니다.
[확인 필요] 정확한 세션명·발표자를 확인해 채울 것.</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파이프라인 구조를 보여드리기 전에 재료 세 개를 먼저 소개하겠습니다. 이걸 알고 보시면 뒤에 나오는 파이프라인이 훨씬 쉽게 이해됩니다.
세 층으로 나눠서 보시면 편합니다. Bedrock이 판단하고, Strands가 도구를 호출하고, FIS가 실제로 장애를 주입합니다. 그리고 EKS가 대상입니다.
도식 맨 아래 리전 표시를 봐주세요. LLM은 us-east-1에서 호출하고, 대상 EKS 클러스터와 FIS는 ap-northeast-2입니다. 리전이 다릅니다. 처음엔 실수인가 했는데, LLM 호출은 그냥 HTTPS API 호출이라 리전이 달라도 상관없습니다. 오히려 쓸 수 있는 모델이 리전마다 다르니 자연스러운 구성입니다.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진입 장벽이 가장 낮아진 지점입니다. Bedrock을 원래 방식으로 붙이면 IAM Role 만들고 SigV4 서명하고 모델 액세스 승인받아야 합니다. Mantle 엔드포인트는 OpenAI 호환이라 API Key 하나로 끝납니다. 그래서 Strands에서도 BedrockModel이 아니라 OpenAIModel을 씁니다. 이름은 OpenAI인데 실제로 부르는 건 Bedrock의 Qwen 모델입니다.
모델은 30B입니다. 아주 큰 모델이 아닙니다. 이 정도로도 kubectl 출력을 읽고 가설을 만드는 작업은 됐습니다.
[미정] 모델명을 슬라이드에 공개할지 확정 필요.</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에이전트라는 말이 막연하게 들리는데, 실체는 이 그림 하나입니다. 프롬프트를 넣으면 LLM이 추론하고, 도구를 쓸지 판단합니다. 쓰겠다고 하면 SDK가 실제 파이썬 함수를 실행해서 결과를 다시 LLM에게 돌려줍니다. 그러면 LLM이 그 결과를 보고 또 판단합니다. 더 쓸 게 없다고 판단하면 최종 답을 냅니다.
중요한 건 제 코드 어디에도 "1번에 kubectl 호출하고 2번에 FIS 액션 목록 가져와라"라는 순서가 없다는 점입니다. 도구 목록만 주고 "가설 5개 만들어"라고 했습니다. 순서는 LLM이 정했습니다.
아래쪽 @tool 설명도 봐주세요. 타입 힌트와 docstring을 읽어서 도구 스펙을 자동으로 만듭니다. 그래서 docstring을 성의 없이 쓰면 에이전트가 도구를 못 씁니다. 여기에 시간을 제일 많이 썼습니다.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FIS를 EKS용 도구로 오해하기 쉬운데, 표를 보시면 범위가 훨씬 넓습니다. RDS 페일오버를 일으키거나, ElastiCache의 가용영역 전원을 내리거나, 심지어 AWS API가 스로틀링 에러를 뱉게 만들 수도 있습니다. 저희는 이 중 EKS Pod 액션 하나만 썼습니다.
두 번째 표가 중요합니다. 템플릿과 실험은 다른 개념입니다. 템플릿은 설계도고, 실험은 그 설계도를 한 번 실행한 겁니다. 이걸 구분해서 말씀드리는 이유는, 저희가 만든 게 정확히 템플릿까지이기 때문입니다. 설계도는 그렸고 방아쇠는 당기지 않았습니다.
마지막 요금 얘기를 정정해야 합니다. 저희 내부 문서에 "FIS 실험은 무료"라고 적혀 있었는데 확인해보니 틀렸습니다. action-minute당 10센트입니다. 액션 하나를 5분 돌리면 50센트입니다. 큰 금액은 아니지만 무료는 아니고, 상시로 돌리면 쌓입니다.
실행 경로: 콘솔 / CLI(aws fis start-experiment) / API·SDK / CI 파이프라인.</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구조가 세 덩어리라 외우기 쉽습니다. 무엇을(Actions), 누구에게(Targets), 언제 멈출지(Stop Conditions)입니다. 그리고 이 JSON이 뒤에 나올 Agent 3의 최종 산출물입니다. 앞에서 "실험 설계가 3~5일 걸린다"고 한 게 바로 이 템플릿 한 장 만드는 시간입니다.
그림 아래 빨간 박스를 봐주세요. 저희 코드는 stopConditions에 source: none을 넣었습니다. 중단 조건을 안 걸었다는 뜻입니다. 앞에서 카오스 실험의 필수 조건 4개를 말씀드렸는데, 그중 2번을 저희가 못 채운 겁니다. FIS가 제공하는 가장 중요한 안전장치를 안 쓰고 있습니다.
지금은 실행 전 검증으로만 막고 있어서 문제가 없었지만, 실제로 주입을 시작하려면 이걸 먼저 채워야 합니다. CloudWatch 알람을 만들고 그 ARN을 템플릿에 넣는 작업이고, 남은 과제 1순위입니다.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 하나 죽이는 건 kubectl delete pod 한 줄이면 됩니다. 그런데 저희가 만든 건 LLM이 판단해서 장애를 주입하는 시스템입니다. LLM에게 셸 권한을 주는 것과, 미리 정의한 액션만 허용하는 IAM Role을 주는 것은 위험도가 전혀 다릅니다. 이게 FIS를 쓴 첫 번째 이유입니다. 에이전트가 오작동해도 IAM 경계를 넘을 수 없습니다.
인프라 하시는 분들이 물어보실 것 같아서 덧붙이면, 클러스터에 뭘 설치할 필요가 없습니다. FIS가 실험할 때 임시 컨테이너를 띄워서 주입하고, 끝나면 지웁니다.
[시간 부족 시 가장 먼저 생략할 슬라이드 — Q&amp;A로 넘길 수 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재료 세 개를 조립한 결과입니다. 앞에서 본 4단계 사이클을 다섯 개 에이전트가 나눠 맡습니다.
하나의 거대한 에이전트에게 전부 맡기지 않았습니다. 역할을 쪼갠 이유는 세 가지입니다. 첫째, 각 단계의 판단 기준이 완전히 다릅니다. 둘째, 단계 사이에 사람이 끼어들어 확인할 지점이 필요합니다. 특히 3번과 4번 사이가 그렇습니다. 셋째, 프롬프트가 짧아지고 어느 단계에서 틀렸는지 바로 보입니다.
전달 방식은 놀랄 만큼 단순합니다. 앞 에이전트의 출력 텍스트를 다음 프롬프트에 문자열로 붙여넣는 게 전부입니다. 공유 메모리도, 메시지 큐도 없습니다. Strands에 GraphBuilder라고 에이전트를 그래프로 엮는 기능이 있는데 결국 안 썼습니다. 오히려 각 단계 결과가 JSON 파일로 남아서 사람이 중간에 읽고 고칠 수 있는 게 장점이 됐습니다.
도식 아래쪽 숫자가 실제 실행 시간입니다. 가장 오래 걸린 게 1번 가설 생성으로 50초입니다. 다 합쳐서 2분입니다.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대상은 AWS가 공식 제공하는 샘플 쇼핑몰입니다. UI, 카탈로그, 장바구니, 결제, 주문 다섯 개 서비스가 각자 다른 데이터스토어를 씁니다. 해커톤 기간에 클러스터를 새로 만들고 이 앱을 그대로 올렸습니다.
아래 세 장을 봐주세요. 해커톤용 테스트 클러스터이고, 모든 서비스의 레플리카가 1개이고, 트래픽이 없습니다. 셋 다 뒤에서 결정적으로 작용합니다. 레플리카는 "여기까지 가봤습니다" 슬라이드에서, 트래픽은 Part 4 전체에서 다룹니다.
한 가지만 짚고 넘어가면, 레플리카 1개는 저희가 잘못 설정한 게 아니라 AWS 샘플 앱의 기본값입니다. 실습용이니 당연한데, 그 기본값 그대로 두면 카오스 실험을 받을 수 없는 구성이 된다는 게 뒤에서 나옵니다.
도식 아래쪽에 에이전트가 확정적으로 아는 것과 추론하는 것을 구분해 놓았습니다. Pod 이름이나 레플리카 수, 볼륨 설정은 kubectl 응답에 그대로 있으니 확실합니다. 반면 "checkout이 orders를 호출한다"는 건 에이전트가 이름과 라벨을 보고 추측한 겁니다. 소스 코드를 읽지는 않으니까요.
[구성] Deployment 5개(ui, catalog, carts, checkout, orders) + StatefulSet 3개 + Pod 총 10개, 네임스페이스 retail-store.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라이브로 돌리면 LLM이 매번 다르게 답하고 응답도 느려서, 미리 녹화한 영상으로 보여드립니다.
영상 보시면서 한 가지만 봐주세요. 제가 "이 도구를 호출해라"라고 지시하는 코드가 없다는 점입니다. 프롬프트만 주면 에이전트가 스스로 kubectl을 호출하고, 결과를 읽고, 다음 행동을 정합니다.
[준비] 이 슬라이드에 녹화 영상을 삽입할 것. 원본 6분 8초 / 4096×2304 → 2분 내외 / 1920×1080으로 편집 필요. 클러스터명·계정 ID 마스킹 확인.</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항목이 가장 인상적이었습니다. DB 데이터를 emptyDir에 올려놓은 구성인데, Pod가 재시작되면 상품 카탈로그가 전부 사라집니다. 아키텍처 그림만 봤을 때는 절대 안 보이는 문제입니다. 실제 매니페스트를 읽어야 나옵니다.
재미있는 건 같은 앱 안에서 orders의 PostgreSQL은 PVC를 제대로 쓴다는 점입니다. 에이전트가 이 둘을 비교해서 catalog 쪽이 이상하다고 짚었습니다. 사람이 리뷰할 때 놓치기 쉬운 종류의 불일치입니다.
그리고 이 세 가지는 트래픽이 없어도 찾을 수 있는 취약점입니다. Part 4에서 이 얘기를 다시 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그대로 말씀드리면, 실제로 Pod를 죽이는 데까지는 가지 못했습니다. 이유가 세 개인데 성격이 다릅니다.
1번은 저희 선택입니다. 실험을 시작하는 함수는 만들어뒀지만 에이전트에게 주지 않았습니다. 테스트 클러스터라고는 해도 LLM이 스스로 판단해서 장애를 주입하게 두는 건 이르다고 봤습니다.
2번이 가드레일에 걸린 부분입니다. 레플리카가 1개인데 Pod를 죽이면 실험이 아니라 그냥 장애니까요. 저희가 넣은 규칙이 제대로 동작한 겁니다.
3번은 좀 허탈한 얘기인데, 저희 클러스터가 EKS Auto Mode입니다. 노드를 Karpenter가 알아서 관리해주는 편한 모드인데, 여기서는 FIS의 Pod 단위 액션이 동작하지 않습니다. 결국 편하게 만든 클러스터가 실험은 못 받는 클러스터였던 겁니다. 사전에 확인했어야 하는 부분이고, 제가 놓쳤습니다.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표는 저희가 실제로 측정한 값입니다. 앞서 나온 "3~4주"는 AWS 자료의 추정치이고, 저희가 3주를 직접 써본 게 아닙니다. 그래서 "90% 단축을 증명했다"고는 말하지 않겠습니다.
대신 확실하게 말할 수 있는 건 이겁니다. 클러스터를 분석하고, 가설 5개를 만들고, FIS 템플릿 2개를 생성하는 데 2분 32초가 걸렸습니다. 사람이 이 작업을 하려면 최소 며칠입니다.
토큰은 3만 4천 개입니다. 한 번 돌리는 데 커피 한 잔 값도 안 됩니다. 이 자동화의 장벽이 비용이 아니라는 걸 말씀드리고 싶었습니다. 장벽은 "시작할 결심"이었습니다.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번째를 솔직하게 말씀드리면, 출력 기록을 보다가 실제로 존재하지 않는 서비스 이름이 하나 섞여 있는 걸 발견했습니다. LLM을 쓰는 시스템의 근본적인 특성이고, 그래서 사람이 중간 산출물을 확인할 수 있는 구조가 필요합니다.
그런데 안 된 것 중에 가장 근본적인 게 세 번째입니다. 이건 따로 한 장을 쓰겠습니다.
[확인 필요] output/result.json의 "payment" 항목이 할루시네이션인지 확인. 실제 Deployment 목록에 payment는 없음.</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오늘 말씀드릴 가장 큰 한계입니다. 저희 실험 환경에는 트래픽이 없었습니다. 사용자도 없고, 합성 부하도 넣지 않았습니다. Pod만 떠 있는 상태였습니다.
그래서 못 본 게 많습니다. 표를 보시면 공통점이 있는데, 전부 "요청이 흐르고 있어야 나타나는" 현상입니다. 커넥션 풀이 고갈되거나, 리트라이가 폭주해서 오히려 장애를 키우거나, 캐시가 비어서 DB로 요청이 쏟아지는 것들이요. 이런 부하 의존적 실패는 저희 결과에 아예 안 나타납니다.
4단계 사이클의 1단계가 "정상 상태를 숫자로 정의하기"라고 했는데, 트래픽이 없으면 정의할 정상 상태 자체가 없습니다. 1단계가 비어 있는 채로 3단계를 한 셈입니다.
정직하게 말하면, 지금 저희 결과는 실제 운영 환경의 거동과 다를 수 있습니다. 이건 인정하고 가야 합니다.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그런데 여기서 한 가지 구분을 하고 싶습니다. 트래픽이 없다는 게 이 작업을 무의미하게 만드는지입니다. 저는 아니라고 생각합니다.
카오스 엔지니어링이 원래 답하려는 질문은 "우리 시스템이 얼마나 많은 트래픽을 버티나"가 아닙니다. 그건 부하 테스트의 질문입니다. 카오스 엔지니어링의 질문은 "깨졌을 때 돌아오나" 입니다. 재해 복구의 문제입니다. 그래서 목표 지표도 TPS가 아니라 RTO와 RPO입니다.
아래 표를 봐주세요. 복구 능력 중 상당 부분은 트래픽 없이도 검증됩니다. 특히 RPO, 데이터가 살아남는지는 트래픽과 전혀 상관없습니다. 그리고 저희가 실제로 찾은 게 바로 그겁니다. catalog의 MySQL이 emptyDir을 쓰고 있어서 Pod가 재시작되면 상품 데이터가 100% 사라집니다. 이건 트래픽이 있든 없든 똑같이 사라집니다. RPO가 무한대인 겁니다.
SPOF도 마찬가지입니다. Redis 레플리카가 1개라는 사실은 부하를 걸어봐야 아는 게 아닙니다.
정리하면 이렇습니다. 트래픽이 없어서 영향의 크기는 모릅니다. 하지만 구조적으로 복구가 불가능한 지점은 찾았습니다. 그리고 순서상 이게 먼저입니다. 데이터가 영구 손실되는 구성을 놔두고 레이턴시를 측정하는 건 순서가 뒤바뀐 일입니다. 구조를 먼저 고치고, 그다음에 트래픽을 얹어서 크기를 재는 게 맞습니다.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장에서 목표 지표가 TPS가 아니라 RTO와 RPO라고 말씀드렸는데, 이 두 용어를 한 번 풀고 가겠습니다. 재해 복구 쪽에서 쓰는 표준 용어입니다.
위 그림의 가운데가 장애가 난 순간입니다. 여기서 양쪽으로 자가 하나씩 뻗어 나갑니다.
왼쪽이 RPO입니다. Recovery Point Objective, 복구 시점 목표입니다. 데이터를 어느 시점까지 되돌려도 괜찮은가를 정하는 값입니다. 마지막으로 데이터가 안전하게 남은 지점과 장애 시점 사이, 그 구간이 곧 잃어버리는 데이터입니다. 백업을 하루에 한 번 받으면 RPO는 24시간입니다. 최악의 경우 하루치를 잃는다는 뜻이죠.
오른쪽이 RTO입니다. Recovery Time Objective, 복구 시간 목표입니다. 장애가 난 순간부터 서비스가 정상으로 돌아올 때까지 걸리는 시간, 즉 다운타임입니다. 처음에 드린 질문 "Pod 하나 죽으면 몇 초 안에 복구됩니까"가 바로 RTO를 묻는 질문이었습니다.
둘의 차이를 한 줄로 말하면, RPO는 데이터를 얼마나 잃느냐고 RTO는 얼마나 오래 멈추느냐입니다. 방향이 다릅니다. RPO는 과거로, RTO는 미래로 뻗습니다.
그리고 이 구분이 저희 결과를 설명해 줍니다. RPO는 트래픽 없이도 확인됩니다. 볼륨 구성을 읽고 Pod를 한 번 재시작해보면 데이터가 남는지 사라지는지 알 수 있으니까요. 그래서 catalog의 MySQL이 emptyDir을 쓴다는 걸 찾았고, 이건 RPO가 사실상 무한대라는 뜻입니다. Pod가 재시작되면 그동안의 데이터가 전부 사라지니까요.
반면 RTO는 실제로 죽여봐야 초를 잴 수 있습니다. 저희는 주입을 못 했으니 이 숫자가 없습니다. 실제 주입을 해서 이 숫자를 얻는 게 저희의 다음 할 일입니다.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문장이 제가 Summit에서 세션을 보고 메모해온 문장입니다. 처음 봤을 때는 멋있는 말이라고만 생각했는데, 해커톤에서 직접 만들어보고 나니 뜻이 좀 달라졌습니다. "실패를 설계한다"는 건 화려한 장애 주입이 아니라, 환경이 실험을 받을 준비가 됐는지부터 확인하는 지루한 작업이었습니다.
처음에 드린 질문으로 돌아가겠습니다. DB Pod 하나가 죽으면 몇 초 안에 복구되는지. 저희도 아직 그 숫자를 갖고 있지 않습니다. 다만 그 숫자를 얻는 데 3주가 걸릴 일이 아니라는 건 확인했습니다. 가설을 세우고 실험을 설계하는 과정은 2분 32초면 됩니다.
그리고 한 가지는 확실히 알게 됐습니다. AWS가 공식 제공하는 샘플 앱에도 상품 데이터가 Pod 재시작으로 전부 사라지는 구성이 들어 있었다는 사실입니다. 트래픽 없이도, 2분 만에 찾았습니다. 우리 서비스에 같은 구성이 없다고 자신할 수 있는지는, 각자 한번 확인해보셨으면 합니다.
남은 건 실제로 한 번 눌러보는 일이고, 그건 같이 하고 싶습니다.
다만 끝내기 전에, 이 말을 너무 낙관적으로 들려드린 것 같아 한 가지만 솔직하게 덧붙이겠습니다. (→ 다음 장)</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1986년에 프레드 브룩스가 "No Silver Bullet"이라는 글을 씁니다. 소프트웨어 공학에는 생산성을 한 자릿수 배로 끌어올리는 마법 같은 해법, 은총알이 없다는 얘기입니다. 그 근거로 복잡성을 둘로 나눕니다. 부수적 복잡성과 본질적 복잡성입니다.
부수적 복잡성은 도구와 표현 방식 때문에 생기는 복잡함입니다. 도구가 좋아지면 줄어듭니다. FIS 액션 ID를 문서에서 찾고, 셀렉터 문법을 맞추고, 템플릿 JSON을 손으로 쓰고, 체크리스트를 눈으로 확인하는 일. 저희 에이전트가 줄인 게 정확히 이 영역입니다. 3~4주가 2분 32초가 됐습니다.
그런데 본질적 복잡성은 줄지 않습니다. 우리 서비스에서 뭐가 진짜 위험한지 판단하는 일, 정상 상태를 어떤 숫자로 정의할지 정하는 일, 찾아낸 결함을 실제로 고치는 일, 그리고 운영 환경에 실험을 돌려도 되는지에 대한 조직의 합의. 이건 에이전트가 대신해주지 않습니다.
그래서 솔직하게 말씀드리면, 카오스 엔지니어링을 한다고 장애를 완벽히 막을 수는 없다고 생각합니다. AI 에이전트를 붙여도 마찬가지입니다. 은총알은 없습니다.
다만 하나는 달라졌습니다. 대비를 시작하는 비용이 내려갔습니다. 그리고 지금까지 대부분의 팀이 카오스 엔지니어링을 안 한 이유는 그게 어려워서가 아니라 시작 비용이 너무 비쌌기 때문입니다. 그 부분이 해결됐다는 게 제가 오늘 드릴 수 있는 이야기입니다.
감사합니다.
────────────────────────────────
[남은 과제 — 질문 나오면]
1) CloudWatch 알람 + FIS Stop Condition 자동 생성  2) Managed Node Group 클러스터 + 레플리카 2개 이상  3) 실제 주입 + RTO 측정  4) 합성 트래픽 투입 + 정상 상태 지표 수집  5) GraphBuilder 그래프화 + CI 정기 실행. 안전장치를 먼저 채우고 그다음에 방아쇠를 당기는 순서다.
[예상 질문 — Q&amp;A 대비]
1. 트래픽 없이 한 실험은 의미가 있나요? → 영향의 크기는 모른다. 하지만 카오스 엔지니어링의 질문은 복구(RTO/RPO)이고, 구조적 결함은 트래픽 없이 찾았다. 다음에 합성 부하를 투입할 계획.
2. 부하 테스트와 뭐가 다른가요? → 부하 테스트는 "얼마나 버티나", 카오스는 "깨졌을 때 돌아오나". 둘 다 필요하고 목적이 다르다.
3. 프로덕션에도 돌릴 수 있나요? → 지금은 스테이징 전제. Stop Condition 자동 생성과 사람 승인 게이트가 선행 조건.
4. LLM이 위험한 실험을 만들면? → 실행 도구를 에이전트에 아예 연결하지 않았고, FIS IAM Role로 액션 범위를 한정. 가드레일 5원칙이 3차 방어.
5. 매번 답이 달라지면 신뢰할 수 있나요? → 가설 문구는 달라지지만 FIS 템플릿은 스키마가 고정. 중간 산출물이 JSON으로 남아 검토 가능. 존재하지 않는 서비스명을 낸 사례도 있어 검토는 필수.
6. 왜 에이전트를 5개로 나눴나요? → 단계별 판단 기준이 다르고, 사람이 개입할 지점(설계↔실행 사이)이 필요. 프롬프트가 짧아져 디버깅도 쉬움.
7. 왜 GraphBuilder를 안 썼나요? → 순차 텍스트 전달로 충분했고, 중간 산출물을 파일로 볼 수 있는 게 오히려 장점. 재시도·분기가 필요해지면 옮길 계획.
8. 왜 BedrockModel이 아니라 OpenAIModel인가요? → Bedrock Mantle이 OpenAI 호환 엔드포인트라서. API Key 하나로 붙고 IAM·SigV4 설정이 불필요.
9. 우리 팀 클러스터에 붙이려면? → .env의 클러스터명·네임스페이스·FIS Role ARN 교체. 단 Auto Mode면 Pod 액션은 안 됨.
10. 클러스터에 뭘 설치해야 하나요? → 없음. FIS가 임시 컨테이너를 띄워 주입하고 종료 시 제거.
11. 비용? → LLM은 1회 33,731 토큰으로 무시할 수준. FIS는 action-minute당 $0.10 (5분 액션 = $0.50). 우리는 템플릿만 만들어 $0. 대부분은 EKS 클러스터 유지비.
[참고 자료 — 발표 후 공유]
Principles of Chaos Engineering (principlesofchaos.org) · AWS FIS 사용자 가이드 (docs.aws.amazon.com/fis) · Strands Agents SDK (strandsagents.com) · Retail Store Sample App (github.com/aws-containers/retail-store-sample-app)</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a:effectLst/>
      </p:bgPr>
    </p:bg>
    <p:spTree>
      <p:nvGrpSpPr>
        <p:cNvPr id="1" name=""/>
        <p:cNvGrpSpPr/>
        <p:nvPr/>
      </p:nvGrpSpPr>
      <p:grpSpPr>
        <a:xfrm>
          <a:off x="0" y="0"/>
          <a:ext cx="0" cy="0"/>
          <a:chOff x="0" y="0"/>
          <a:chExt cx="0" cy="0"/>
        </a:xfrm>
      </p:grpSpPr>
      <p:sp>
        <p:nvSpPr>
          <p:cNvPr id="2" name="Text 0"/>
          <p:cNvSpPr txBox="1"/>
          <p:nvPr/>
        </p:nvSpPr>
        <p:spPr>
          <a:xfrm>
            <a:off x="822960" y="1572768"/>
            <a:ext cx="10911535" cy="292608"/>
          </a:xfrm>
          <a:prstGeom prst="rect">
            <a:avLst/>
          </a:prstGeom>
          <a:noFill/>
          <a:ln/>
        </p:spPr>
        <p:txBody>
          <a:bodyPr wrap="square" lIns="0" tIns="0" rIns="0" bIns="0" rtlCol="0" anchor="ctr"/>
          <a:lstStyle/>
          <a:p>
            <a:pPr marL="0" indent="0">
              <a:buNone/>
            </a:pPr>
            <a:r>
              <a:rPr lang="en-US" sz="1250" b="1" kern="0" spc="200" dirty="0">
                <a:solidFill>
                  <a:srgbClr val="FF9900"/>
                </a:solidFill>
                <a:latin typeface="Apple SD Gothic Neo" pitchFamily="34" charset="0"/>
                <a:ea typeface="Apple SD Gothic Neo" pitchFamily="34" charset="-122"/>
                <a:cs typeface="Apple SD Gothic Neo" pitchFamily="34" charset="-120"/>
              </a:rPr>
              <a:t>CHAOS ENGINEERING  ×  MULTI-AGENT</a:t>
            </a:r>
            <a:endParaRPr lang="en-US" sz="1250" dirty="0"/>
          </a:p>
        </p:txBody>
      </p:sp>
      <p:sp>
        <p:nvSpPr>
          <p:cNvPr id="3" name="Text 1"/>
          <p:cNvSpPr txBox="1"/>
          <p:nvPr/>
        </p:nvSpPr>
        <p:spPr>
          <a:xfrm>
            <a:off x="822960" y="1993392"/>
            <a:ext cx="10911535" cy="1051560"/>
          </a:xfrm>
          <a:prstGeom prst="rect">
            <a:avLst/>
          </a:prstGeom>
          <a:noFill/>
          <a:ln/>
        </p:spPr>
        <p:txBody>
          <a:bodyPr wrap="square" lIns="0" tIns="0" rIns="0" bIns="0" rtlCol="0" anchor="ctr"/>
          <a:lstStyle/>
          <a:p>
            <a:pPr marL="0" indent="0">
              <a:buNone/>
            </a:pPr>
            <a:r>
              <a:rPr lang="en-US" sz="5400" b="1" dirty="0">
                <a:solidFill>
                  <a:srgbClr val="FFFFFF"/>
                </a:solidFill>
                <a:latin typeface="Apple SD Gothic Neo" pitchFamily="34" charset="0"/>
                <a:ea typeface="Apple SD Gothic Neo" pitchFamily="34" charset="-122"/>
                <a:cs typeface="Apple SD Gothic Neo" pitchFamily="34" charset="-120"/>
              </a:rPr>
              <a:t>실패를 설계하다</a:t>
            </a:r>
            <a:endParaRPr lang="en-US" sz="5400" dirty="0"/>
          </a:p>
        </p:txBody>
      </p:sp>
      <p:sp>
        <p:nvSpPr>
          <p:cNvPr id="4" name="Text 2"/>
          <p:cNvSpPr txBox="1"/>
          <p:nvPr/>
        </p:nvSpPr>
        <p:spPr>
          <a:xfrm>
            <a:off x="822960" y="3063240"/>
            <a:ext cx="10911535" cy="457200"/>
          </a:xfrm>
          <a:prstGeom prst="rect">
            <a:avLst/>
          </a:prstGeom>
          <a:noFill/>
          <a:ln/>
        </p:spPr>
        <p:txBody>
          <a:bodyPr wrap="square" lIns="0" tIns="0" rIns="0" bIns="0" rtlCol="0" anchor="ctr"/>
          <a:lstStyle/>
          <a:p>
            <a:pPr marL="0" indent="0">
              <a:buNone/>
            </a:pPr>
            <a:r>
              <a:rPr lang="en-US" sz="2100" dirty="0">
                <a:solidFill>
                  <a:srgbClr val="CFD6DD"/>
                </a:solidFill>
                <a:latin typeface="Apple SD Gothic Neo" pitchFamily="34" charset="0"/>
                <a:ea typeface="Apple SD Gothic Neo" pitchFamily="34" charset="-122"/>
                <a:cs typeface="Apple SD Gothic Neo" pitchFamily="34" charset="-120"/>
              </a:rPr>
              <a:t>AI 에이전트와 함께하는 카오스 엔지니어링</a:t>
            </a:r>
            <a:endParaRPr lang="en-US" sz="2100" dirty="0"/>
          </a:p>
        </p:txBody>
      </p:sp>
      <p:sp>
        <p:nvSpPr>
          <p:cNvPr id="5" name="Text 3"/>
          <p:cNvSpPr txBox="1"/>
          <p:nvPr/>
        </p:nvSpPr>
        <p:spPr>
          <a:xfrm>
            <a:off x="822960" y="3657600"/>
            <a:ext cx="7863840" cy="713232"/>
          </a:xfrm>
          <a:prstGeom prst="rect">
            <a:avLst/>
          </a:prstGeom>
          <a:noFill/>
          <a:ln/>
        </p:spPr>
        <p:txBody>
          <a:bodyPr wrap="square" lIns="0" tIns="0" rIns="0" bIns="0" rtlCol="0" anchor="t"/>
          <a:lstStyle/>
          <a:p>
            <a:pPr marL="0" indent="0">
              <a:lnSpc>
                <a:spcPts val="2200"/>
              </a:lnSpc>
              <a:buNone/>
            </a:pPr>
            <a:r>
              <a:rPr lang="en-US" sz="1350" dirty="0">
                <a:solidFill>
                  <a:srgbClr val="B8C0C8"/>
                </a:solidFill>
                <a:latin typeface="Apple SD Gothic Neo" pitchFamily="34" charset="0"/>
                <a:ea typeface="Apple SD Gothic Neo" pitchFamily="34" charset="-122"/>
                <a:cs typeface="Apple SD Gothic Neo" pitchFamily="34" charset="-120"/>
              </a:rPr>
              <a:t>AWS Summit Seoul 2026에서 본 Multi-Agent Chaos Engineering,</a:t>
            </a:r>
            <a:endParaRPr lang="en-US" sz="1350" dirty="0"/>
          </a:p>
          <a:p>
            <a:pPr marL="0" indent="0">
              <a:lnSpc>
                <a:spcPts val="2200"/>
              </a:lnSpc>
              <a:buNone/>
            </a:pPr>
            <a:r>
              <a:rPr lang="en-US" sz="1350" dirty="0">
                <a:solidFill>
                  <a:srgbClr val="B8C0C8"/>
                </a:solidFill>
                <a:latin typeface="Apple SD Gothic Neo" pitchFamily="34" charset="0"/>
                <a:ea typeface="Apple SD Gothic Neo" pitchFamily="34" charset="-122"/>
                <a:cs typeface="Apple SD Gothic Neo" pitchFamily="34" charset="-120"/>
              </a:rPr>
              <a:t>AI Hackathon에서 구현해보기</a:t>
            </a:r>
            <a:endParaRPr lang="en-US" sz="1350" dirty="0"/>
          </a:p>
        </p:txBody>
      </p:sp>
      <p:sp>
        <p:nvSpPr>
          <p:cNvPr id="6" name="Shape 4"/>
          <p:cNvSpPr/>
          <p:nvPr/>
        </p:nvSpPr>
        <p:spPr>
          <a:xfrm>
            <a:off x="822960" y="4800600"/>
            <a:ext cx="5120640" cy="566928"/>
          </a:xfrm>
          <a:prstGeom prst="roundRect">
            <a:avLst>
              <a:gd name="adj" fmla="val 12903"/>
            </a:avLst>
          </a:prstGeom>
          <a:solidFill>
            <a:srgbClr val="2E3B4C"/>
          </a:solidFill>
          <a:ln/>
        </p:spPr>
        <p:txBody>
          <a:bodyPr/>
          <a:lstStyle/>
          <a:p>
            <a:endParaRPr lang="ko-Kore-KR" altLang="en-US"/>
          </a:p>
        </p:txBody>
      </p:sp>
      <p:sp>
        <p:nvSpPr>
          <p:cNvPr id="7" name="Text 5"/>
          <p:cNvSpPr txBox="1"/>
          <p:nvPr/>
        </p:nvSpPr>
        <p:spPr>
          <a:xfrm>
            <a:off x="1051560" y="4800600"/>
            <a:ext cx="4754880" cy="566928"/>
          </a:xfrm>
          <a:prstGeom prst="rect">
            <a:avLst/>
          </a:prstGeom>
          <a:noFill/>
          <a:ln/>
        </p:spPr>
        <p:txBody>
          <a:bodyPr wrap="square" lIns="0" tIns="0" rIns="0" bIns="0" rtlCol="0" anchor="ctr"/>
          <a:lstStyle/>
          <a:p>
            <a:pPr marL="0" indent="0">
              <a:buNone/>
            </a:pPr>
            <a:r>
              <a:rPr lang="en-US" sz="1300" dirty="0">
                <a:solidFill>
                  <a:srgbClr val="E3E8ED"/>
                </a:solidFill>
                <a:latin typeface="Apple SD Gothic Neo" pitchFamily="34" charset="0"/>
                <a:ea typeface="Apple SD Gothic Neo" pitchFamily="34" charset="-122"/>
                <a:cs typeface="Apple SD Gothic Neo" pitchFamily="34" charset="-120"/>
              </a:rPr>
              <a:t>Hyeonmin Park   ·   XE   ·   2026. 09. 17.</a:t>
            </a:r>
            <a:endParaRPr lang="en-US" sz="1300" dirty="0"/>
          </a:p>
        </p:txBody>
      </p:sp>
      <p:sp>
        <p:nvSpPr>
          <p:cNvPr id="9" name="Text 6"/>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5A6572"/>
                </a:solidFill>
                <a:latin typeface="Apple SD Gothic Neo" pitchFamily="34" charset="0"/>
                <a:ea typeface="Apple SD Gothic Neo" pitchFamily="34" charset="-122"/>
                <a:cs typeface="Apple SD Gothic Neo"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OPENING</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먼저, 세 가지 질문</a:t>
            </a:r>
            <a:endParaRPr lang="en-US" sz="2800" dirty="0"/>
          </a:p>
        </p:txBody>
      </p:sp>
      <p:sp>
        <p:nvSpPr>
          <p:cNvPr id="4" name="Shape 2"/>
          <p:cNvSpPr/>
          <p:nvPr/>
        </p:nvSpPr>
        <p:spPr>
          <a:xfrm>
            <a:off x="640080" y="1600200"/>
            <a:ext cx="10911535" cy="1335024"/>
          </a:xfrm>
          <a:prstGeom prst="roundRect">
            <a:avLst>
              <a:gd name="adj" fmla="val 4110"/>
            </a:avLst>
          </a:prstGeom>
          <a:solidFill>
            <a:srgbClr val="F2F7FF"/>
          </a:solidFill>
          <a:ln/>
        </p:spPr>
        <p:txBody>
          <a:bodyPr/>
          <a:lstStyle/>
          <a:p>
            <a:endParaRPr lang="ko-Kore-KR" altLang="en-US"/>
          </a:p>
        </p:txBody>
      </p:sp>
      <p:sp>
        <p:nvSpPr>
          <p:cNvPr id="5" name="Shape 3"/>
          <p:cNvSpPr/>
          <p:nvPr/>
        </p:nvSpPr>
        <p:spPr>
          <a:xfrm>
            <a:off x="1024128" y="2002536"/>
            <a:ext cx="530352" cy="530352"/>
          </a:xfrm>
          <a:prstGeom prst="ellipse">
            <a:avLst/>
          </a:prstGeom>
          <a:solidFill>
            <a:srgbClr val="527FFF"/>
          </a:solidFill>
          <a:ln/>
        </p:spPr>
        <p:txBody>
          <a:bodyPr/>
          <a:lstStyle/>
          <a:p>
            <a:endParaRPr lang="ko-Kore-KR" altLang="en-US"/>
          </a:p>
        </p:txBody>
      </p:sp>
      <p:sp>
        <p:nvSpPr>
          <p:cNvPr id="6" name="Text 4"/>
          <p:cNvSpPr txBox="1"/>
          <p:nvPr/>
        </p:nvSpPr>
        <p:spPr>
          <a:xfrm>
            <a:off x="1024128" y="2002536"/>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1</a:t>
            </a:r>
            <a:endParaRPr lang="en-US" sz="1600" dirty="0"/>
          </a:p>
        </p:txBody>
      </p:sp>
      <p:sp>
        <p:nvSpPr>
          <p:cNvPr id="7" name="Text 5"/>
          <p:cNvSpPr txBox="1"/>
          <p:nvPr/>
        </p:nvSpPr>
        <p:spPr>
          <a:xfrm>
            <a:off x="1810512" y="1837944"/>
            <a:ext cx="9265615" cy="310896"/>
          </a:xfrm>
          <a:prstGeom prst="rect">
            <a:avLst/>
          </a:prstGeom>
          <a:noFill/>
          <a:ln/>
        </p:spPr>
        <p:txBody>
          <a:bodyPr wrap="square" lIns="0" tIns="0" rIns="0" bIns="0" rtlCol="0" anchor="ctr"/>
          <a:lstStyle/>
          <a:p>
            <a:pPr marL="0" indent="0">
              <a:buNone/>
            </a:pPr>
            <a:r>
              <a:rPr lang="en-US" sz="1200" dirty="0">
                <a:solidFill>
                  <a:srgbClr val="687078"/>
                </a:solidFill>
                <a:latin typeface="Apple SD Gothic Neo" pitchFamily="34" charset="0"/>
                <a:ea typeface="Apple SD Gothic Neo" pitchFamily="34" charset="-122"/>
                <a:cs typeface="Apple SD Gothic Neo" pitchFamily="34" charset="-120"/>
              </a:rPr>
              <a:t>지금 운영 중인 서비스에서</a:t>
            </a:r>
            <a:endParaRPr lang="en-US" sz="1200" dirty="0"/>
          </a:p>
        </p:txBody>
      </p:sp>
      <p:sp>
        <p:nvSpPr>
          <p:cNvPr id="8" name="Text 6"/>
          <p:cNvSpPr txBox="1"/>
          <p:nvPr/>
        </p:nvSpPr>
        <p:spPr>
          <a:xfrm>
            <a:off x="1810512" y="2148840"/>
            <a:ext cx="9265615" cy="530352"/>
          </a:xfrm>
          <a:prstGeom prst="rect">
            <a:avLst/>
          </a:prstGeom>
          <a:noFill/>
          <a:ln/>
        </p:spPr>
        <p:txBody>
          <a:bodyPr wrap="square" lIns="0" tIns="0" rIns="0" bIns="0" rtlCol="0" anchor="ctr"/>
          <a:lstStyle/>
          <a:p>
            <a:pPr marL="0" indent="0">
              <a:buNone/>
            </a:pPr>
            <a:r>
              <a:rPr lang="en-US" sz="2000" b="1" dirty="0">
                <a:solidFill>
                  <a:srgbClr val="232F3E"/>
                </a:solidFill>
                <a:latin typeface="Apple SD Gothic Neo" pitchFamily="34" charset="0"/>
                <a:ea typeface="Apple SD Gothic Neo" pitchFamily="34" charset="-122"/>
                <a:cs typeface="Apple SD Gothic Neo" pitchFamily="34" charset="-120"/>
              </a:rPr>
              <a:t>Pod 하나가 죽으면, 몇 초 안에 복구됩니까?</a:t>
            </a:r>
            <a:endParaRPr lang="en-US" sz="2000" dirty="0"/>
          </a:p>
        </p:txBody>
      </p:sp>
      <p:sp>
        <p:nvSpPr>
          <p:cNvPr id="9" name="Shape 7"/>
          <p:cNvSpPr/>
          <p:nvPr/>
        </p:nvSpPr>
        <p:spPr>
          <a:xfrm>
            <a:off x="640080" y="3063240"/>
            <a:ext cx="10911535" cy="1335024"/>
          </a:xfrm>
          <a:prstGeom prst="roundRect">
            <a:avLst>
              <a:gd name="adj" fmla="val 4110"/>
            </a:avLst>
          </a:prstGeom>
          <a:solidFill>
            <a:srgbClr val="FFF4E5"/>
          </a:solidFill>
          <a:ln/>
        </p:spPr>
        <p:txBody>
          <a:bodyPr/>
          <a:lstStyle/>
          <a:p>
            <a:endParaRPr lang="ko-Kore-KR" altLang="en-US"/>
          </a:p>
        </p:txBody>
      </p:sp>
      <p:sp>
        <p:nvSpPr>
          <p:cNvPr id="10" name="Shape 8"/>
          <p:cNvSpPr/>
          <p:nvPr/>
        </p:nvSpPr>
        <p:spPr>
          <a:xfrm>
            <a:off x="1024128" y="3465576"/>
            <a:ext cx="530352" cy="530352"/>
          </a:xfrm>
          <a:prstGeom prst="ellipse">
            <a:avLst/>
          </a:prstGeom>
          <a:solidFill>
            <a:srgbClr val="FF9900"/>
          </a:solidFill>
          <a:ln/>
        </p:spPr>
        <p:txBody>
          <a:bodyPr/>
          <a:lstStyle/>
          <a:p>
            <a:endParaRPr lang="ko-Kore-KR" altLang="en-US"/>
          </a:p>
        </p:txBody>
      </p:sp>
      <p:sp>
        <p:nvSpPr>
          <p:cNvPr id="11" name="Text 9"/>
          <p:cNvSpPr txBox="1"/>
          <p:nvPr/>
        </p:nvSpPr>
        <p:spPr>
          <a:xfrm>
            <a:off x="1024128" y="3465576"/>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2</a:t>
            </a:r>
            <a:endParaRPr lang="en-US" sz="1600" dirty="0"/>
          </a:p>
        </p:txBody>
      </p:sp>
      <p:sp>
        <p:nvSpPr>
          <p:cNvPr id="12" name="Text 10"/>
          <p:cNvSpPr txBox="1"/>
          <p:nvPr/>
        </p:nvSpPr>
        <p:spPr>
          <a:xfrm>
            <a:off x="1810512" y="3300984"/>
            <a:ext cx="9265615" cy="310896"/>
          </a:xfrm>
          <a:prstGeom prst="rect">
            <a:avLst/>
          </a:prstGeom>
          <a:noFill/>
          <a:ln/>
        </p:spPr>
        <p:txBody>
          <a:bodyPr wrap="square" lIns="0" tIns="0" rIns="0" bIns="0" rtlCol="0" anchor="ctr"/>
          <a:lstStyle/>
          <a:p>
            <a:pPr marL="0" indent="0">
              <a:buNone/>
            </a:pPr>
            <a:r>
              <a:rPr lang="en-US" sz="1200" dirty="0">
                <a:solidFill>
                  <a:srgbClr val="687078"/>
                </a:solidFill>
                <a:latin typeface="Apple SD Gothic Neo" pitchFamily="34" charset="0"/>
                <a:ea typeface="Apple SD Gothic Neo" pitchFamily="34" charset="-122"/>
                <a:cs typeface="Apple SD Gothic Neo" pitchFamily="34" charset="-120"/>
              </a:rPr>
              <a:t>그 답을</a:t>
            </a:r>
            <a:endParaRPr lang="en-US" sz="1200" dirty="0"/>
          </a:p>
        </p:txBody>
      </p:sp>
      <p:sp>
        <p:nvSpPr>
          <p:cNvPr id="13" name="Text 11"/>
          <p:cNvSpPr txBox="1"/>
          <p:nvPr/>
        </p:nvSpPr>
        <p:spPr>
          <a:xfrm>
            <a:off x="1810512" y="3611880"/>
            <a:ext cx="9265615" cy="530352"/>
          </a:xfrm>
          <a:prstGeom prst="rect">
            <a:avLst/>
          </a:prstGeom>
          <a:noFill/>
          <a:ln/>
        </p:spPr>
        <p:txBody>
          <a:bodyPr wrap="square" lIns="0" tIns="0" rIns="0" bIns="0" rtlCol="0" anchor="ctr"/>
          <a:lstStyle/>
          <a:p>
            <a:pPr marL="0" indent="0">
              <a:buNone/>
            </a:pPr>
            <a:r>
              <a:rPr lang="en-US" sz="2000" b="1" dirty="0">
                <a:solidFill>
                  <a:srgbClr val="232F3E"/>
                </a:solidFill>
                <a:latin typeface="Apple SD Gothic Neo" pitchFamily="34" charset="0"/>
                <a:ea typeface="Apple SD Gothic Neo" pitchFamily="34" charset="-122"/>
                <a:cs typeface="Apple SD Gothic Neo" pitchFamily="34" charset="-120"/>
              </a:rPr>
              <a:t>측정해서 알고 있습니까,  아마 그럴 것이라고 믿고 있습니까?</a:t>
            </a:r>
            <a:endParaRPr lang="en-US" sz="2000" dirty="0"/>
          </a:p>
        </p:txBody>
      </p:sp>
      <p:sp>
        <p:nvSpPr>
          <p:cNvPr id="14" name="Shape 12"/>
          <p:cNvSpPr/>
          <p:nvPr/>
        </p:nvSpPr>
        <p:spPr>
          <a:xfrm>
            <a:off x="640080" y="4526280"/>
            <a:ext cx="10911535" cy="1335024"/>
          </a:xfrm>
          <a:prstGeom prst="roundRect">
            <a:avLst>
              <a:gd name="adj" fmla="val 4110"/>
            </a:avLst>
          </a:prstGeom>
          <a:solidFill>
            <a:srgbClr val="E8F8F5"/>
          </a:solidFill>
          <a:ln/>
        </p:spPr>
        <p:txBody>
          <a:bodyPr/>
          <a:lstStyle/>
          <a:p>
            <a:endParaRPr lang="ko-Kore-KR" altLang="en-US"/>
          </a:p>
        </p:txBody>
      </p:sp>
      <p:sp>
        <p:nvSpPr>
          <p:cNvPr id="15" name="Shape 13"/>
          <p:cNvSpPr/>
          <p:nvPr/>
        </p:nvSpPr>
        <p:spPr>
          <a:xfrm>
            <a:off x="1024128" y="4928616"/>
            <a:ext cx="530352" cy="530352"/>
          </a:xfrm>
          <a:prstGeom prst="ellipse">
            <a:avLst/>
          </a:prstGeom>
          <a:solidFill>
            <a:srgbClr val="01A88D"/>
          </a:solidFill>
          <a:ln/>
        </p:spPr>
        <p:txBody>
          <a:bodyPr/>
          <a:lstStyle/>
          <a:p>
            <a:endParaRPr lang="ko-Kore-KR" altLang="en-US"/>
          </a:p>
        </p:txBody>
      </p:sp>
      <p:sp>
        <p:nvSpPr>
          <p:cNvPr id="16" name="Text 14"/>
          <p:cNvSpPr txBox="1"/>
          <p:nvPr/>
        </p:nvSpPr>
        <p:spPr>
          <a:xfrm>
            <a:off x="1024128" y="4928616"/>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3</a:t>
            </a:r>
            <a:endParaRPr lang="en-US" sz="1600" dirty="0"/>
          </a:p>
        </p:txBody>
      </p:sp>
      <p:sp>
        <p:nvSpPr>
          <p:cNvPr id="17" name="Text 15"/>
          <p:cNvSpPr txBox="1"/>
          <p:nvPr/>
        </p:nvSpPr>
        <p:spPr>
          <a:xfrm>
            <a:off x="1810512" y="4764024"/>
            <a:ext cx="9265615" cy="310896"/>
          </a:xfrm>
          <a:prstGeom prst="rect">
            <a:avLst/>
          </a:prstGeom>
          <a:noFill/>
          <a:ln/>
        </p:spPr>
        <p:txBody>
          <a:bodyPr wrap="square" lIns="0" tIns="0" rIns="0" bIns="0" rtlCol="0" anchor="ctr"/>
          <a:lstStyle/>
          <a:p>
            <a:pPr marL="0" indent="0">
              <a:buNone/>
            </a:pPr>
            <a:r>
              <a:rPr lang="en-US" sz="1200" dirty="0">
                <a:solidFill>
                  <a:srgbClr val="687078"/>
                </a:solidFill>
                <a:latin typeface="Apple SD Gothic Neo" pitchFamily="34" charset="0"/>
                <a:ea typeface="Apple SD Gothic Neo" pitchFamily="34" charset="-122"/>
                <a:cs typeface="Apple SD Gothic Neo" pitchFamily="34" charset="-120"/>
              </a:rPr>
              <a:t>그리고</a:t>
            </a:r>
            <a:endParaRPr lang="en-US" sz="1200" dirty="0"/>
          </a:p>
        </p:txBody>
      </p:sp>
      <p:sp>
        <p:nvSpPr>
          <p:cNvPr id="18" name="Text 16"/>
          <p:cNvSpPr txBox="1"/>
          <p:nvPr/>
        </p:nvSpPr>
        <p:spPr>
          <a:xfrm>
            <a:off x="1810512" y="5074920"/>
            <a:ext cx="9265615" cy="530352"/>
          </a:xfrm>
          <a:prstGeom prst="rect">
            <a:avLst/>
          </a:prstGeom>
          <a:noFill/>
          <a:ln/>
        </p:spPr>
        <p:txBody>
          <a:bodyPr wrap="square" lIns="0" tIns="0" rIns="0" bIns="0" rtlCol="0" anchor="ctr"/>
          <a:lstStyle/>
          <a:p>
            <a:pPr marL="0" indent="0">
              <a:buNone/>
            </a:pPr>
            <a:r>
              <a:rPr lang="en-US" sz="2000" b="1" dirty="0">
                <a:solidFill>
                  <a:srgbClr val="232F3E"/>
                </a:solidFill>
                <a:latin typeface="Apple SD Gothic Neo" pitchFamily="34" charset="0"/>
                <a:ea typeface="Apple SD Gothic Neo" pitchFamily="34" charset="-122"/>
                <a:cs typeface="Apple SD Gothic Neo" pitchFamily="34" charset="-120"/>
              </a:rPr>
              <a:t>마지막으로 확인한 게 언제입니까?</a:t>
            </a:r>
            <a:endParaRPr lang="en-US" sz="2000" dirty="0"/>
          </a:p>
        </p:txBody>
      </p:sp>
      <p:sp>
        <p:nvSpPr>
          <p:cNvPr id="20" name="Text 17"/>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1 · 카오스 엔지니어링이란 무엇인가</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정의: 고장 내기가 아니라 실험이다</a:t>
            </a:r>
            <a:endParaRPr lang="en-US" sz="2800" dirty="0"/>
          </a:p>
        </p:txBody>
      </p:sp>
      <p:sp>
        <p:nvSpPr>
          <p:cNvPr id="4" name="Shape 2"/>
          <p:cNvSpPr/>
          <p:nvPr/>
        </p:nvSpPr>
        <p:spPr>
          <a:xfrm>
            <a:off x="640080" y="1481328"/>
            <a:ext cx="10911535" cy="1755648"/>
          </a:xfrm>
          <a:prstGeom prst="roundRect">
            <a:avLst>
              <a:gd name="adj" fmla="val 3125"/>
            </a:avLst>
          </a:prstGeom>
          <a:solidFill>
            <a:srgbClr val="F2F7FF"/>
          </a:solidFill>
          <a:ln/>
        </p:spPr>
        <p:txBody>
          <a:bodyPr/>
          <a:lstStyle/>
          <a:p>
            <a:endParaRPr lang="ko-Kore-KR" altLang="en-US"/>
          </a:p>
        </p:txBody>
      </p:sp>
      <p:sp>
        <p:nvSpPr>
          <p:cNvPr id="5" name="Text 3"/>
          <p:cNvSpPr txBox="1"/>
          <p:nvPr/>
        </p:nvSpPr>
        <p:spPr>
          <a:xfrm>
            <a:off x="1143000" y="1691640"/>
            <a:ext cx="9905695" cy="914400"/>
          </a:xfrm>
          <a:prstGeom prst="rect">
            <a:avLst/>
          </a:prstGeom>
          <a:noFill/>
          <a:ln/>
        </p:spPr>
        <p:txBody>
          <a:bodyPr wrap="square" lIns="0" tIns="0" rIns="0" bIns="0" rtlCol="0" anchor="ctr"/>
          <a:lstStyle/>
          <a:p>
            <a:pPr marL="0" indent="0">
              <a:lnSpc>
                <a:spcPts val="3400"/>
              </a:lnSpc>
              <a:buNone/>
            </a:pPr>
            <a:r>
              <a:rPr lang="en-US" sz="2100" b="1" dirty="0">
                <a:solidFill>
                  <a:srgbClr val="232F3E"/>
                </a:solidFill>
                <a:latin typeface="Apple SD Gothic Neo" pitchFamily="34" charset="0"/>
                <a:ea typeface="Apple SD Gothic Neo" pitchFamily="34" charset="-122"/>
                <a:cs typeface="Apple SD Gothic Neo" pitchFamily="34" charset="-120"/>
              </a:rPr>
              <a:t>시스템이 운영 환경의 격렬한 조건을 견뎌낼 수 있다는 자신감을 얻기 위해,</a:t>
            </a:r>
            <a:endParaRPr lang="en-US" sz="2100" dirty="0"/>
          </a:p>
          <a:p>
            <a:pPr marL="0" indent="0">
              <a:lnSpc>
                <a:spcPts val="3400"/>
              </a:lnSpc>
              <a:buNone/>
            </a:pPr>
            <a:r>
              <a:rPr lang="en-US" sz="2100" b="1" dirty="0">
                <a:solidFill>
                  <a:srgbClr val="232F3E"/>
                </a:solidFill>
                <a:latin typeface="Apple SD Gothic Neo" pitchFamily="34" charset="0"/>
                <a:ea typeface="Apple SD Gothic Neo" pitchFamily="34" charset="-122"/>
                <a:cs typeface="Apple SD Gothic Neo" pitchFamily="34" charset="-120"/>
              </a:rPr>
              <a:t>시스템을 대상으로 실험하는 규율</a:t>
            </a:r>
            <a:endParaRPr lang="en-US" sz="2100" dirty="0"/>
          </a:p>
        </p:txBody>
      </p:sp>
      <p:sp>
        <p:nvSpPr>
          <p:cNvPr id="6" name="Text 4"/>
          <p:cNvSpPr txBox="1"/>
          <p:nvPr/>
        </p:nvSpPr>
        <p:spPr>
          <a:xfrm>
            <a:off x="1143000" y="2697480"/>
            <a:ext cx="9905695" cy="292608"/>
          </a:xfrm>
          <a:prstGeom prst="rect">
            <a:avLst/>
          </a:prstGeom>
          <a:noFill/>
          <a:ln/>
        </p:spPr>
        <p:txBody>
          <a:bodyPr wrap="square" lIns="0" tIns="0" rIns="0" bIns="0" rtlCol="0" anchor="ctr"/>
          <a:lstStyle/>
          <a:p>
            <a:pPr marL="0" indent="0">
              <a:buNone/>
            </a:pPr>
            <a:r>
              <a:rPr lang="en-US" sz="1150" dirty="0">
                <a:solidFill>
                  <a:srgbClr val="687078"/>
                </a:solidFill>
                <a:latin typeface="Apple SD Gothic Neo" pitchFamily="34" charset="0"/>
                <a:ea typeface="Apple SD Gothic Neo" pitchFamily="34" charset="-122"/>
                <a:cs typeface="Apple SD Gothic Neo" pitchFamily="34" charset="-120"/>
              </a:rPr>
              <a:t>출처 · 넷플릭스, Principles of Chaos Engineering (2015)</a:t>
            </a:r>
            <a:endParaRPr lang="en-US" sz="1150" dirty="0"/>
          </a:p>
        </p:txBody>
      </p:sp>
      <p:sp>
        <p:nvSpPr>
          <p:cNvPr id="7" name="Shape 5"/>
          <p:cNvSpPr/>
          <p:nvPr/>
        </p:nvSpPr>
        <p:spPr>
          <a:xfrm>
            <a:off x="640080" y="3493008"/>
            <a:ext cx="3454298" cy="1371600"/>
          </a:xfrm>
          <a:prstGeom prst="roundRect">
            <a:avLst>
              <a:gd name="adj" fmla="val 4000"/>
            </a:avLst>
          </a:prstGeom>
          <a:solidFill>
            <a:srgbClr val="F2F7FF"/>
          </a:solidFill>
          <a:ln/>
        </p:spPr>
        <p:txBody>
          <a:bodyPr/>
          <a:lstStyle/>
          <a:p>
            <a:endParaRPr lang="ko-Kore-KR" altLang="en-US"/>
          </a:p>
        </p:txBody>
      </p:sp>
      <p:sp>
        <p:nvSpPr>
          <p:cNvPr id="8" name="Text 6"/>
          <p:cNvSpPr txBox="1"/>
          <p:nvPr/>
        </p:nvSpPr>
        <p:spPr>
          <a:xfrm>
            <a:off x="960120" y="3703320"/>
            <a:ext cx="2814218" cy="438912"/>
          </a:xfrm>
          <a:prstGeom prst="rect">
            <a:avLst/>
          </a:prstGeom>
          <a:noFill/>
          <a:ln/>
        </p:spPr>
        <p:txBody>
          <a:bodyPr wrap="square" lIns="0" tIns="0" rIns="0" bIns="0" rtlCol="0" anchor="ctr"/>
          <a:lstStyle/>
          <a:p>
            <a:pPr marL="0" indent="0">
              <a:buNone/>
            </a:pPr>
            <a:r>
              <a:rPr lang="en-US" sz="2000" b="1" dirty="0">
                <a:solidFill>
                  <a:srgbClr val="527FFF"/>
                </a:solidFill>
                <a:latin typeface="Apple SD Gothic Neo" pitchFamily="34" charset="0"/>
                <a:ea typeface="Apple SD Gothic Neo" pitchFamily="34" charset="-122"/>
                <a:cs typeface="Apple SD Gothic Neo" pitchFamily="34" charset="-120"/>
              </a:rPr>
              <a:t>가설 기반</a:t>
            </a:r>
            <a:endParaRPr lang="en-US" sz="2000" dirty="0"/>
          </a:p>
        </p:txBody>
      </p:sp>
      <p:sp>
        <p:nvSpPr>
          <p:cNvPr id="9" name="Text 7"/>
          <p:cNvSpPr txBox="1"/>
          <p:nvPr/>
        </p:nvSpPr>
        <p:spPr>
          <a:xfrm>
            <a:off x="960120" y="4160520"/>
            <a:ext cx="2814218" cy="347472"/>
          </a:xfrm>
          <a:prstGeom prst="rect">
            <a:avLst/>
          </a:prstGeom>
          <a:noFill/>
          <a:ln/>
        </p:spPr>
        <p:txBody>
          <a:bodyPr wrap="square" lIns="0" tIns="0" rIns="0" bIns="0" rtlCol="0" anchor="ctr"/>
          <a:lstStyle/>
          <a:p>
            <a:pPr marL="0" indent="0">
              <a:buNone/>
            </a:pPr>
            <a:r>
              <a:rPr lang="en-US" sz="1250" dirty="0">
                <a:solidFill>
                  <a:srgbClr val="4A5561"/>
                </a:solidFill>
                <a:latin typeface="Apple SD Gothic Neo" pitchFamily="34" charset="0"/>
                <a:ea typeface="Apple SD Gothic Neo" pitchFamily="34" charset="-122"/>
                <a:cs typeface="Apple SD Gothic Neo" pitchFamily="34" charset="-120"/>
              </a:rPr>
              <a:t>먼저 예측을 세운다</a:t>
            </a:r>
            <a:endParaRPr lang="en-US" sz="1250" dirty="0"/>
          </a:p>
        </p:txBody>
      </p:sp>
      <p:sp>
        <p:nvSpPr>
          <p:cNvPr id="10" name="Shape 8"/>
          <p:cNvSpPr/>
          <p:nvPr/>
        </p:nvSpPr>
        <p:spPr>
          <a:xfrm>
            <a:off x="4368698" y="3493008"/>
            <a:ext cx="3454298" cy="1371600"/>
          </a:xfrm>
          <a:prstGeom prst="roundRect">
            <a:avLst>
              <a:gd name="adj" fmla="val 4000"/>
            </a:avLst>
          </a:prstGeom>
          <a:solidFill>
            <a:srgbClr val="FFF4E5"/>
          </a:solidFill>
          <a:ln/>
        </p:spPr>
        <p:txBody>
          <a:bodyPr/>
          <a:lstStyle/>
          <a:p>
            <a:endParaRPr lang="ko-Kore-KR" altLang="en-US"/>
          </a:p>
        </p:txBody>
      </p:sp>
      <p:sp>
        <p:nvSpPr>
          <p:cNvPr id="11" name="Text 9"/>
          <p:cNvSpPr txBox="1"/>
          <p:nvPr/>
        </p:nvSpPr>
        <p:spPr>
          <a:xfrm>
            <a:off x="4688738" y="3703320"/>
            <a:ext cx="2814218" cy="438912"/>
          </a:xfrm>
          <a:prstGeom prst="rect">
            <a:avLst/>
          </a:prstGeom>
          <a:noFill/>
          <a:ln/>
        </p:spPr>
        <p:txBody>
          <a:bodyPr wrap="square" lIns="0" tIns="0" rIns="0" bIns="0" rtlCol="0" anchor="ctr"/>
          <a:lstStyle/>
          <a:p>
            <a:pPr marL="0" indent="0">
              <a:buNone/>
            </a:pPr>
            <a:r>
              <a:rPr lang="en-US" sz="2000" b="1" dirty="0">
                <a:solidFill>
                  <a:srgbClr val="FF9900"/>
                </a:solidFill>
                <a:latin typeface="Apple SD Gothic Neo" pitchFamily="34" charset="0"/>
                <a:ea typeface="Apple SD Gothic Neo" pitchFamily="34" charset="-122"/>
                <a:cs typeface="Apple SD Gothic Neo" pitchFamily="34" charset="-120"/>
              </a:rPr>
              <a:t>통제된</a:t>
            </a:r>
            <a:endParaRPr lang="en-US" sz="2000" dirty="0"/>
          </a:p>
        </p:txBody>
      </p:sp>
      <p:sp>
        <p:nvSpPr>
          <p:cNvPr id="12" name="Text 10"/>
          <p:cNvSpPr txBox="1"/>
          <p:nvPr/>
        </p:nvSpPr>
        <p:spPr>
          <a:xfrm>
            <a:off x="4688738" y="4160520"/>
            <a:ext cx="2814218" cy="347472"/>
          </a:xfrm>
          <a:prstGeom prst="rect">
            <a:avLst/>
          </a:prstGeom>
          <a:noFill/>
          <a:ln/>
        </p:spPr>
        <p:txBody>
          <a:bodyPr wrap="square" lIns="0" tIns="0" rIns="0" bIns="0" rtlCol="0" anchor="ctr"/>
          <a:lstStyle/>
          <a:p>
            <a:pPr marL="0" indent="0">
              <a:buNone/>
            </a:pPr>
            <a:r>
              <a:rPr lang="en-US" sz="1250" dirty="0">
                <a:solidFill>
                  <a:srgbClr val="4A5561"/>
                </a:solidFill>
                <a:latin typeface="Apple SD Gothic Neo" pitchFamily="34" charset="0"/>
                <a:ea typeface="Apple SD Gothic Neo" pitchFamily="34" charset="-122"/>
                <a:cs typeface="Apple SD Gothic Neo" pitchFamily="34" charset="-120"/>
              </a:rPr>
              <a:t>폭발 반경을 제한한다</a:t>
            </a:r>
            <a:endParaRPr lang="en-US" sz="1250" dirty="0"/>
          </a:p>
        </p:txBody>
      </p:sp>
      <p:sp>
        <p:nvSpPr>
          <p:cNvPr id="13" name="Shape 11"/>
          <p:cNvSpPr/>
          <p:nvPr/>
        </p:nvSpPr>
        <p:spPr>
          <a:xfrm>
            <a:off x="8097317" y="3493008"/>
            <a:ext cx="3454298" cy="1371600"/>
          </a:xfrm>
          <a:prstGeom prst="roundRect">
            <a:avLst>
              <a:gd name="adj" fmla="val 4000"/>
            </a:avLst>
          </a:prstGeom>
          <a:solidFill>
            <a:srgbClr val="E8F8F5"/>
          </a:solidFill>
          <a:ln/>
        </p:spPr>
        <p:txBody>
          <a:bodyPr/>
          <a:lstStyle/>
          <a:p>
            <a:endParaRPr lang="ko-Kore-KR" altLang="en-US"/>
          </a:p>
        </p:txBody>
      </p:sp>
      <p:sp>
        <p:nvSpPr>
          <p:cNvPr id="14" name="Text 12"/>
          <p:cNvSpPr txBox="1"/>
          <p:nvPr/>
        </p:nvSpPr>
        <p:spPr>
          <a:xfrm>
            <a:off x="8417357" y="3703320"/>
            <a:ext cx="2814218" cy="438912"/>
          </a:xfrm>
          <a:prstGeom prst="rect">
            <a:avLst/>
          </a:prstGeom>
          <a:noFill/>
          <a:ln/>
        </p:spPr>
        <p:txBody>
          <a:bodyPr wrap="square" lIns="0" tIns="0" rIns="0" bIns="0" rtlCol="0" anchor="ctr"/>
          <a:lstStyle/>
          <a:p>
            <a:pPr marL="0" indent="0">
              <a:buNone/>
            </a:pPr>
            <a:r>
              <a:rPr lang="en-US" sz="2000" b="1" dirty="0">
                <a:solidFill>
                  <a:srgbClr val="01A88D"/>
                </a:solidFill>
                <a:latin typeface="Apple SD Gothic Neo" pitchFamily="34" charset="0"/>
                <a:ea typeface="Apple SD Gothic Neo" pitchFamily="34" charset="-122"/>
                <a:cs typeface="Apple SD Gothic Neo" pitchFamily="34" charset="-120"/>
              </a:rPr>
              <a:t>반복 가능한</a:t>
            </a:r>
            <a:endParaRPr lang="en-US" sz="2000" dirty="0"/>
          </a:p>
        </p:txBody>
      </p:sp>
      <p:sp>
        <p:nvSpPr>
          <p:cNvPr id="15" name="Text 13"/>
          <p:cNvSpPr txBox="1"/>
          <p:nvPr/>
        </p:nvSpPr>
        <p:spPr>
          <a:xfrm>
            <a:off x="8417357" y="4160520"/>
            <a:ext cx="2814218" cy="347472"/>
          </a:xfrm>
          <a:prstGeom prst="rect">
            <a:avLst/>
          </a:prstGeom>
          <a:noFill/>
          <a:ln/>
        </p:spPr>
        <p:txBody>
          <a:bodyPr wrap="square" lIns="0" tIns="0" rIns="0" bIns="0" rtlCol="0" anchor="ctr"/>
          <a:lstStyle/>
          <a:p>
            <a:pPr marL="0" indent="0">
              <a:buNone/>
            </a:pPr>
            <a:r>
              <a:rPr lang="en-US" sz="1250" dirty="0">
                <a:solidFill>
                  <a:srgbClr val="4A5561"/>
                </a:solidFill>
                <a:latin typeface="Apple SD Gothic Neo" pitchFamily="34" charset="0"/>
                <a:ea typeface="Apple SD Gothic Neo" pitchFamily="34" charset="-122"/>
                <a:cs typeface="Apple SD Gothic Neo" pitchFamily="34" charset="-120"/>
              </a:rPr>
              <a:t>한 번이 아니라 루프다</a:t>
            </a:r>
            <a:endParaRPr lang="en-US" sz="1250" dirty="0"/>
          </a:p>
        </p:txBody>
      </p:sp>
      <p:sp>
        <p:nvSpPr>
          <p:cNvPr id="16" name="Shape 14"/>
          <p:cNvSpPr/>
          <p:nvPr/>
        </p:nvSpPr>
        <p:spPr>
          <a:xfrm>
            <a:off x="640080" y="5074920"/>
            <a:ext cx="10911535" cy="749808"/>
          </a:xfrm>
          <a:prstGeom prst="roundRect">
            <a:avLst>
              <a:gd name="adj" fmla="val 7317"/>
            </a:avLst>
          </a:prstGeom>
          <a:solidFill>
            <a:srgbClr val="F7F8F8"/>
          </a:solidFill>
          <a:ln/>
        </p:spPr>
        <p:txBody>
          <a:bodyPr/>
          <a:lstStyle/>
          <a:p>
            <a:endParaRPr lang="ko-Kore-KR" altLang="en-US"/>
          </a:p>
        </p:txBody>
      </p:sp>
      <p:sp>
        <p:nvSpPr>
          <p:cNvPr id="17" name="Text 15"/>
          <p:cNvSpPr txBox="1"/>
          <p:nvPr/>
        </p:nvSpPr>
        <p:spPr>
          <a:xfrm>
            <a:off x="960120" y="5074920"/>
            <a:ext cx="10271455" cy="749808"/>
          </a:xfrm>
          <a:prstGeom prst="rect">
            <a:avLst/>
          </a:prstGeom>
          <a:noFill/>
          <a:ln/>
        </p:spPr>
        <p:txBody>
          <a:bodyPr wrap="square" lIns="0" tIns="0" rIns="0" bIns="0" rtlCol="0" anchor="ctr"/>
          <a:lstStyle/>
          <a:p>
            <a:pPr marL="0" indent="0">
              <a:buNone/>
            </a:pPr>
            <a:r>
              <a:rPr lang="en-US" sz="1250" dirty="0">
                <a:solidFill>
                  <a:srgbClr val="4A5561"/>
                </a:solidFill>
                <a:latin typeface="Apple SD Gothic Neo" pitchFamily="34" charset="0"/>
                <a:ea typeface="Apple SD Gothic Neo" pitchFamily="34" charset="-122"/>
                <a:cs typeface="Apple SD Gothic Neo" pitchFamily="34" charset="-120"/>
              </a:rPr>
              <a:t>이름 때문에 오해가 많다 — "운영 서버를 랜덤하게 때려 부순다"가 아니다. 과학 실험과 구조가 똑같고, 다른 점은 대상이 시험관이 아니라 우리 프로덕션 시스템이라는 것뿐이다.</a:t>
            </a:r>
            <a:endParaRPr lang="en-US" sz="1250" dirty="0"/>
          </a:p>
        </p:txBody>
      </p:sp>
      <p:sp>
        <p:nvSpPr>
          <p:cNvPr id="19" name="Text 16"/>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1 · 카오스 엔지니어링이란 무엇인가</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넷플릭스에서 시작해 지금까지</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무작위 파괴 → 설계된 실험 → 관리형 서비스. 그래서 지금이 시작하기 가장 쉬운 시점이다.</a:t>
            </a:r>
            <a:endParaRPr lang="en-US" sz="1300" dirty="0"/>
          </a:p>
        </p:txBody>
      </p:sp>
      <p:sp>
        <p:nvSpPr>
          <p:cNvPr id="5" name="Shape 3"/>
          <p:cNvSpPr/>
          <p:nvPr/>
        </p:nvSpPr>
        <p:spPr>
          <a:xfrm>
            <a:off x="731520" y="1947672"/>
            <a:ext cx="868680" cy="402336"/>
          </a:xfrm>
          <a:prstGeom prst="roundRect">
            <a:avLst>
              <a:gd name="adj" fmla="val 22727"/>
            </a:avLst>
          </a:prstGeom>
          <a:solidFill>
            <a:srgbClr val="FF9900"/>
          </a:solidFill>
          <a:ln/>
        </p:spPr>
        <p:txBody>
          <a:bodyPr/>
          <a:lstStyle/>
          <a:p>
            <a:endParaRPr lang="ko-Kore-KR" altLang="en-US"/>
          </a:p>
        </p:txBody>
      </p:sp>
      <p:sp>
        <p:nvSpPr>
          <p:cNvPr id="6" name="Text 4"/>
          <p:cNvSpPr txBox="1"/>
          <p:nvPr/>
        </p:nvSpPr>
        <p:spPr>
          <a:xfrm>
            <a:off x="731520" y="1947672"/>
            <a:ext cx="86868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2010</a:t>
            </a:r>
            <a:endParaRPr lang="en-US" sz="1100" dirty="0"/>
          </a:p>
        </p:txBody>
      </p:sp>
      <p:sp>
        <p:nvSpPr>
          <p:cNvPr id="7" name="Text 5"/>
          <p:cNvSpPr txBox="1"/>
          <p:nvPr/>
        </p:nvSpPr>
        <p:spPr>
          <a:xfrm>
            <a:off x="1755648" y="1874520"/>
            <a:ext cx="2286000" cy="292608"/>
          </a:xfrm>
          <a:prstGeom prst="rect">
            <a:avLst/>
          </a:prstGeom>
          <a:noFill/>
          <a:ln/>
        </p:spPr>
        <p:txBody>
          <a:bodyPr wrap="square" lIns="0" tIns="0" rIns="0" bIns="0" rtlCol="0" anchor="ctr"/>
          <a:lstStyle/>
          <a:p>
            <a:pPr marL="0" indent="0">
              <a:buNone/>
            </a:pPr>
            <a:r>
              <a:rPr lang="en-US" sz="1350" b="1" dirty="0">
                <a:solidFill>
                  <a:srgbClr val="232F3E"/>
                </a:solidFill>
                <a:latin typeface="Apple SD Gothic Neo" pitchFamily="34" charset="0"/>
                <a:ea typeface="Apple SD Gothic Neo" pitchFamily="34" charset="-122"/>
                <a:cs typeface="Apple SD Gothic Neo" pitchFamily="34" charset="-120"/>
              </a:rPr>
              <a:t>Chaos Monkey</a:t>
            </a:r>
            <a:endParaRPr lang="en-US" sz="1350" dirty="0"/>
          </a:p>
        </p:txBody>
      </p:sp>
      <p:sp>
        <p:nvSpPr>
          <p:cNvPr id="8" name="Text 6"/>
          <p:cNvSpPr txBox="1"/>
          <p:nvPr/>
        </p:nvSpPr>
        <p:spPr>
          <a:xfrm>
            <a:off x="1755648" y="2148840"/>
            <a:ext cx="3931920" cy="292608"/>
          </a:xfrm>
          <a:prstGeom prst="rect">
            <a:avLst/>
          </a:prstGeom>
          <a:noFill/>
          <a:ln/>
        </p:spPr>
        <p:txBody>
          <a:bodyPr wrap="square" lIns="0" tIns="0" rIns="0" bIns="0" rtlCol="0" anchor="ctr"/>
          <a:lstStyle/>
          <a:p>
            <a:pPr marL="0" indent="0">
              <a:buNone/>
            </a:pPr>
            <a:r>
              <a:rPr lang="en-US" sz="1050" dirty="0">
                <a:solidFill>
                  <a:srgbClr val="687078"/>
                </a:solidFill>
                <a:latin typeface="Apple SD Gothic Neo" pitchFamily="34" charset="0"/>
                <a:ea typeface="Apple SD Gothic Neo" pitchFamily="34" charset="-122"/>
                <a:cs typeface="Apple SD Gothic Neo" pitchFamily="34" charset="-120"/>
              </a:rPr>
              <a:t>운영 인스턴스를 무작위로 죽이는 도구 하나</a:t>
            </a:r>
            <a:endParaRPr lang="en-US" sz="1050" dirty="0"/>
          </a:p>
        </p:txBody>
      </p:sp>
      <p:sp>
        <p:nvSpPr>
          <p:cNvPr id="9" name="Text 7"/>
          <p:cNvSpPr txBox="1"/>
          <p:nvPr/>
        </p:nvSpPr>
        <p:spPr>
          <a:xfrm>
            <a:off x="5897880" y="1874520"/>
            <a:ext cx="5516575" cy="566928"/>
          </a:xfrm>
          <a:prstGeom prst="rect">
            <a:avLst/>
          </a:prstGeom>
          <a:noFill/>
          <a:ln/>
        </p:spPr>
        <p:txBody>
          <a:bodyPr wrap="square" lIns="0" tIns="0" rIns="0" bIns="0" rtlCol="0" anchor="ctr"/>
          <a:lstStyle/>
          <a:p>
            <a:pPr marL="0" indent="0">
              <a:buNone/>
            </a:pPr>
            <a:r>
              <a:rPr lang="en-US" sz="1200" dirty="0">
                <a:solidFill>
                  <a:srgbClr val="4A5561"/>
                </a:solidFill>
                <a:latin typeface="Apple SD Gothic Neo" pitchFamily="34" charset="0"/>
                <a:ea typeface="Apple SD Gothic Neo" pitchFamily="34" charset="-122"/>
                <a:cs typeface="Apple SD Gothic Neo" pitchFamily="34" charset="-120"/>
              </a:rPr>
              <a:t>"장애를 기다리지 말고 우리가 먼저 만들자"는 발상의 전환</a:t>
            </a:r>
            <a:endParaRPr lang="en-US" sz="1200" dirty="0"/>
          </a:p>
        </p:txBody>
      </p:sp>
      <p:sp>
        <p:nvSpPr>
          <p:cNvPr id="10" name="Shape 8"/>
          <p:cNvSpPr/>
          <p:nvPr/>
        </p:nvSpPr>
        <p:spPr>
          <a:xfrm>
            <a:off x="640080" y="2523744"/>
            <a:ext cx="10911535" cy="676656"/>
          </a:xfrm>
          <a:prstGeom prst="roundRect">
            <a:avLst>
              <a:gd name="adj" fmla="val 8108"/>
            </a:avLst>
          </a:prstGeom>
          <a:solidFill>
            <a:srgbClr val="F7F8F8"/>
          </a:solidFill>
          <a:ln/>
        </p:spPr>
        <p:txBody>
          <a:bodyPr/>
          <a:lstStyle/>
          <a:p>
            <a:endParaRPr lang="ko-Kore-KR" altLang="en-US"/>
          </a:p>
        </p:txBody>
      </p:sp>
      <p:sp>
        <p:nvSpPr>
          <p:cNvPr id="11" name="Shape 9"/>
          <p:cNvSpPr/>
          <p:nvPr/>
        </p:nvSpPr>
        <p:spPr>
          <a:xfrm>
            <a:off x="731520" y="2660904"/>
            <a:ext cx="868680" cy="402336"/>
          </a:xfrm>
          <a:prstGeom prst="roundRect">
            <a:avLst>
              <a:gd name="adj" fmla="val 22727"/>
            </a:avLst>
          </a:prstGeom>
          <a:solidFill>
            <a:srgbClr val="FF9900"/>
          </a:solidFill>
          <a:ln/>
        </p:spPr>
        <p:txBody>
          <a:bodyPr/>
          <a:lstStyle/>
          <a:p>
            <a:endParaRPr lang="ko-Kore-KR" altLang="en-US"/>
          </a:p>
        </p:txBody>
      </p:sp>
      <p:sp>
        <p:nvSpPr>
          <p:cNvPr id="12" name="Text 10"/>
          <p:cNvSpPr txBox="1"/>
          <p:nvPr/>
        </p:nvSpPr>
        <p:spPr>
          <a:xfrm>
            <a:off x="731520" y="2660904"/>
            <a:ext cx="86868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2011</a:t>
            </a:r>
            <a:endParaRPr lang="en-US" sz="1100" dirty="0"/>
          </a:p>
        </p:txBody>
      </p:sp>
      <p:sp>
        <p:nvSpPr>
          <p:cNvPr id="13" name="Text 11"/>
          <p:cNvSpPr txBox="1"/>
          <p:nvPr/>
        </p:nvSpPr>
        <p:spPr>
          <a:xfrm>
            <a:off x="1755648" y="2587752"/>
            <a:ext cx="2286000" cy="292608"/>
          </a:xfrm>
          <a:prstGeom prst="rect">
            <a:avLst/>
          </a:prstGeom>
          <a:noFill/>
          <a:ln/>
        </p:spPr>
        <p:txBody>
          <a:bodyPr wrap="square" lIns="0" tIns="0" rIns="0" bIns="0" rtlCol="0" anchor="ctr"/>
          <a:lstStyle/>
          <a:p>
            <a:pPr marL="0" indent="0">
              <a:buNone/>
            </a:pPr>
            <a:r>
              <a:rPr lang="en-US" sz="1350" b="1" dirty="0">
                <a:solidFill>
                  <a:srgbClr val="232F3E"/>
                </a:solidFill>
                <a:latin typeface="Apple SD Gothic Neo" pitchFamily="34" charset="0"/>
                <a:ea typeface="Apple SD Gothic Neo" pitchFamily="34" charset="-122"/>
                <a:cs typeface="Apple SD Gothic Neo" pitchFamily="34" charset="-120"/>
              </a:rPr>
              <a:t>Simian Army</a:t>
            </a:r>
            <a:endParaRPr lang="en-US" sz="1350" dirty="0"/>
          </a:p>
        </p:txBody>
      </p:sp>
      <p:sp>
        <p:nvSpPr>
          <p:cNvPr id="14" name="Text 12"/>
          <p:cNvSpPr txBox="1"/>
          <p:nvPr/>
        </p:nvSpPr>
        <p:spPr>
          <a:xfrm>
            <a:off x="1755648" y="2862072"/>
            <a:ext cx="3931920" cy="292608"/>
          </a:xfrm>
          <a:prstGeom prst="rect">
            <a:avLst/>
          </a:prstGeom>
          <a:noFill/>
          <a:ln/>
        </p:spPr>
        <p:txBody>
          <a:bodyPr wrap="square" lIns="0" tIns="0" rIns="0" bIns="0" rtlCol="0" anchor="ctr"/>
          <a:lstStyle/>
          <a:p>
            <a:pPr marL="0" indent="0">
              <a:buNone/>
            </a:pPr>
            <a:r>
              <a:rPr lang="en-US" sz="1050" dirty="0">
                <a:solidFill>
                  <a:srgbClr val="687078"/>
                </a:solidFill>
                <a:latin typeface="Apple SD Gothic Neo" pitchFamily="34" charset="0"/>
                <a:ea typeface="Apple SD Gothic Neo" pitchFamily="34" charset="-122"/>
                <a:cs typeface="Apple SD Gothic Neo" pitchFamily="34" charset="-120"/>
              </a:rPr>
              <a:t>Latency Monkey · Conformity Monkey · Chaos Gorilla(AZ 전체)</a:t>
            </a:r>
            <a:endParaRPr lang="en-US" sz="1050" dirty="0"/>
          </a:p>
        </p:txBody>
      </p:sp>
      <p:sp>
        <p:nvSpPr>
          <p:cNvPr id="15" name="Text 13"/>
          <p:cNvSpPr txBox="1"/>
          <p:nvPr/>
        </p:nvSpPr>
        <p:spPr>
          <a:xfrm>
            <a:off x="5897880" y="2587752"/>
            <a:ext cx="5516575" cy="566928"/>
          </a:xfrm>
          <a:prstGeom prst="rect">
            <a:avLst/>
          </a:prstGeom>
          <a:noFill/>
          <a:ln/>
        </p:spPr>
        <p:txBody>
          <a:bodyPr wrap="square" lIns="0" tIns="0" rIns="0" bIns="0" rtlCol="0" anchor="ctr"/>
          <a:lstStyle/>
          <a:p>
            <a:pPr marL="0" indent="0">
              <a:buNone/>
            </a:pPr>
            <a:r>
              <a:rPr lang="en-US" sz="1200" dirty="0">
                <a:solidFill>
                  <a:srgbClr val="4A5561"/>
                </a:solidFill>
                <a:latin typeface="Apple SD Gothic Neo" pitchFamily="34" charset="0"/>
                <a:ea typeface="Apple SD Gothic Neo" pitchFamily="34" charset="-122"/>
                <a:cs typeface="Apple SD Gothic Neo" pitchFamily="34" charset="-120"/>
              </a:rPr>
              <a:t>장애 유형과 폭발 반경의 확장 — 인스턴스 하나에서 가용영역 전체까지</a:t>
            </a:r>
            <a:endParaRPr lang="en-US" sz="1200" dirty="0"/>
          </a:p>
        </p:txBody>
      </p:sp>
      <p:sp>
        <p:nvSpPr>
          <p:cNvPr id="16" name="Shape 14"/>
          <p:cNvSpPr/>
          <p:nvPr/>
        </p:nvSpPr>
        <p:spPr>
          <a:xfrm>
            <a:off x="731520" y="3374136"/>
            <a:ext cx="868680" cy="402336"/>
          </a:xfrm>
          <a:prstGeom prst="roundRect">
            <a:avLst>
              <a:gd name="adj" fmla="val 22727"/>
            </a:avLst>
          </a:prstGeom>
          <a:solidFill>
            <a:srgbClr val="687078"/>
          </a:solidFill>
          <a:ln/>
        </p:spPr>
        <p:txBody>
          <a:bodyPr/>
          <a:lstStyle/>
          <a:p>
            <a:endParaRPr lang="ko-Kore-KR" altLang="en-US"/>
          </a:p>
        </p:txBody>
      </p:sp>
      <p:sp>
        <p:nvSpPr>
          <p:cNvPr id="17" name="Text 15"/>
          <p:cNvSpPr txBox="1"/>
          <p:nvPr/>
        </p:nvSpPr>
        <p:spPr>
          <a:xfrm>
            <a:off x="731520" y="3374136"/>
            <a:ext cx="86868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2012</a:t>
            </a:r>
            <a:endParaRPr lang="en-US" sz="1100" dirty="0"/>
          </a:p>
        </p:txBody>
      </p:sp>
      <p:sp>
        <p:nvSpPr>
          <p:cNvPr id="18" name="Text 16"/>
          <p:cNvSpPr txBox="1"/>
          <p:nvPr/>
        </p:nvSpPr>
        <p:spPr>
          <a:xfrm>
            <a:off x="1755648" y="3300984"/>
            <a:ext cx="2286000" cy="292608"/>
          </a:xfrm>
          <a:prstGeom prst="rect">
            <a:avLst/>
          </a:prstGeom>
          <a:noFill/>
          <a:ln/>
        </p:spPr>
        <p:txBody>
          <a:bodyPr wrap="square" lIns="0" tIns="0" rIns="0" bIns="0" rtlCol="0" anchor="ctr"/>
          <a:lstStyle/>
          <a:p>
            <a:pPr marL="0" indent="0">
              <a:buNone/>
            </a:pPr>
            <a:r>
              <a:rPr lang="en-US" sz="1350" b="1" dirty="0">
                <a:solidFill>
                  <a:srgbClr val="232F3E"/>
                </a:solidFill>
                <a:latin typeface="Apple SD Gothic Neo" pitchFamily="34" charset="0"/>
                <a:ea typeface="Apple SD Gothic Neo" pitchFamily="34" charset="-122"/>
                <a:cs typeface="Apple SD Gothic Neo" pitchFamily="34" charset="-120"/>
              </a:rPr>
              <a:t>오픈소스 공개</a:t>
            </a:r>
            <a:endParaRPr lang="en-US" sz="1350" dirty="0"/>
          </a:p>
        </p:txBody>
      </p:sp>
      <p:sp>
        <p:nvSpPr>
          <p:cNvPr id="19" name="Text 17"/>
          <p:cNvSpPr txBox="1"/>
          <p:nvPr/>
        </p:nvSpPr>
        <p:spPr>
          <a:xfrm>
            <a:off x="1755648" y="3575304"/>
            <a:ext cx="3931920" cy="292608"/>
          </a:xfrm>
          <a:prstGeom prst="rect">
            <a:avLst/>
          </a:prstGeom>
          <a:noFill/>
          <a:ln/>
        </p:spPr>
        <p:txBody>
          <a:bodyPr wrap="square" lIns="0" tIns="0" rIns="0" bIns="0" rtlCol="0" anchor="ctr"/>
          <a:lstStyle/>
          <a:p>
            <a:pPr marL="0" indent="0">
              <a:buNone/>
            </a:pPr>
            <a:r>
              <a:rPr lang="en-US" sz="1050" dirty="0">
                <a:solidFill>
                  <a:srgbClr val="687078"/>
                </a:solidFill>
                <a:latin typeface="Apple SD Gothic Neo" pitchFamily="34" charset="0"/>
                <a:ea typeface="Apple SD Gothic Neo" pitchFamily="34" charset="-122"/>
                <a:cs typeface="Apple SD Gothic Neo" pitchFamily="34" charset="-120"/>
              </a:rPr>
              <a:t>Chaos Monkey 코드 공개</a:t>
            </a:r>
            <a:endParaRPr lang="en-US" sz="1050" dirty="0"/>
          </a:p>
        </p:txBody>
      </p:sp>
      <p:sp>
        <p:nvSpPr>
          <p:cNvPr id="20" name="Text 18"/>
          <p:cNvSpPr txBox="1"/>
          <p:nvPr/>
        </p:nvSpPr>
        <p:spPr>
          <a:xfrm>
            <a:off x="5897880" y="3300984"/>
            <a:ext cx="5516575" cy="566928"/>
          </a:xfrm>
          <a:prstGeom prst="rect">
            <a:avLst/>
          </a:prstGeom>
          <a:noFill/>
          <a:ln/>
        </p:spPr>
        <p:txBody>
          <a:bodyPr wrap="square" lIns="0" tIns="0" rIns="0" bIns="0" rtlCol="0" anchor="ctr"/>
          <a:lstStyle/>
          <a:p>
            <a:pPr marL="0" indent="0">
              <a:buNone/>
            </a:pPr>
            <a:r>
              <a:rPr lang="en-US" sz="1200" dirty="0">
                <a:solidFill>
                  <a:srgbClr val="4A5561"/>
                </a:solidFill>
                <a:latin typeface="Apple SD Gothic Neo" pitchFamily="34" charset="0"/>
                <a:ea typeface="Apple SD Gothic Neo" pitchFamily="34" charset="-122"/>
                <a:cs typeface="Apple SD Gothic Neo" pitchFamily="34" charset="-120"/>
              </a:rPr>
              <a:t>넷플릭스 밖의 회사도 쓸 수 있게 됨</a:t>
            </a:r>
            <a:endParaRPr lang="en-US" sz="1200" dirty="0"/>
          </a:p>
        </p:txBody>
      </p:sp>
      <p:sp>
        <p:nvSpPr>
          <p:cNvPr id="21" name="Shape 19"/>
          <p:cNvSpPr/>
          <p:nvPr/>
        </p:nvSpPr>
        <p:spPr>
          <a:xfrm>
            <a:off x="640080" y="3950208"/>
            <a:ext cx="10911535" cy="676656"/>
          </a:xfrm>
          <a:prstGeom prst="roundRect">
            <a:avLst>
              <a:gd name="adj" fmla="val 8108"/>
            </a:avLst>
          </a:prstGeom>
          <a:solidFill>
            <a:srgbClr val="F7F8F8"/>
          </a:solidFill>
          <a:ln/>
        </p:spPr>
        <p:txBody>
          <a:bodyPr/>
          <a:lstStyle/>
          <a:p>
            <a:endParaRPr lang="ko-Kore-KR" altLang="en-US"/>
          </a:p>
        </p:txBody>
      </p:sp>
      <p:sp>
        <p:nvSpPr>
          <p:cNvPr id="22" name="Shape 20"/>
          <p:cNvSpPr/>
          <p:nvPr/>
        </p:nvSpPr>
        <p:spPr>
          <a:xfrm>
            <a:off x="731520" y="4087368"/>
            <a:ext cx="868680" cy="402336"/>
          </a:xfrm>
          <a:prstGeom prst="roundRect">
            <a:avLst>
              <a:gd name="adj" fmla="val 22727"/>
            </a:avLst>
          </a:prstGeom>
          <a:solidFill>
            <a:srgbClr val="527FFF"/>
          </a:solidFill>
          <a:ln/>
        </p:spPr>
        <p:txBody>
          <a:bodyPr/>
          <a:lstStyle/>
          <a:p>
            <a:endParaRPr lang="ko-Kore-KR" altLang="en-US"/>
          </a:p>
        </p:txBody>
      </p:sp>
      <p:sp>
        <p:nvSpPr>
          <p:cNvPr id="23" name="Text 21"/>
          <p:cNvSpPr txBox="1"/>
          <p:nvPr/>
        </p:nvSpPr>
        <p:spPr>
          <a:xfrm>
            <a:off x="731520" y="4087368"/>
            <a:ext cx="86868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2015</a:t>
            </a:r>
            <a:endParaRPr lang="en-US" sz="1100" dirty="0"/>
          </a:p>
        </p:txBody>
      </p:sp>
      <p:sp>
        <p:nvSpPr>
          <p:cNvPr id="24" name="Text 22"/>
          <p:cNvSpPr txBox="1"/>
          <p:nvPr/>
        </p:nvSpPr>
        <p:spPr>
          <a:xfrm>
            <a:off x="1755648" y="4014216"/>
            <a:ext cx="2286000" cy="292608"/>
          </a:xfrm>
          <a:prstGeom prst="rect">
            <a:avLst/>
          </a:prstGeom>
          <a:noFill/>
          <a:ln/>
        </p:spPr>
        <p:txBody>
          <a:bodyPr wrap="square" lIns="0" tIns="0" rIns="0" bIns="0" rtlCol="0" anchor="ctr"/>
          <a:lstStyle/>
          <a:p>
            <a:pPr marL="0" indent="0">
              <a:buNone/>
            </a:pPr>
            <a:r>
              <a:rPr lang="en-US" sz="1350" b="1" dirty="0">
                <a:solidFill>
                  <a:srgbClr val="232F3E"/>
                </a:solidFill>
                <a:latin typeface="Apple SD Gothic Neo" pitchFamily="34" charset="0"/>
                <a:ea typeface="Apple SD Gothic Neo" pitchFamily="34" charset="-122"/>
                <a:cs typeface="Apple SD Gothic Neo" pitchFamily="34" charset="-120"/>
              </a:rPr>
              <a:t>Chaos Engineering</a:t>
            </a:r>
            <a:endParaRPr lang="en-US" sz="1350" dirty="0"/>
          </a:p>
        </p:txBody>
      </p:sp>
      <p:sp>
        <p:nvSpPr>
          <p:cNvPr id="25" name="Text 23"/>
          <p:cNvSpPr txBox="1"/>
          <p:nvPr/>
        </p:nvSpPr>
        <p:spPr>
          <a:xfrm>
            <a:off x="1755648" y="4288536"/>
            <a:ext cx="3931920" cy="292608"/>
          </a:xfrm>
          <a:prstGeom prst="rect">
            <a:avLst/>
          </a:prstGeom>
          <a:noFill/>
          <a:ln/>
        </p:spPr>
        <p:txBody>
          <a:bodyPr wrap="square" lIns="0" tIns="0" rIns="0" bIns="0" rtlCol="0" anchor="ctr"/>
          <a:lstStyle/>
          <a:p>
            <a:pPr marL="0" indent="0">
              <a:buNone/>
            </a:pPr>
            <a:r>
              <a:rPr lang="en-US" sz="1050" dirty="0">
                <a:solidFill>
                  <a:srgbClr val="687078"/>
                </a:solidFill>
                <a:latin typeface="Apple SD Gothic Neo" pitchFamily="34" charset="0"/>
                <a:ea typeface="Apple SD Gothic Neo" pitchFamily="34" charset="-122"/>
                <a:cs typeface="Apple SD Gothic Neo" pitchFamily="34" charset="-120"/>
              </a:rPr>
              <a:t>용어와 Principles of Chaos Engineering 정립</a:t>
            </a:r>
            <a:endParaRPr lang="en-US" sz="1050" dirty="0"/>
          </a:p>
        </p:txBody>
      </p:sp>
      <p:sp>
        <p:nvSpPr>
          <p:cNvPr id="26" name="Text 24"/>
          <p:cNvSpPr txBox="1"/>
          <p:nvPr/>
        </p:nvSpPr>
        <p:spPr>
          <a:xfrm>
            <a:off x="5897880" y="4014216"/>
            <a:ext cx="5516575" cy="566928"/>
          </a:xfrm>
          <a:prstGeom prst="rect">
            <a:avLst/>
          </a:prstGeom>
          <a:noFill/>
          <a:ln/>
        </p:spPr>
        <p:txBody>
          <a:bodyPr wrap="square" lIns="0" tIns="0" rIns="0" bIns="0" rtlCol="0" anchor="ctr"/>
          <a:lstStyle/>
          <a:p>
            <a:pPr marL="0" indent="0">
              <a:buNone/>
            </a:pPr>
            <a:r>
              <a:rPr lang="en-US" sz="1200" dirty="0">
                <a:solidFill>
                  <a:srgbClr val="4A5561"/>
                </a:solidFill>
                <a:latin typeface="Apple SD Gothic Neo" pitchFamily="34" charset="0"/>
                <a:ea typeface="Apple SD Gothic Neo" pitchFamily="34" charset="-122"/>
                <a:cs typeface="Apple SD Gothic Neo" pitchFamily="34" charset="-120"/>
              </a:rPr>
              <a:t>도구가 방법론이 됨. 무작위 파괴에서 설계된 실험으로</a:t>
            </a:r>
            <a:endParaRPr lang="en-US" sz="1200" dirty="0"/>
          </a:p>
        </p:txBody>
      </p:sp>
      <p:sp>
        <p:nvSpPr>
          <p:cNvPr id="27" name="Shape 25"/>
          <p:cNvSpPr/>
          <p:nvPr/>
        </p:nvSpPr>
        <p:spPr>
          <a:xfrm>
            <a:off x="731520" y="4800600"/>
            <a:ext cx="868680" cy="402336"/>
          </a:xfrm>
          <a:prstGeom prst="roundRect">
            <a:avLst>
              <a:gd name="adj" fmla="val 22727"/>
            </a:avLst>
          </a:prstGeom>
          <a:solidFill>
            <a:srgbClr val="01A88D"/>
          </a:solidFill>
          <a:ln/>
        </p:spPr>
        <p:txBody>
          <a:bodyPr/>
          <a:lstStyle/>
          <a:p>
            <a:endParaRPr lang="ko-Kore-KR" altLang="en-US"/>
          </a:p>
        </p:txBody>
      </p:sp>
      <p:sp>
        <p:nvSpPr>
          <p:cNvPr id="28" name="Text 26"/>
          <p:cNvSpPr txBox="1"/>
          <p:nvPr/>
        </p:nvSpPr>
        <p:spPr>
          <a:xfrm>
            <a:off x="731520" y="4800600"/>
            <a:ext cx="86868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2021.03</a:t>
            </a:r>
            <a:endParaRPr lang="en-US" sz="1100" dirty="0"/>
          </a:p>
        </p:txBody>
      </p:sp>
      <p:sp>
        <p:nvSpPr>
          <p:cNvPr id="29" name="Text 27"/>
          <p:cNvSpPr txBox="1"/>
          <p:nvPr/>
        </p:nvSpPr>
        <p:spPr>
          <a:xfrm>
            <a:off x="1755648" y="4727448"/>
            <a:ext cx="2286000" cy="292608"/>
          </a:xfrm>
          <a:prstGeom prst="rect">
            <a:avLst/>
          </a:prstGeom>
          <a:noFill/>
          <a:ln/>
        </p:spPr>
        <p:txBody>
          <a:bodyPr wrap="square" lIns="0" tIns="0" rIns="0" bIns="0" rtlCol="0" anchor="ctr"/>
          <a:lstStyle/>
          <a:p>
            <a:pPr marL="0" indent="0">
              <a:buNone/>
            </a:pPr>
            <a:r>
              <a:rPr lang="en-US" sz="1350" b="1" dirty="0">
                <a:solidFill>
                  <a:srgbClr val="232F3E"/>
                </a:solidFill>
                <a:latin typeface="Apple SD Gothic Neo" pitchFamily="34" charset="0"/>
                <a:ea typeface="Apple SD Gothic Neo" pitchFamily="34" charset="-122"/>
                <a:cs typeface="Apple SD Gothic Neo" pitchFamily="34" charset="-120"/>
              </a:rPr>
              <a:t>AWS FIS 출시</a:t>
            </a:r>
            <a:endParaRPr lang="en-US" sz="1350" dirty="0"/>
          </a:p>
        </p:txBody>
      </p:sp>
      <p:sp>
        <p:nvSpPr>
          <p:cNvPr id="30" name="Text 28"/>
          <p:cNvSpPr txBox="1"/>
          <p:nvPr/>
        </p:nvSpPr>
        <p:spPr>
          <a:xfrm>
            <a:off x="1755648" y="5001768"/>
            <a:ext cx="3931920" cy="292608"/>
          </a:xfrm>
          <a:prstGeom prst="rect">
            <a:avLst/>
          </a:prstGeom>
          <a:noFill/>
          <a:ln/>
        </p:spPr>
        <p:txBody>
          <a:bodyPr wrap="square" lIns="0" tIns="0" rIns="0" bIns="0" rtlCol="0" anchor="ctr"/>
          <a:lstStyle/>
          <a:p>
            <a:pPr marL="0" indent="0">
              <a:buNone/>
            </a:pPr>
            <a:r>
              <a:rPr lang="en-US" sz="1050" dirty="0">
                <a:solidFill>
                  <a:srgbClr val="687078"/>
                </a:solidFill>
                <a:latin typeface="Apple SD Gothic Neo" pitchFamily="34" charset="0"/>
                <a:ea typeface="Apple SD Gothic Neo" pitchFamily="34" charset="-122"/>
                <a:cs typeface="Apple SD Gothic Neo" pitchFamily="34" charset="-120"/>
              </a:rPr>
              <a:t>Gremlin · Chaos Mesh 등 관리형/오픈소스 도구 등장</a:t>
            </a:r>
            <a:endParaRPr lang="en-US" sz="1050" dirty="0"/>
          </a:p>
        </p:txBody>
      </p:sp>
      <p:sp>
        <p:nvSpPr>
          <p:cNvPr id="31" name="Text 29"/>
          <p:cNvSpPr txBox="1"/>
          <p:nvPr/>
        </p:nvSpPr>
        <p:spPr>
          <a:xfrm>
            <a:off x="5897880" y="4727448"/>
            <a:ext cx="5516575" cy="566928"/>
          </a:xfrm>
          <a:prstGeom prst="rect">
            <a:avLst/>
          </a:prstGeom>
          <a:noFill/>
          <a:ln/>
        </p:spPr>
        <p:txBody>
          <a:bodyPr wrap="square" lIns="0" tIns="0" rIns="0" bIns="0" rtlCol="0" anchor="ctr"/>
          <a:lstStyle/>
          <a:p>
            <a:pPr marL="0" indent="0">
              <a:buNone/>
            </a:pPr>
            <a:r>
              <a:rPr lang="en-US" sz="1200" dirty="0">
                <a:solidFill>
                  <a:srgbClr val="4A5561"/>
                </a:solidFill>
                <a:latin typeface="Apple SD Gothic Neo" pitchFamily="34" charset="0"/>
                <a:ea typeface="Apple SD Gothic Neo" pitchFamily="34" charset="-122"/>
                <a:cs typeface="Apple SD Gothic Neo" pitchFamily="34" charset="-120"/>
              </a:rPr>
              <a:t>권한 통제 · 중단 조건 · 이력이 서비스 기본 기능으로</a:t>
            </a:r>
            <a:endParaRPr lang="en-US" sz="1200" dirty="0"/>
          </a:p>
        </p:txBody>
      </p:sp>
      <p:sp>
        <p:nvSpPr>
          <p:cNvPr id="32" name="Shape 30"/>
          <p:cNvSpPr/>
          <p:nvPr/>
        </p:nvSpPr>
        <p:spPr>
          <a:xfrm>
            <a:off x="640080" y="5532120"/>
            <a:ext cx="10911535" cy="749808"/>
          </a:xfrm>
          <a:prstGeom prst="roundRect">
            <a:avLst>
              <a:gd name="adj" fmla="val 7317"/>
            </a:avLst>
          </a:prstGeom>
          <a:solidFill>
            <a:srgbClr val="FFF4E5"/>
          </a:solidFill>
          <a:ln/>
        </p:spPr>
        <p:txBody>
          <a:bodyPr/>
          <a:lstStyle/>
          <a:p>
            <a:endParaRPr lang="ko-Kore-KR" altLang="en-US"/>
          </a:p>
        </p:txBody>
      </p:sp>
      <p:sp>
        <p:nvSpPr>
          <p:cNvPr id="33" name="Text 31"/>
          <p:cNvSpPr txBox="1"/>
          <p:nvPr/>
        </p:nvSpPr>
        <p:spPr>
          <a:xfrm>
            <a:off x="960120" y="5532120"/>
            <a:ext cx="10271455" cy="749808"/>
          </a:xfrm>
          <a:prstGeom prst="rect">
            <a:avLst/>
          </a:prstGeom>
          <a:noFill/>
          <a:ln/>
        </p:spPr>
        <p:txBody>
          <a:bodyPr wrap="square" lIns="0" tIns="0" rIns="0" bIns="0" rtlCol="0" anchor="ctr"/>
          <a:lstStyle/>
          <a:p>
            <a:pPr marL="0" indent="0">
              <a:buNone/>
            </a:pPr>
            <a:r>
              <a:rPr lang="en-US" sz="1300" dirty="0">
                <a:solidFill>
                  <a:srgbClr val="4A5561"/>
                </a:solidFill>
                <a:latin typeface="Apple SD Gothic Neo" pitchFamily="34" charset="0"/>
                <a:ea typeface="Apple SD Gothic Neo" pitchFamily="34" charset="-122"/>
                <a:cs typeface="Apple SD Gothic Neo" pitchFamily="34" charset="-120"/>
              </a:rPr>
              <a:t>도구가 공짜가 된 지금, 남은 병목은  </a:t>
            </a:r>
            <a:r>
              <a:rPr lang="en-US" sz="1300" b="1" dirty="0">
                <a:solidFill>
                  <a:srgbClr val="232F3E"/>
                </a:solidFill>
                <a:latin typeface="Apple SD Gothic Neo" pitchFamily="34" charset="0"/>
                <a:ea typeface="Apple SD Gothic Neo" pitchFamily="34" charset="-122"/>
                <a:cs typeface="Apple SD Gothic Neo" pitchFamily="34" charset="-120"/>
              </a:rPr>
              <a:t>"그래서 무엇을 실험할 것인가"</a:t>
            </a:r>
            <a:r>
              <a:rPr lang="en-US" sz="1150" dirty="0">
                <a:solidFill>
                  <a:srgbClr val="687078"/>
                </a:solidFill>
                <a:latin typeface="Apple SD Gothic Neo" pitchFamily="34" charset="0"/>
                <a:ea typeface="Apple SD Gothic Neo" pitchFamily="34" charset="-122"/>
                <a:cs typeface="Apple SD Gothic Neo" pitchFamily="34" charset="-120"/>
              </a:rPr>
              <a:t>   ·   핵심 태도: 업무 시간에 일부러 돌렸다</a:t>
            </a:r>
            <a:endParaRPr lang="en-US" sz="1300" dirty="0"/>
          </a:p>
        </p:txBody>
      </p:sp>
      <p:sp>
        <p:nvSpPr>
          <p:cNvPr id="35" name="Text 32"/>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2F3E"/>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1 · 왜 필요한가</a:t>
            </a:r>
            <a:endParaRPr lang="en-US" sz="1100" dirty="0"/>
          </a:p>
        </p:txBody>
      </p:sp>
      <p:sp>
        <p:nvSpPr>
          <p:cNvPr id="3" name="Text 1"/>
          <p:cNvSpPr txBox="1"/>
          <p:nvPr/>
        </p:nvSpPr>
        <p:spPr>
          <a:xfrm>
            <a:off x="640080" y="1234440"/>
            <a:ext cx="10911535" cy="868680"/>
          </a:xfrm>
          <a:prstGeom prst="rect">
            <a:avLst/>
          </a:prstGeom>
          <a:noFill/>
          <a:ln/>
        </p:spPr>
        <p:txBody>
          <a:bodyPr wrap="square" lIns="0" tIns="0" rIns="0" bIns="0" rtlCol="0" anchor="ctr"/>
          <a:lstStyle/>
          <a:p>
            <a:pPr marL="0" indent="0">
              <a:buNone/>
            </a:pPr>
            <a:r>
              <a:rPr lang="en-US" sz="4000" b="1" dirty="0">
                <a:solidFill>
                  <a:srgbClr val="FFFFFF"/>
                </a:solidFill>
                <a:latin typeface="Apple SD Gothic Neo" pitchFamily="34" charset="0"/>
                <a:ea typeface="Apple SD Gothic Neo" pitchFamily="34" charset="-122"/>
                <a:cs typeface="Apple SD Gothic Neo" pitchFamily="34" charset="-120"/>
              </a:rPr>
              <a:t>"Everything fails all the time."</a:t>
            </a:r>
            <a:endParaRPr lang="en-US" sz="4000" dirty="0"/>
          </a:p>
        </p:txBody>
      </p:sp>
      <p:sp>
        <p:nvSpPr>
          <p:cNvPr id="4" name="Text 2"/>
          <p:cNvSpPr txBox="1"/>
          <p:nvPr/>
        </p:nvSpPr>
        <p:spPr>
          <a:xfrm>
            <a:off x="640080" y="2121408"/>
            <a:ext cx="10911535" cy="384048"/>
          </a:xfrm>
          <a:prstGeom prst="rect">
            <a:avLst/>
          </a:prstGeom>
          <a:noFill/>
          <a:ln/>
        </p:spPr>
        <p:txBody>
          <a:bodyPr wrap="square" lIns="0" tIns="0" rIns="0" bIns="0" rtlCol="0" anchor="ctr"/>
          <a:lstStyle/>
          <a:p>
            <a:pPr marL="0" indent="0">
              <a:buNone/>
            </a:pPr>
            <a:r>
              <a:rPr lang="en-US" sz="1700" i="1" dirty="0">
                <a:solidFill>
                  <a:srgbClr val="B8C0C8"/>
                </a:solidFill>
                <a:latin typeface="Apple SD Gothic Neo" pitchFamily="34" charset="0"/>
                <a:ea typeface="Apple SD Gothic Neo" pitchFamily="34" charset="-122"/>
                <a:cs typeface="Apple SD Gothic Neo" pitchFamily="34" charset="-120"/>
              </a:rPr>
              <a:t>"We lose whole datacenters! Those things happen."</a:t>
            </a:r>
            <a:endParaRPr lang="en-US" sz="1700" dirty="0"/>
          </a:p>
        </p:txBody>
      </p:sp>
      <p:sp>
        <p:nvSpPr>
          <p:cNvPr id="5" name="Text 3"/>
          <p:cNvSpPr txBox="1"/>
          <p:nvPr/>
        </p:nvSpPr>
        <p:spPr>
          <a:xfrm>
            <a:off x="640080" y="2560320"/>
            <a:ext cx="10911535" cy="310896"/>
          </a:xfrm>
          <a:prstGeom prst="rect">
            <a:avLst/>
          </a:prstGeom>
          <a:noFill/>
          <a:ln/>
        </p:spPr>
        <p:txBody>
          <a:bodyPr wrap="square" lIns="0" tIns="0" rIns="0" bIns="0" rtlCol="0" anchor="ctr"/>
          <a:lstStyle/>
          <a:p>
            <a:pPr marL="0" indent="0">
              <a:buNone/>
            </a:pPr>
            <a:r>
              <a:rPr lang="en-US" sz="1200" dirty="0">
                <a:solidFill>
                  <a:srgbClr val="FF9900"/>
                </a:solidFill>
                <a:latin typeface="Apple SD Gothic Neo" pitchFamily="34" charset="0"/>
                <a:ea typeface="Apple SD Gothic Neo" pitchFamily="34" charset="-122"/>
                <a:cs typeface="Apple SD Gothic Neo" pitchFamily="34" charset="-120"/>
              </a:rPr>
              <a:t>— Werner Vogels (CTO, Amazon), The Next Web Conference 키노트 "Uncertainty", 2008</a:t>
            </a:r>
            <a:endParaRPr lang="en-US" sz="1200" dirty="0"/>
          </a:p>
        </p:txBody>
      </p:sp>
      <p:sp>
        <p:nvSpPr>
          <p:cNvPr id="6" name="Shape 4"/>
          <p:cNvSpPr/>
          <p:nvPr/>
        </p:nvSpPr>
        <p:spPr>
          <a:xfrm>
            <a:off x="640080" y="3127248"/>
            <a:ext cx="10911535" cy="896112"/>
          </a:xfrm>
          <a:prstGeom prst="roundRect">
            <a:avLst>
              <a:gd name="adj" fmla="val 6122"/>
            </a:avLst>
          </a:prstGeom>
          <a:solidFill>
            <a:srgbClr val="2E3B4C"/>
          </a:solidFill>
          <a:ln/>
        </p:spPr>
        <p:txBody>
          <a:bodyPr/>
          <a:lstStyle/>
          <a:p>
            <a:endParaRPr lang="ko-Kore-KR" altLang="en-US"/>
          </a:p>
        </p:txBody>
      </p:sp>
      <p:sp>
        <p:nvSpPr>
          <p:cNvPr id="7" name="Text 5"/>
          <p:cNvSpPr txBox="1"/>
          <p:nvPr/>
        </p:nvSpPr>
        <p:spPr>
          <a:xfrm>
            <a:off x="1005840" y="3127248"/>
            <a:ext cx="10180015" cy="896112"/>
          </a:xfrm>
          <a:prstGeom prst="rect">
            <a:avLst/>
          </a:prstGeom>
          <a:noFill/>
          <a:ln/>
        </p:spPr>
        <p:txBody>
          <a:bodyPr wrap="square" lIns="0" tIns="0" rIns="0" bIns="0" rtlCol="0" anchor="ctr"/>
          <a:lstStyle/>
          <a:p>
            <a:pPr marL="0" indent="0">
              <a:lnSpc>
                <a:spcPts val="2200"/>
              </a:lnSpc>
              <a:buNone/>
            </a:pPr>
            <a:r>
              <a:rPr lang="en-US" sz="1450" dirty="0">
                <a:solidFill>
                  <a:srgbClr val="E3E8ED"/>
                </a:solidFill>
                <a:latin typeface="Apple SD Gothic Neo" pitchFamily="34" charset="0"/>
                <a:ea typeface="Apple SD Gothic Neo" pitchFamily="34" charset="-122"/>
                <a:cs typeface="Apple SD Gothic Neo" pitchFamily="34" charset="-120"/>
              </a:rPr>
              <a:t>"We needed to build systems that embrace failure as a natural occurrence."
</a:t>
            </a:r>
            <a:r>
              <a:rPr lang="en-US" sz="1100" dirty="0">
                <a:solidFill>
                  <a:srgbClr val="B8C0C8"/>
                </a:solidFill>
                <a:latin typeface="Apple SD Gothic Neo" pitchFamily="34" charset="0"/>
                <a:ea typeface="Apple SD Gothic Neo" pitchFamily="34" charset="-122"/>
                <a:cs typeface="Apple SD Gothic Neo" pitchFamily="34" charset="-120"/>
              </a:rPr>
              <a:t>— Werner Vogels, 10 Lessons from 10 Years of AWS, 2016</a:t>
            </a:r>
            <a:endParaRPr lang="en-US" sz="1450" dirty="0"/>
          </a:p>
        </p:txBody>
      </p:sp>
      <p:sp>
        <p:nvSpPr>
          <p:cNvPr id="8" name="Text 6"/>
          <p:cNvSpPr txBox="1"/>
          <p:nvPr/>
        </p:nvSpPr>
        <p:spPr>
          <a:xfrm>
            <a:off x="640080" y="4315968"/>
            <a:ext cx="10911535" cy="292608"/>
          </a:xfrm>
          <a:prstGeom prst="rect">
            <a:avLst/>
          </a:prstGeom>
          <a:noFill/>
          <a:ln/>
        </p:spPr>
        <p:txBody>
          <a:bodyPr wrap="square" lIns="0" tIns="0" rIns="0" bIns="0" rtlCol="0" anchor="ctr"/>
          <a:lstStyle/>
          <a:p>
            <a:pPr marL="0" indent="0">
              <a:buNone/>
            </a:pPr>
            <a:r>
              <a:rPr lang="en-US" sz="1300" b="1" dirty="0">
                <a:solidFill>
                  <a:srgbClr val="B8C0C8"/>
                </a:solidFill>
                <a:latin typeface="Apple SD Gothic Neo" pitchFamily="34" charset="0"/>
                <a:ea typeface="Apple SD Gothic Neo" pitchFamily="34" charset="-122"/>
                <a:cs typeface="Apple SD Gothic Neo" pitchFamily="34" charset="-120"/>
              </a:rPr>
              <a:t>공유 책임 모델</a:t>
            </a:r>
            <a:endParaRPr lang="en-US" sz="1300" dirty="0"/>
          </a:p>
        </p:txBody>
      </p:sp>
      <p:sp>
        <p:nvSpPr>
          <p:cNvPr id="9" name="Shape 7"/>
          <p:cNvSpPr/>
          <p:nvPr/>
        </p:nvSpPr>
        <p:spPr>
          <a:xfrm>
            <a:off x="640080" y="4681728"/>
            <a:ext cx="5295748" cy="1170432"/>
          </a:xfrm>
          <a:prstGeom prst="roundRect">
            <a:avLst>
              <a:gd name="adj" fmla="val 4688"/>
            </a:avLst>
          </a:prstGeom>
          <a:solidFill>
            <a:srgbClr val="2E3B4C"/>
          </a:solidFill>
          <a:ln/>
        </p:spPr>
        <p:txBody>
          <a:bodyPr/>
          <a:lstStyle/>
          <a:p>
            <a:endParaRPr lang="ko-Kore-KR" altLang="en-US"/>
          </a:p>
        </p:txBody>
      </p:sp>
      <p:sp>
        <p:nvSpPr>
          <p:cNvPr id="10" name="Text 8"/>
          <p:cNvSpPr txBox="1"/>
          <p:nvPr/>
        </p:nvSpPr>
        <p:spPr>
          <a:xfrm>
            <a:off x="987552" y="4828032"/>
            <a:ext cx="4600804" cy="274320"/>
          </a:xfrm>
          <a:prstGeom prst="rect">
            <a:avLst/>
          </a:prstGeom>
          <a:noFill/>
          <a:ln/>
        </p:spPr>
        <p:txBody>
          <a:bodyPr wrap="square" lIns="0" tIns="0" rIns="0" bIns="0" rtlCol="0" anchor="ctr"/>
          <a:lstStyle/>
          <a:p>
            <a:pPr marL="0" indent="0">
              <a:buNone/>
            </a:pPr>
            <a:r>
              <a:rPr lang="en-US" sz="1150" b="1" kern="0" spc="100" dirty="0">
                <a:solidFill>
                  <a:srgbClr val="FF9900"/>
                </a:solidFill>
                <a:latin typeface="Apple SD Gothic Neo" pitchFamily="34" charset="0"/>
                <a:ea typeface="Apple SD Gothic Neo" pitchFamily="34" charset="-122"/>
                <a:cs typeface="Apple SD Gothic Neo" pitchFamily="34" charset="-120"/>
              </a:rPr>
              <a:t>AWS</a:t>
            </a:r>
            <a:endParaRPr lang="en-US" sz="1150" dirty="0"/>
          </a:p>
        </p:txBody>
      </p:sp>
      <p:sp>
        <p:nvSpPr>
          <p:cNvPr id="11" name="Text 9"/>
          <p:cNvSpPr txBox="1"/>
          <p:nvPr/>
        </p:nvSpPr>
        <p:spPr>
          <a:xfrm>
            <a:off x="987552" y="5102352"/>
            <a:ext cx="4600804" cy="365760"/>
          </a:xfrm>
          <a:prstGeom prst="rect">
            <a:avLst/>
          </a:prstGeom>
          <a:noFill/>
          <a:ln/>
        </p:spPr>
        <p:txBody>
          <a:bodyPr wrap="square" lIns="0" tIns="0" rIns="0" bIns="0" rtlCol="0" anchor="ctr"/>
          <a:lstStyle/>
          <a:p>
            <a:pPr marL="0" indent="0">
              <a:buNone/>
            </a:pPr>
            <a:r>
              <a:rPr lang="en-US" sz="1700" b="1" dirty="0">
                <a:solidFill>
                  <a:srgbClr val="FFFFFF"/>
                </a:solidFill>
                <a:latin typeface="Apple SD Gothic Neo" pitchFamily="34" charset="0"/>
                <a:ea typeface="Apple SD Gothic Neo" pitchFamily="34" charset="-122"/>
                <a:cs typeface="Apple SD Gothic Neo" pitchFamily="34" charset="-120"/>
              </a:rPr>
              <a:t>Reliability of the Cloud</a:t>
            </a:r>
            <a:endParaRPr lang="en-US" sz="1700" dirty="0"/>
          </a:p>
        </p:txBody>
      </p:sp>
      <p:sp>
        <p:nvSpPr>
          <p:cNvPr id="12" name="Text 10"/>
          <p:cNvSpPr txBox="1"/>
          <p:nvPr/>
        </p:nvSpPr>
        <p:spPr>
          <a:xfrm>
            <a:off x="987552" y="5468112"/>
            <a:ext cx="4600804" cy="292608"/>
          </a:xfrm>
          <a:prstGeom prst="rect">
            <a:avLst/>
          </a:prstGeom>
          <a:noFill/>
          <a:ln/>
        </p:spPr>
        <p:txBody>
          <a:bodyPr wrap="square" lIns="0" tIns="0" rIns="0" bIns="0" rtlCol="0" anchor="ctr"/>
          <a:lstStyle/>
          <a:p>
            <a:pPr marL="0" indent="0">
              <a:buNone/>
            </a:pPr>
            <a:r>
              <a:rPr lang="en-US" sz="1150" dirty="0">
                <a:solidFill>
                  <a:srgbClr val="B8C0C8"/>
                </a:solidFill>
                <a:latin typeface="Apple SD Gothic Neo" pitchFamily="34" charset="0"/>
                <a:ea typeface="Apple SD Gothic Neo" pitchFamily="34" charset="-122"/>
                <a:cs typeface="Apple SD Gothic Neo" pitchFamily="34" charset="-120"/>
              </a:rPr>
              <a:t>EKS 컨트롤 플레인의 가용성</a:t>
            </a:r>
            <a:endParaRPr lang="en-US" sz="1150" dirty="0"/>
          </a:p>
        </p:txBody>
      </p:sp>
      <p:sp>
        <p:nvSpPr>
          <p:cNvPr id="13" name="Shape 11"/>
          <p:cNvSpPr/>
          <p:nvPr/>
        </p:nvSpPr>
        <p:spPr>
          <a:xfrm>
            <a:off x="6255868" y="4681728"/>
            <a:ext cx="5295748" cy="1170432"/>
          </a:xfrm>
          <a:prstGeom prst="roundRect">
            <a:avLst>
              <a:gd name="adj" fmla="val 4688"/>
            </a:avLst>
          </a:prstGeom>
          <a:solidFill>
            <a:srgbClr val="2E3B4C"/>
          </a:solidFill>
          <a:ln/>
        </p:spPr>
        <p:txBody>
          <a:bodyPr/>
          <a:lstStyle/>
          <a:p>
            <a:endParaRPr lang="ko-Kore-KR" altLang="en-US"/>
          </a:p>
        </p:txBody>
      </p:sp>
      <p:sp>
        <p:nvSpPr>
          <p:cNvPr id="14" name="Text 12"/>
          <p:cNvSpPr txBox="1"/>
          <p:nvPr/>
        </p:nvSpPr>
        <p:spPr>
          <a:xfrm>
            <a:off x="6603340" y="4828032"/>
            <a:ext cx="4600804" cy="274320"/>
          </a:xfrm>
          <a:prstGeom prst="rect">
            <a:avLst/>
          </a:prstGeom>
          <a:noFill/>
          <a:ln/>
        </p:spPr>
        <p:txBody>
          <a:bodyPr wrap="square" lIns="0" tIns="0" rIns="0" bIns="0" rtlCol="0" anchor="ctr"/>
          <a:lstStyle/>
          <a:p>
            <a:pPr marL="0" indent="0">
              <a:buNone/>
            </a:pPr>
            <a:r>
              <a:rPr lang="en-US" sz="1150" b="1" kern="0" spc="100" dirty="0">
                <a:solidFill>
                  <a:srgbClr val="01A88D"/>
                </a:solidFill>
                <a:latin typeface="Apple SD Gothic Neo" pitchFamily="34" charset="0"/>
                <a:ea typeface="Apple SD Gothic Neo" pitchFamily="34" charset="-122"/>
                <a:cs typeface="Apple SD Gothic Neo" pitchFamily="34" charset="-120"/>
              </a:rPr>
              <a:t>우리</a:t>
            </a:r>
            <a:endParaRPr lang="en-US" sz="1150" dirty="0"/>
          </a:p>
        </p:txBody>
      </p:sp>
      <p:sp>
        <p:nvSpPr>
          <p:cNvPr id="15" name="Text 13"/>
          <p:cNvSpPr txBox="1"/>
          <p:nvPr/>
        </p:nvSpPr>
        <p:spPr>
          <a:xfrm>
            <a:off x="6603340" y="5102352"/>
            <a:ext cx="4600804" cy="365760"/>
          </a:xfrm>
          <a:prstGeom prst="rect">
            <a:avLst/>
          </a:prstGeom>
          <a:noFill/>
          <a:ln/>
        </p:spPr>
        <p:txBody>
          <a:bodyPr wrap="square" lIns="0" tIns="0" rIns="0" bIns="0" rtlCol="0" anchor="ctr"/>
          <a:lstStyle/>
          <a:p>
            <a:pPr marL="0" indent="0">
              <a:buNone/>
            </a:pPr>
            <a:r>
              <a:rPr lang="en-US" sz="1700" b="1" dirty="0">
                <a:solidFill>
                  <a:srgbClr val="FFFFFF"/>
                </a:solidFill>
                <a:latin typeface="Apple SD Gothic Neo" pitchFamily="34" charset="0"/>
                <a:ea typeface="Apple SD Gothic Neo" pitchFamily="34" charset="-122"/>
                <a:cs typeface="Apple SD Gothic Neo" pitchFamily="34" charset="-120"/>
              </a:rPr>
              <a:t>Reliability in the Cloud</a:t>
            </a:r>
            <a:endParaRPr lang="en-US" sz="1700" dirty="0"/>
          </a:p>
        </p:txBody>
      </p:sp>
      <p:sp>
        <p:nvSpPr>
          <p:cNvPr id="16" name="Text 14"/>
          <p:cNvSpPr txBox="1"/>
          <p:nvPr/>
        </p:nvSpPr>
        <p:spPr>
          <a:xfrm>
            <a:off x="6603340" y="5468112"/>
            <a:ext cx="4600804" cy="292608"/>
          </a:xfrm>
          <a:prstGeom prst="rect">
            <a:avLst/>
          </a:prstGeom>
          <a:noFill/>
          <a:ln/>
        </p:spPr>
        <p:txBody>
          <a:bodyPr wrap="square" lIns="0" tIns="0" rIns="0" bIns="0" rtlCol="0" anchor="ctr"/>
          <a:lstStyle/>
          <a:p>
            <a:pPr marL="0" indent="0">
              <a:buNone/>
            </a:pPr>
            <a:r>
              <a:rPr lang="en-US" sz="1150" dirty="0">
                <a:solidFill>
                  <a:srgbClr val="B8C0C8"/>
                </a:solidFill>
                <a:latin typeface="Apple SD Gothic Neo" pitchFamily="34" charset="0"/>
                <a:ea typeface="Apple SD Gothic Neo" pitchFamily="34" charset="-122"/>
                <a:cs typeface="Apple SD Gothic Neo" pitchFamily="34" charset="-120"/>
              </a:rPr>
              <a:t>Redis Pod 하나 죽었을 때 결제가 멈추는지</a:t>
            </a:r>
            <a:endParaRPr lang="en-US" sz="1150" dirty="0"/>
          </a:p>
        </p:txBody>
      </p:sp>
      <p:sp>
        <p:nvSpPr>
          <p:cNvPr id="18" name="Text 15"/>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5A6572"/>
                </a:solidFill>
                <a:latin typeface="Apple SD Gothic Neo" pitchFamily="34" charset="0"/>
                <a:ea typeface="Apple SD Gothic Neo" pitchFamily="34" charset="-122"/>
                <a:cs typeface="Apple SD Gothic Neo"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1 · 카오스 엔지니어링이란 무엇인가</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일반 테스트와 무엇이 다른가</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유닛테스트는 "코드가 맞게 동작하는가", 카오스 실험은 "시스템이 틀린 상황에서 버티는가"를 본다.</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3182112"/>
        </p:xfrm>
        <a:graphic>
          <a:graphicData uri="http://schemas.openxmlformats.org/drawingml/2006/table">
            <a:tbl>
              <a:tblPr/>
              <a:tblGrid>
                <a:gridCol w="19202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5059375">
                  <a:extLst>
                    <a:ext uri="{9D8B030D-6E8A-4147-A177-3AD203B41FA5}">
                      <a16:colId xmlns:a16="http://schemas.microsoft.com/office/drawing/2014/main" val="20002"/>
                    </a:ext>
                  </a:extLst>
                </a:gridCol>
              </a:tblGrid>
              <a:tr h="530352">
                <a:tc>
                  <a:txBody>
                    <a:bodyPr/>
                    <a:lstStyle/>
                    <a:p>
                      <a:pPr marL="0" indent="0" algn="l">
                        <a:buNone/>
                      </a:pP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250" b="1" dirty="0">
                          <a:solidFill>
                            <a:srgbClr val="FFFFFF"/>
                          </a:solidFill>
                          <a:latin typeface="Apple SD Gothic Neo" pitchFamily="34" charset="0"/>
                          <a:ea typeface="Apple SD Gothic Neo" pitchFamily="34" charset="-122"/>
                          <a:cs typeface="Apple SD Gothic Neo" pitchFamily="34" charset="-120"/>
                        </a:rPr>
                        <a:t>단위 / 통합 테스트</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250" b="1" dirty="0">
                          <a:solidFill>
                            <a:srgbClr val="FFFFFF"/>
                          </a:solidFill>
                          <a:latin typeface="Apple SD Gothic Neo" pitchFamily="34" charset="0"/>
                          <a:ea typeface="Apple SD Gothic Neo" pitchFamily="34" charset="-122"/>
                          <a:cs typeface="Apple SD Gothic Neo" pitchFamily="34" charset="-120"/>
                        </a:rPr>
                        <a:t>카오스 실험</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530352">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검증 대상</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코드 로직</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232F3E"/>
                          </a:solidFill>
                          <a:latin typeface="Apple SD Gothic Neo" pitchFamily="34" charset="0"/>
                          <a:ea typeface="Apple SD Gothic Neo" pitchFamily="34" charset="-122"/>
                          <a:cs typeface="Apple SD Gothic Neo" pitchFamily="34" charset="-120"/>
                        </a:rPr>
                        <a:t>시스템 전체 거동</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환경</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격리된 테스트 환경</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300" b="1" dirty="0">
                          <a:solidFill>
                            <a:srgbClr val="232F3E"/>
                          </a:solidFill>
                          <a:latin typeface="Apple SD Gothic Neo" pitchFamily="34" charset="0"/>
                          <a:ea typeface="Apple SD Gothic Neo" pitchFamily="34" charset="-122"/>
                          <a:cs typeface="Apple SD Gothic Neo" pitchFamily="34" charset="-120"/>
                        </a:rPr>
                        <a:t>실제(또는 실제에 가까운) 환경</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2"/>
                  </a:ext>
                </a:extLst>
              </a:tr>
              <a:tr h="530352">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질문</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"의도한 대로 동작하나?"</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232F3E"/>
                          </a:solidFill>
                          <a:latin typeface="Apple SD Gothic Neo" pitchFamily="34" charset="0"/>
                          <a:ea typeface="Apple SD Gothic Neo" pitchFamily="34" charset="-122"/>
                          <a:cs typeface="Apple SD Gothic Neo" pitchFamily="34" charset="-120"/>
                        </a:rPr>
                        <a:t>"의도 밖의 일이 생기면 어떻게 되나?"</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실패의 의미</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버그</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300" b="1" dirty="0">
                          <a:solidFill>
                            <a:srgbClr val="FF9900"/>
                          </a:solidFill>
                          <a:latin typeface="Apple SD Gothic Neo" pitchFamily="34" charset="0"/>
                          <a:ea typeface="Apple SD Gothic Neo" pitchFamily="34" charset="-122"/>
                          <a:cs typeface="Apple SD Gothic Neo" pitchFamily="34" charset="-120"/>
                        </a:rPr>
                        <a:t>아직 몰랐던 취약점</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4"/>
                  </a:ext>
                </a:extLst>
              </a:tr>
              <a:tr h="530352">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알 수 있는 것</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정답 여부</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232F3E"/>
                          </a:solidFill>
                          <a:latin typeface="Apple SD Gothic Neo" pitchFamily="34" charset="0"/>
                          <a:ea typeface="Apple SD Gothic Neo" pitchFamily="34" charset="-122"/>
                          <a:cs typeface="Apple SD Gothic Neo" pitchFamily="34" charset="-120"/>
                        </a:rPr>
                        <a:t>복구 시간, 연쇄 장애 범위, 알람 동작</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640080" y="5074920"/>
            <a:ext cx="10911535" cy="914400"/>
          </a:xfrm>
          <a:prstGeom prst="roundRect">
            <a:avLst>
              <a:gd name="adj" fmla="val 6000"/>
            </a:avLst>
          </a:prstGeom>
          <a:solidFill>
            <a:srgbClr val="FFF4E5"/>
          </a:solidFill>
          <a:ln/>
        </p:spPr>
        <p:txBody>
          <a:bodyPr/>
          <a:lstStyle/>
          <a:p>
            <a:endParaRPr lang="ko-Kore-KR" altLang="en-US"/>
          </a:p>
        </p:txBody>
      </p:sp>
      <p:sp>
        <p:nvSpPr>
          <p:cNvPr id="5" name="Text 4"/>
          <p:cNvSpPr txBox="1"/>
          <p:nvPr/>
        </p:nvSpPr>
        <p:spPr>
          <a:xfrm>
            <a:off x="1005840" y="5074920"/>
            <a:ext cx="10180015" cy="914400"/>
          </a:xfrm>
          <a:prstGeom prst="rect">
            <a:avLst/>
          </a:prstGeom>
          <a:noFill/>
          <a:ln/>
        </p:spPr>
        <p:txBody>
          <a:bodyPr wrap="square" lIns="0" tIns="0" rIns="0" bIns="0" rtlCol="0" anchor="ctr"/>
          <a:lstStyle/>
          <a:p>
            <a:pPr marL="0" indent="0">
              <a:lnSpc>
                <a:spcPts val="2300"/>
              </a:lnSpc>
              <a:buNone/>
            </a:pPr>
            <a:r>
              <a:rPr lang="en-US" sz="1300" b="1" dirty="0">
                <a:solidFill>
                  <a:srgbClr val="FF9900"/>
                </a:solidFill>
                <a:latin typeface="Apple SD Gothic Neo" pitchFamily="34" charset="0"/>
                <a:ea typeface="Apple SD Gothic Neo" pitchFamily="34" charset="-122"/>
                <a:cs typeface="Apple SD Gothic Neo" pitchFamily="34" charset="-120"/>
              </a:rPr>
              <a:t>핵심 차이 — </a:t>
            </a:r>
            <a:r>
              <a:rPr lang="en-US" sz="1300" dirty="0">
                <a:solidFill>
                  <a:srgbClr val="4A5561"/>
                </a:solidFill>
                <a:latin typeface="Apple SD Gothic Neo" pitchFamily="34" charset="0"/>
                <a:ea typeface="Apple SD Gothic Neo" pitchFamily="34" charset="-122"/>
                <a:cs typeface="Apple SD Gothic Neo" pitchFamily="34" charset="-120"/>
              </a:rPr>
              <a:t>카오스 실험에서는 실패가 나쁜 게 아니다. 가설이 깨지는 순간이 가장 값진 순간이다.</a:t>
            </a:r>
            <a:endParaRPr lang="en-US" sz="1300" dirty="0"/>
          </a:p>
          <a:p>
            <a:pPr marL="0" indent="0">
              <a:lnSpc>
                <a:spcPts val="2300"/>
              </a:lnSpc>
              <a:buNone/>
            </a:pPr>
            <a:r>
              <a:rPr lang="en-US" sz="1300" dirty="0">
                <a:solidFill>
                  <a:srgbClr val="4A5561"/>
                </a:solidFill>
                <a:latin typeface="Apple SD Gothic Neo" pitchFamily="34" charset="0"/>
                <a:ea typeface="Apple SD Gothic Neo" pitchFamily="34" charset="-122"/>
                <a:cs typeface="Apple SD Gothic Neo" pitchFamily="34" charset="-120"/>
              </a:rPr>
              <a:t>운영 중에 새벽 3시에 알게 될 사실을, 낮에 준비된 상태로 알게 되는 것.</a:t>
            </a:r>
            <a:endParaRPr lang="en-US" sz="1300" dirty="0"/>
          </a:p>
        </p:txBody>
      </p:sp>
      <p:sp>
        <p:nvSpPr>
          <p:cNvPr id="9" name="Text 5"/>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1 · 카오스 엔지니어링이란 무엇인가</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카오스 엔지니어링의 4단계 사이클</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일회성 이벤트가 아니라 반복되는 루프다. Part 3의 5-Agent 파이프라인이 이 뼈대를 그대로 따른다.</a:t>
            </a:r>
            <a:endParaRPr lang="en-US" sz="1300" dirty="0"/>
          </a:p>
        </p:txBody>
      </p:sp>
      <p:pic>
        <p:nvPicPr>
          <p:cNvPr id="5" name="Image 0" descr="/sessions/vibrant-jolly-ramanujan/mnt/uploads/slide-07-chaos-cycle.png"/>
          <p:cNvPicPr>
            <a:picLocks noChangeAspect="1"/>
          </p:cNvPicPr>
          <p:nvPr/>
        </p:nvPicPr>
        <p:blipFill>
          <a:blip r:embed="rId3"/>
          <a:stretch>
            <a:fillRect/>
          </a:stretch>
        </p:blipFill>
        <p:spPr>
          <a:xfrm>
            <a:off x="1996723" y="1572768"/>
            <a:ext cx="8198249" cy="4782312"/>
          </a:xfrm>
          <a:prstGeom prst="rect">
            <a:avLst/>
          </a:prstGeom>
        </p:spPr>
      </p:pic>
      <p:sp>
        <p:nvSpPr>
          <p:cNvPr id="7" name="Text 3"/>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1 · 카오스 엔지니어링이란 무엇인가</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구체적인 예시 3개</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추상적인 개념을 자기 시스템으로 번역해보기.</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2414016"/>
        </p:xfrm>
        <a:graphic>
          <a:graphicData uri="http://schemas.openxmlformats.org/drawingml/2006/table">
            <a:tbl>
              <a:tblPr/>
              <a:tblGrid>
                <a:gridCol w="4206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327855">
                  <a:extLst>
                    <a:ext uri="{9D8B030D-6E8A-4147-A177-3AD203B41FA5}">
                      <a16:colId xmlns:a16="http://schemas.microsoft.com/office/drawing/2014/main" val="20002"/>
                    </a:ext>
                  </a:extLst>
                </a:gridCol>
              </a:tblGrid>
              <a:tr h="603504">
                <a:tc>
                  <a:txBody>
                    <a:bodyPr/>
                    <a:lstStyle/>
                    <a:p>
                      <a:pPr marL="0" indent="0" algn="l">
                        <a:buNone/>
                      </a:pPr>
                      <a:r>
                        <a:rPr lang="en-US" sz="1150" b="1" dirty="0">
                          <a:solidFill>
                            <a:srgbClr val="FFFFFF"/>
                          </a:solidFill>
                          <a:latin typeface="Apple SD Gothic Neo" pitchFamily="34" charset="0"/>
                          <a:ea typeface="Apple SD Gothic Neo" pitchFamily="34" charset="-122"/>
                          <a:cs typeface="Apple SD Gothic Neo" pitchFamily="34" charset="-120"/>
                        </a:rPr>
                        <a:t>가설</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50" b="1" dirty="0">
                          <a:solidFill>
                            <a:srgbClr val="FFFFFF"/>
                          </a:solidFill>
                          <a:latin typeface="Apple SD Gothic Neo" pitchFamily="34" charset="0"/>
                          <a:ea typeface="Apple SD Gothic Neo" pitchFamily="34" charset="-122"/>
                          <a:cs typeface="Apple SD Gothic Neo" pitchFamily="34" charset="-120"/>
                        </a:rPr>
                        <a:t>주입할 장애</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50" b="1" dirty="0">
                          <a:solidFill>
                            <a:srgbClr val="FFFFFF"/>
                          </a:solidFill>
                          <a:latin typeface="Apple SD Gothic Neo" pitchFamily="34" charset="0"/>
                          <a:ea typeface="Apple SD Gothic Neo" pitchFamily="34" charset="-122"/>
                          <a:cs typeface="Apple SD Gothic Neo" pitchFamily="34" charset="-120"/>
                        </a:rPr>
                        <a:t>확인할 것</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603504">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주문 Pod이 죽어도 30초 내 자동 복구된다</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Pod 강제 삭제</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232F3E"/>
                          </a:solidFill>
                          <a:latin typeface="Apple SD Gothic Neo" pitchFamily="34" charset="0"/>
                          <a:ea typeface="Apple SD Gothic Neo" pitchFamily="34" charset="-122"/>
                          <a:cs typeface="Apple SD Gothic Neo" pitchFamily="34" charset="-120"/>
                        </a:rPr>
                        <a:t>실제 복구 시간, 그 사이 실패한 요청 수</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DB에 CPU 부하가 걸려도 다른 서비스는 정상이다</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CPU 90% 스트레스</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250" b="1" dirty="0">
                          <a:solidFill>
                            <a:srgbClr val="232F3E"/>
                          </a:solidFill>
                          <a:latin typeface="Apple SD Gothic Neo" pitchFamily="34" charset="0"/>
                          <a:ea typeface="Apple SD Gothic Neo" pitchFamily="34" charset="-122"/>
                          <a:cs typeface="Apple SD Gothic Neo" pitchFamily="34" charset="-120"/>
                        </a:rPr>
                        <a:t>연쇄 지연 발생 여부, 서킷 브레이커 동작</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2"/>
                  </a:ext>
                </a:extLst>
              </a:tr>
              <a:tr h="603504">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네트워크가 느려지면 타임아웃으로 빠르게 실패한다</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지연 3초 주입</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232F3E"/>
                          </a:solidFill>
                          <a:latin typeface="Apple SD Gothic Neo" pitchFamily="34" charset="0"/>
                          <a:ea typeface="Apple SD Gothic Neo" pitchFamily="34" charset="-122"/>
                          <a:cs typeface="Apple SD Gothic Neo" pitchFamily="34" charset="-120"/>
                        </a:rPr>
                        <a:t>스레드 고갈 여부, 사용자 체감 응답 시간</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640080" y="4370832"/>
            <a:ext cx="10911535" cy="969264"/>
          </a:xfrm>
          <a:prstGeom prst="roundRect">
            <a:avLst>
              <a:gd name="adj" fmla="val 5660"/>
            </a:avLst>
          </a:prstGeom>
          <a:solidFill>
            <a:srgbClr val="F2F7FF"/>
          </a:solidFill>
          <a:ln/>
        </p:spPr>
        <p:txBody>
          <a:bodyPr/>
          <a:lstStyle/>
          <a:p>
            <a:endParaRPr lang="ko-Kore-KR" altLang="en-US"/>
          </a:p>
        </p:txBody>
      </p:sp>
      <p:sp>
        <p:nvSpPr>
          <p:cNvPr id="7" name="Text 4"/>
          <p:cNvSpPr txBox="1"/>
          <p:nvPr/>
        </p:nvSpPr>
        <p:spPr>
          <a:xfrm>
            <a:off x="1005840" y="4370832"/>
            <a:ext cx="10180015" cy="969264"/>
          </a:xfrm>
          <a:prstGeom prst="rect">
            <a:avLst/>
          </a:prstGeom>
          <a:noFill/>
          <a:ln/>
        </p:spPr>
        <p:txBody>
          <a:bodyPr wrap="square" lIns="0" tIns="0" rIns="0" bIns="0" rtlCol="0" anchor="ctr"/>
          <a:lstStyle/>
          <a:p>
            <a:pPr marL="0" indent="0">
              <a:lnSpc>
                <a:spcPts val="2300"/>
              </a:lnSpc>
              <a:buNone/>
            </a:pPr>
            <a:r>
              <a:rPr lang="en-US" sz="1300" b="1" dirty="0">
                <a:solidFill>
                  <a:srgbClr val="527FFF"/>
                </a:solidFill>
                <a:latin typeface="Apple SD Gothic Neo" pitchFamily="34" charset="0"/>
                <a:ea typeface="Apple SD Gothic Neo" pitchFamily="34" charset="-122"/>
                <a:cs typeface="Apple SD Gothic Neo" pitchFamily="34" charset="-120"/>
              </a:rPr>
              <a:t>오른쪽 열이 산출물이다. </a:t>
            </a:r>
            <a:r>
              <a:rPr lang="en-US" sz="1300" dirty="0">
                <a:solidFill>
                  <a:srgbClr val="4A5561"/>
                </a:solidFill>
                <a:latin typeface="Apple SD Gothic Neo" pitchFamily="34" charset="0"/>
                <a:ea typeface="Apple SD Gothic Neo" pitchFamily="34" charset="-122"/>
                <a:cs typeface="Apple SD Gothic Neo" pitchFamily="34" charset="-120"/>
              </a:rPr>
              <a:t>카오스 실험의 결과는 "장애가 났다/안 났다"가 아니라 숫자다.</a:t>
            </a:r>
            <a:endParaRPr lang="en-US" sz="1300" dirty="0"/>
          </a:p>
          <a:p>
            <a:pPr marL="0" indent="0">
              <a:lnSpc>
                <a:spcPts val="2300"/>
              </a:lnSpc>
              <a:buNone/>
            </a:pPr>
            <a:r>
              <a:rPr lang="en-US" sz="1300" dirty="0">
                <a:solidFill>
                  <a:srgbClr val="4A5561"/>
                </a:solidFill>
                <a:latin typeface="Apple SD Gothic Neo" pitchFamily="34" charset="0"/>
                <a:ea typeface="Apple SD Gothic Neo" pitchFamily="34" charset="-122"/>
                <a:cs typeface="Apple SD Gothic Neo" pitchFamily="34" charset="-120"/>
              </a:rPr>
              <a:t>복구까지 몇 초, 그 사이 몇 건 실패, 알람은 몇 초 후 울렸는지. 이 숫자가 없으면 개선했는지도 알 수 없다.</a:t>
            </a:r>
            <a:endParaRPr lang="en-US" sz="1300" dirty="0"/>
          </a:p>
        </p:txBody>
      </p:sp>
      <p:sp>
        <p:nvSpPr>
          <p:cNvPr id="8" name="Shape 5"/>
          <p:cNvSpPr/>
          <p:nvPr/>
        </p:nvSpPr>
        <p:spPr>
          <a:xfrm>
            <a:off x="640080" y="5504688"/>
            <a:ext cx="10911535" cy="694944"/>
          </a:xfrm>
          <a:prstGeom prst="roundRect">
            <a:avLst>
              <a:gd name="adj" fmla="val 7895"/>
            </a:avLst>
          </a:prstGeom>
          <a:solidFill>
            <a:srgbClr val="FDF0EE"/>
          </a:solidFill>
          <a:ln/>
        </p:spPr>
        <p:txBody>
          <a:bodyPr/>
          <a:lstStyle/>
          <a:p>
            <a:endParaRPr lang="ko-Kore-KR" altLang="en-US"/>
          </a:p>
        </p:txBody>
      </p:sp>
      <p:sp>
        <p:nvSpPr>
          <p:cNvPr id="5" name="Text 6"/>
          <p:cNvSpPr txBox="1"/>
          <p:nvPr/>
        </p:nvSpPr>
        <p:spPr>
          <a:xfrm>
            <a:off x="1005840" y="5504688"/>
            <a:ext cx="10180015" cy="694944"/>
          </a:xfrm>
          <a:prstGeom prst="rect">
            <a:avLst/>
          </a:prstGeom>
          <a:noFill/>
          <a:ln/>
        </p:spPr>
        <p:txBody>
          <a:bodyPr wrap="square" lIns="0" tIns="0" rIns="0" bIns="0" rtlCol="0" anchor="ctr"/>
          <a:lstStyle/>
          <a:p>
            <a:pPr marL="0" indent="0">
              <a:buNone/>
            </a:pPr>
            <a:r>
              <a:rPr lang="en-US" sz="1250" b="1" dirty="0">
                <a:solidFill>
                  <a:srgbClr val="D13212"/>
                </a:solidFill>
                <a:latin typeface="Apple SD Gothic Neo" pitchFamily="34" charset="0"/>
                <a:ea typeface="Apple SD Gothic Neo" pitchFamily="34" charset="-122"/>
                <a:cs typeface="Apple SD Gothic Neo" pitchFamily="34" charset="-120"/>
              </a:rPr>
              <a:t>단, "실패한 요청 수"·"사용자 체감 응답 시간"은 트래픽이 있어야 측정된다 — Part 4에서 다룰 우리의 가장 큰 한계다.</a:t>
            </a:r>
            <a:endParaRPr lang="en-US" sz="1250" dirty="0"/>
          </a:p>
        </p:txBody>
      </p:sp>
      <p:sp>
        <p:nvSpPr>
          <p:cNvPr id="11" name="Text 7"/>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1 · 카오스 엔지니어링이란 무엇인가</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안전장치 없는 카오스는 그냥 장애다</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이 방법론의 성패는 폭발 반경(blast radius) 통제에 달려 있다.</a:t>
            </a:r>
            <a:endParaRPr lang="en-US" sz="1300" dirty="0"/>
          </a:p>
        </p:txBody>
      </p:sp>
      <p:sp>
        <p:nvSpPr>
          <p:cNvPr id="5" name="Shape 3"/>
          <p:cNvSpPr/>
          <p:nvPr/>
        </p:nvSpPr>
        <p:spPr>
          <a:xfrm>
            <a:off x="640080" y="1783080"/>
            <a:ext cx="5295748" cy="1298448"/>
          </a:xfrm>
          <a:prstGeom prst="roundRect">
            <a:avLst>
              <a:gd name="adj" fmla="val 4225"/>
            </a:avLst>
          </a:prstGeom>
          <a:solidFill>
            <a:srgbClr val="F2F7FF"/>
          </a:solidFill>
          <a:ln/>
        </p:spPr>
        <p:txBody>
          <a:bodyPr/>
          <a:lstStyle/>
          <a:p>
            <a:endParaRPr lang="ko-Kore-KR" altLang="en-US"/>
          </a:p>
        </p:txBody>
      </p:sp>
      <p:sp>
        <p:nvSpPr>
          <p:cNvPr id="6" name="Shape 4"/>
          <p:cNvSpPr/>
          <p:nvPr/>
        </p:nvSpPr>
        <p:spPr>
          <a:xfrm>
            <a:off x="987552" y="2167128"/>
            <a:ext cx="512064" cy="512064"/>
          </a:xfrm>
          <a:prstGeom prst="ellipse">
            <a:avLst/>
          </a:prstGeom>
          <a:solidFill>
            <a:srgbClr val="527FFF"/>
          </a:solidFill>
          <a:ln/>
        </p:spPr>
        <p:txBody>
          <a:bodyPr/>
          <a:lstStyle/>
          <a:p>
            <a:endParaRPr lang="ko-Kore-KR" altLang="en-US"/>
          </a:p>
        </p:txBody>
      </p:sp>
      <p:sp>
        <p:nvSpPr>
          <p:cNvPr id="7" name="Text 5"/>
          <p:cNvSpPr txBox="1"/>
          <p:nvPr/>
        </p:nvSpPr>
        <p:spPr>
          <a:xfrm>
            <a:off x="987552" y="216712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1</a:t>
            </a:r>
            <a:endParaRPr lang="en-US" sz="1600" dirty="0"/>
          </a:p>
        </p:txBody>
      </p:sp>
      <p:sp>
        <p:nvSpPr>
          <p:cNvPr id="8" name="Text 6"/>
          <p:cNvSpPr txBox="1"/>
          <p:nvPr/>
        </p:nvSpPr>
        <p:spPr>
          <a:xfrm>
            <a:off x="1664208" y="2075688"/>
            <a:ext cx="3924148" cy="365760"/>
          </a:xfrm>
          <a:prstGeom prst="rect">
            <a:avLst/>
          </a:prstGeom>
          <a:noFill/>
          <a:ln/>
        </p:spPr>
        <p:txBody>
          <a:bodyPr wrap="square" lIns="0" tIns="0" rIns="0" bIns="0" rtlCol="0" anchor="ctr"/>
          <a:lstStyle/>
          <a:p>
            <a:pPr marL="0" indent="0">
              <a:buNone/>
            </a:pPr>
            <a:r>
              <a:rPr lang="en-US" sz="1650" b="1" dirty="0">
                <a:solidFill>
                  <a:srgbClr val="232F3E"/>
                </a:solidFill>
                <a:latin typeface="Apple SD Gothic Neo" pitchFamily="34" charset="0"/>
                <a:ea typeface="Apple SD Gothic Neo" pitchFamily="34" charset="-122"/>
                <a:cs typeface="Apple SD Gothic Neo" pitchFamily="34" charset="-120"/>
              </a:rPr>
              <a:t>작게 시작</a:t>
            </a:r>
            <a:endParaRPr lang="en-US" sz="1650" dirty="0"/>
          </a:p>
        </p:txBody>
      </p:sp>
      <p:sp>
        <p:nvSpPr>
          <p:cNvPr id="9" name="Text 7"/>
          <p:cNvSpPr txBox="1"/>
          <p:nvPr/>
        </p:nvSpPr>
        <p:spPr>
          <a:xfrm>
            <a:off x="1664208" y="2441448"/>
            <a:ext cx="3924148" cy="347472"/>
          </a:xfrm>
          <a:prstGeom prst="rect">
            <a:avLst/>
          </a:prstGeom>
          <a:noFill/>
          <a:ln/>
        </p:spPr>
        <p:txBody>
          <a:bodyPr wrap="square" lIns="0" tIns="0" rIns="0" bIns="0" rtlCol="0" anchor="ctr"/>
          <a:lstStyle/>
          <a:p>
            <a:pPr marL="0" indent="0">
              <a:buNone/>
            </a:pPr>
            <a:r>
              <a:rPr lang="en-US" sz="1250" dirty="0">
                <a:solidFill>
                  <a:srgbClr val="4A5561"/>
                </a:solidFill>
                <a:latin typeface="Apple SD Gothic Neo" pitchFamily="34" charset="0"/>
                <a:ea typeface="Apple SD Gothic Neo" pitchFamily="34" charset="-122"/>
                <a:cs typeface="Apple SD Gothic Neo" pitchFamily="34" charset="-120"/>
              </a:rPr>
              <a:t>한 번에 하나의 서비스, 하나의 Pod</a:t>
            </a:r>
            <a:endParaRPr lang="en-US" sz="1250" dirty="0"/>
          </a:p>
        </p:txBody>
      </p:sp>
      <p:sp>
        <p:nvSpPr>
          <p:cNvPr id="10" name="Shape 8"/>
          <p:cNvSpPr/>
          <p:nvPr/>
        </p:nvSpPr>
        <p:spPr>
          <a:xfrm>
            <a:off x="6255868" y="1783080"/>
            <a:ext cx="5295748" cy="1298448"/>
          </a:xfrm>
          <a:prstGeom prst="roundRect">
            <a:avLst>
              <a:gd name="adj" fmla="val 4225"/>
            </a:avLst>
          </a:prstGeom>
          <a:solidFill>
            <a:srgbClr val="FDF0EE"/>
          </a:solidFill>
          <a:ln w="12700">
            <a:solidFill>
              <a:srgbClr val="D13212"/>
            </a:solidFill>
            <a:prstDash val="solid"/>
          </a:ln>
        </p:spPr>
        <p:txBody>
          <a:bodyPr/>
          <a:lstStyle/>
          <a:p>
            <a:endParaRPr lang="ko-Kore-KR" altLang="en-US"/>
          </a:p>
        </p:txBody>
      </p:sp>
      <p:sp>
        <p:nvSpPr>
          <p:cNvPr id="11" name="Shape 9"/>
          <p:cNvSpPr/>
          <p:nvPr/>
        </p:nvSpPr>
        <p:spPr>
          <a:xfrm>
            <a:off x="6603340" y="2167128"/>
            <a:ext cx="512064" cy="512064"/>
          </a:xfrm>
          <a:prstGeom prst="ellipse">
            <a:avLst/>
          </a:prstGeom>
          <a:solidFill>
            <a:srgbClr val="D13212"/>
          </a:solidFill>
          <a:ln/>
        </p:spPr>
        <p:txBody>
          <a:bodyPr/>
          <a:lstStyle/>
          <a:p>
            <a:endParaRPr lang="ko-Kore-KR" altLang="en-US"/>
          </a:p>
        </p:txBody>
      </p:sp>
      <p:sp>
        <p:nvSpPr>
          <p:cNvPr id="12" name="Text 10"/>
          <p:cNvSpPr txBox="1"/>
          <p:nvPr/>
        </p:nvSpPr>
        <p:spPr>
          <a:xfrm>
            <a:off x="6603340" y="216712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2</a:t>
            </a:r>
            <a:endParaRPr lang="en-US" sz="1600" dirty="0"/>
          </a:p>
        </p:txBody>
      </p:sp>
      <p:sp>
        <p:nvSpPr>
          <p:cNvPr id="13" name="Text 11"/>
          <p:cNvSpPr txBox="1"/>
          <p:nvPr/>
        </p:nvSpPr>
        <p:spPr>
          <a:xfrm>
            <a:off x="7279996" y="2075688"/>
            <a:ext cx="3924148" cy="365760"/>
          </a:xfrm>
          <a:prstGeom prst="rect">
            <a:avLst/>
          </a:prstGeom>
          <a:noFill/>
          <a:ln/>
        </p:spPr>
        <p:txBody>
          <a:bodyPr wrap="square" lIns="0" tIns="0" rIns="0" bIns="0" rtlCol="0" anchor="ctr"/>
          <a:lstStyle/>
          <a:p>
            <a:pPr marL="0" indent="0">
              <a:buNone/>
            </a:pPr>
            <a:r>
              <a:rPr lang="en-US" sz="1650" b="1" dirty="0">
                <a:solidFill>
                  <a:srgbClr val="232F3E"/>
                </a:solidFill>
                <a:latin typeface="Apple SD Gothic Neo" pitchFamily="34" charset="0"/>
                <a:ea typeface="Apple SD Gothic Neo" pitchFamily="34" charset="-122"/>
                <a:cs typeface="Apple SD Gothic Neo" pitchFamily="34" charset="-120"/>
              </a:rPr>
              <a:t>중단 조건 (Stop Condition)</a:t>
            </a:r>
            <a:endParaRPr lang="en-US" sz="1650" dirty="0"/>
          </a:p>
        </p:txBody>
      </p:sp>
      <p:sp>
        <p:nvSpPr>
          <p:cNvPr id="14" name="Text 12"/>
          <p:cNvSpPr txBox="1"/>
          <p:nvPr/>
        </p:nvSpPr>
        <p:spPr>
          <a:xfrm>
            <a:off x="7279996" y="2441448"/>
            <a:ext cx="3924148" cy="347472"/>
          </a:xfrm>
          <a:prstGeom prst="rect">
            <a:avLst/>
          </a:prstGeom>
          <a:noFill/>
          <a:ln/>
        </p:spPr>
        <p:txBody>
          <a:bodyPr wrap="square" lIns="0" tIns="0" rIns="0" bIns="0" rtlCol="0" anchor="ctr"/>
          <a:lstStyle/>
          <a:p>
            <a:pPr marL="0" indent="0">
              <a:buNone/>
            </a:pPr>
            <a:r>
              <a:rPr lang="en-US" sz="1250" dirty="0">
                <a:solidFill>
                  <a:srgbClr val="4A5561"/>
                </a:solidFill>
                <a:latin typeface="Apple SD Gothic Neo" pitchFamily="34" charset="0"/>
                <a:ea typeface="Apple SD Gothic Neo" pitchFamily="34" charset="-122"/>
                <a:cs typeface="Apple SD Gothic Neo" pitchFamily="34" charset="-120"/>
              </a:rPr>
              <a:t>지표가 임계치를 넘으면 자동 중단</a:t>
            </a:r>
            <a:endParaRPr lang="en-US" sz="1250" dirty="0"/>
          </a:p>
        </p:txBody>
      </p:sp>
      <p:sp>
        <p:nvSpPr>
          <p:cNvPr id="15" name="Shape 13"/>
          <p:cNvSpPr/>
          <p:nvPr/>
        </p:nvSpPr>
        <p:spPr>
          <a:xfrm>
            <a:off x="640080" y="3374136"/>
            <a:ext cx="5295748" cy="1298448"/>
          </a:xfrm>
          <a:prstGeom prst="roundRect">
            <a:avLst>
              <a:gd name="adj" fmla="val 4225"/>
            </a:avLst>
          </a:prstGeom>
          <a:solidFill>
            <a:srgbClr val="E8F8F5"/>
          </a:solidFill>
          <a:ln/>
        </p:spPr>
        <p:txBody>
          <a:bodyPr/>
          <a:lstStyle/>
          <a:p>
            <a:endParaRPr lang="ko-Kore-KR" altLang="en-US"/>
          </a:p>
        </p:txBody>
      </p:sp>
      <p:sp>
        <p:nvSpPr>
          <p:cNvPr id="16" name="Shape 14"/>
          <p:cNvSpPr/>
          <p:nvPr/>
        </p:nvSpPr>
        <p:spPr>
          <a:xfrm>
            <a:off x="987552" y="3758184"/>
            <a:ext cx="512064" cy="512064"/>
          </a:xfrm>
          <a:prstGeom prst="ellipse">
            <a:avLst/>
          </a:prstGeom>
          <a:solidFill>
            <a:srgbClr val="01A88D"/>
          </a:solidFill>
          <a:ln/>
        </p:spPr>
        <p:txBody>
          <a:bodyPr/>
          <a:lstStyle/>
          <a:p>
            <a:endParaRPr lang="ko-Kore-KR" altLang="en-US"/>
          </a:p>
        </p:txBody>
      </p:sp>
      <p:sp>
        <p:nvSpPr>
          <p:cNvPr id="17" name="Text 15"/>
          <p:cNvSpPr txBox="1"/>
          <p:nvPr/>
        </p:nvSpPr>
        <p:spPr>
          <a:xfrm>
            <a:off x="987552" y="3758184"/>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3</a:t>
            </a:r>
            <a:endParaRPr lang="en-US" sz="1600" dirty="0"/>
          </a:p>
        </p:txBody>
      </p:sp>
      <p:sp>
        <p:nvSpPr>
          <p:cNvPr id="18" name="Text 16"/>
          <p:cNvSpPr txBox="1"/>
          <p:nvPr/>
        </p:nvSpPr>
        <p:spPr>
          <a:xfrm>
            <a:off x="1664208" y="3666744"/>
            <a:ext cx="3924148" cy="365760"/>
          </a:xfrm>
          <a:prstGeom prst="rect">
            <a:avLst/>
          </a:prstGeom>
          <a:noFill/>
          <a:ln/>
        </p:spPr>
        <p:txBody>
          <a:bodyPr wrap="square" lIns="0" tIns="0" rIns="0" bIns="0" rtlCol="0" anchor="ctr"/>
          <a:lstStyle/>
          <a:p>
            <a:pPr marL="0" indent="0">
              <a:buNone/>
            </a:pPr>
            <a:r>
              <a:rPr lang="en-US" sz="1650" b="1" dirty="0">
                <a:solidFill>
                  <a:srgbClr val="232F3E"/>
                </a:solidFill>
                <a:latin typeface="Apple SD Gothic Neo" pitchFamily="34" charset="0"/>
                <a:ea typeface="Apple SD Gothic Neo" pitchFamily="34" charset="-122"/>
                <a:cs typeface="Apple SD Gothic Neo" pitchFamily="34" charset="-120"/>
              </a:rPr>
              <a:t>되돌릴 수 있음</a:t>
            </a:r>
            <a:endParaRPr lang="en-US" sz="1650" dirty="0"/>
          </a:p>
        </p:txBody>
      </p:sp>
      <p:sp>
        <p:nvSpPr>
          <p:cNvPr id="19" name="Text 17"/>
          <p:cNvSpPr txBox="1"/>
          <p:nvPr/>
        </p:nvSpPr>
        <p:spPr>
          <a:xfrm>
            <a:off x="1664208" y="4032504"/>
            <a:ext cx="3924148" cy="347472"/>
          </a:xfrm>
          <a:prstGeom prst="rect">
            <a:avLst/>
          </a:prstGeom>
          <a:noFill/>
          <a:ln/>
        </p:spPr>
        <p:txBody>
          <a:bodyPr wrap="square" lIns="0" tIns="0" rIns="0" bIns="0" rtlCol="0" anchor="ctr"/>
          <a:lstStyle/>
          <a:p>
            <a:pPr marL="0" indent="0">
              <a:buNone/>
            </a:pPr>
            <a:r>
              <a:rPr lang="en-US" sz="1250" dirty="0">
                <a:solidFill>
                  <a:srgbClr val="4A5561"/>
                </a:solidFill>
                <a:latin typeface="Apple SD Gothic Neo" pitchFamily="34" charset="0"/>
                <a:ea typeface="Apple SD Gothic Neo" pitchFamily="34" charset="-122"/>
                <a:cs typeface="Apple SD Gothic Neo" pitchFamily="34" charset="-120"/>
              </a:rPr>
              <a:t>실험 종료 시 원복이 보장되는 액션만 사용</a:t>
            </a:r>
            <a:endParaRPr lang="en-US" sz="1250" dirty="0"/>
          </a:p>
        </p:txBody>
      </p:sp>
      <p:sp>
        <p:nvSpPr>
          <p:cNvPr id="20" name="Shape 18"/>
          <p:cNvSpPr/>
          <p:nvPr/>
        </p:nvSpPr>
        <p:spPr>
          <a:xfrm>
            <a:off x="6255868" y="3374136"/>
            <a:ext cx="5295748" cy="1298448"/>
          </a:xfrm>
          <a:prstGeom prst="roundRect">
            <a:avLst>
              <a:gd name="adj" fmla="val 4225"/>
            </a:avLst>
          </a:prstGeom>
          <a:solidFill>
            <a:srgbClr val="FFF4E5"/>
          </a:solidFill>
          <a:ln/>
        </p:spPr>
        <p:txBody>
          <a:bodyPr/>
          <a:lstStyle/>
          <a:p>
            <a:endParaRPr lang="ko-Kore-KR" altLang="en-US"/>
          </a:p>
        </p:txBody>
      </p:sp>
      <p:sp>
        <p:nvSpPr>
          <p:cNvPr id="21" name="Shape 19"/>
          <p:cNvSpPr/>
          <p:nvPr/>
        </p:nvSpPr>
        <p:spPr>
          <a:xfrm>
            <a:off x="6603340" y="3758184"/>
            <a:ext cx="512064" cy="512064"/>
          </a:xfrm>
          <a:prstGeom prst="ellipse">
            <a:avLst/>
          </a:prstGeom>
          <a:solidFill>
            <a:srgbClr val="FF9900"/>
          </a:solidFill>
          <a:ln/>
        </p:spPr>
        <p:txBody>
          <a:bodyPr/>
          <a:lstStyle/>
          <a:p>
            <a:endParaRPr lang="ko-Kore-KR" altLang="en-US"/>
          </a:p>
        </p:txBody>
      </p:sp>
      <p:sp>
        <p:nvSpPr>
          <p:cNvPr id="22" name="Text 20"/>
          <p:cNvSpPr txBox="1"/>
          <p:nvPr/>
        </p:nvSpPr>
        <p:spPr>
          <a:xfrm>
            <a:off x="6603340" y="3758184"/>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4</a:t>
            </a:r>
            <a:endParaRPr lang="en-US" sz="1600" dirty="0"/>
          </a:p>
        </p:txBody>
      </p:sp>
      <p:sp>
        <p:nvSpPr>
          <p:cNvPr id="23" name="Text 21"/>
          <p:cNvSpPr txBox="1"/>
          <p:nvPr/>
        </p:nvSpPr>
        <p:spPr>
          <a:xfrm>
            <a:off x="7279996" y="3666744"/>
            <a:ext cx="3924148" cy="365760"/>
          </a:xfrm>
          <a:prstGeom prst="rect">
            <a:avLst/>
          </a:prstGeom>
          <a:noFill/>
          <a:ln/>
        </p:spPr>
        <p:txBody>
          <a:bodyPr wrap="square" lIns="0" tIns="0" rIns="0" bIns="0" rtlCol="0" anchor="ctr"/>
          <a:lstStyle/>
          <a:p>
            <a:pPr marL="0" indent="0">
              <a:buNone/>
            </a:pPr>
            <a:r>
              <a:rPr lang="en-US" sz="1650" b="1" dirty="0">
                <a:solidFill>
                  <a:srgbClr val="232F3E"/>
                </a:solidFill>
                <a:latin typeface="Apple SD Gothic Neo" pitchFamily="34" charset="0"/>
                <a:ea typeface="Apple SD Gothic Neo" pitchFamily="34" charset="-122"/>
                <a:cs typeface="Apple SD Gothic Neo" pitchFamily="34" charset="-120"/>
              </a:rPr>
              <a:t>사전 합의</a:t>
            </a:r>
            <a:endParaRPr lang="en-US" sz="1650" dirty="0"/>
          </a:p>
        </p:txBody>
      </p:sp>
      <p:sp>
        <p:nvSpPr>
          <p:cNvPr id="24" name="Text 22"/>
          <p:cNvSpPr txBox="1"/>
          <p:nvPr/>
        </p:nvSpPr>
        <p:spPr>
          <a:xfrm>
            <a:off x="7279996" y="4032504"/>
            <a:ext cx="3924148" cy="347472"/>
          </a:xfrm>
          <a:prstGeom prst="rect">
            <a:avLst/>
          </a:prstGeom>
          <a:noFill/>
          <a:ln/>
        </p:spPr>
        <p:txBody>
          <a:bodyPr wrap="square" lIns="0" tIns="0" rIns="0" bIns="0" rtlCol="0" anchor="ctr"/>
          <a:lstStyle/>
          <a:p>
            <a:pPr marL="0" indent="0">
              <a:buNone/>
            </a:pPr>
            <a:r>
              <a:rPr lang="en-US" sz="1250" dirty="0">
                <a:solidFill>
                  <a:srgbClr val="4A5561"/>
                </a:solidFill>
                <a:latin typeface="Apple SD Gothic Neo" pitchFamily="34" charset="0"/>
                <a:ea typeface="Apple SD Gothic Neo" pitchFamily="34" charset="-122"/>
                <a:cs typeface="Apple SD Gothic Neo" pitchFamily="34" charset="-120"/>
              </a:rPr>
              <a:t>누가, 언제, 어디에 실험하는지 팀이 알고 있음</a:t>
            </a:r>
            <a:endParaRPr lang="en-US" sz="1250" dirty="0"/>
          </a:p>
        </p:txBody>
      </p:sp>
      <p:sp>
        <p:nvSpPr>
          <p:cNvPr id="25" name="Shape 23"/>
          <p:cNvSpPr/>
          <p:nvPr/>
        </p:nvSpPr>
        <p:spPr>
          <a:xfrm>
            <a:off x="640080" y="5074920"/>
            <a:ext cx="10911535" cy="960120"/>
          </a:xfrm>
          <a:prstGeom prst="roundRect">
            <a:avLst>
              <a:gd name="adj" fmla="val 5714"/>
            </a:avLst>
          </a:prstGeom>
          <a:solidFill>
            <a:srgbClr val="F7F8F8"/>
          </a:solidFill>
          <a:ln/>
        </p:spPr>
        <p:txBody>
          <a:bodyPr/>
          <a:lstStyle/>
          <a:p>
            <a:endParaRPr lang="ko-Kore-KR" altLang="en-US"/>
          </a:p>
        </p:txBody>
      </p:sp>
      <p:sp>
        <p:nvSpPr>
          <p:cNvPr id="26" name="Text 24"/>
          <p:cNvSpPr txBox="1"/>
          <p:nvPr/>
        </p:nvSpPr>
        <p:spPr>
          <a:xfrm>
            <a:off x="1005840" y="5074920"/>
            <a:ext cx="10180015" cy="960120"/>
          </a:xfrm>
          <a:prstGeom prst="rect">
            <a:avLst/>
          </a:prstGeom>
          <a:noFill/>
          <a:ln/>
        </p:spPr>
        <p:txBody>
          <a:bodyPr wrap="square" lIns="0" tIns="0" rIns="0" bIns="0" rtlCol="0" anchor="ctr"/>
          <a:lstStyle/>
          <a:p>
            <a:pPr marL="0" indent="0">
              <a:lnSpc>
                <a:spcPts val="2300"/>
              </a:lnSpc>
              <a:buNone/>
            </a:pPr>
            <a:r>
              <a:rPr lang="en-US" sz="1250" b="1" dirty="0">
                <a:solidFill>
                  <a:srgbClr val="232F3E"/>
                </a:solidFill>
                <a:latin typeface="Apple SD Gothic Neo" pitchFamily="34" charset="0"/>
                <a:ea typeface="Apple SD Gothic Neo" pitchFamily="34" charset="-122"/>
                <a:cs typeface="Apple SD Gothic Neo" pitchFamily="34" charset="-120"/>
              </a:rPr>
              <a:t>이 4개가 없으면 카오스 엔지니어링이 아니라 사고다.
</a:t>
            </a:r>
            <a:r>
              <a:rPr lang="en-US" sz="1250" dirty="0">
                <a:solidFill>
                  <a:srgbClr val="4A5561"/>
                </a:solidFill>
                <a:latin typeface="Apple SD Gothic Neo" pitchFamily="34" charset="0"/>
                <a:ea typeface="Apple SD Gothic Neo" pitchFamily="34" charset="-122"/>
                <a:cs typeface="Apple SD Gothic Neo" pitchFamily="34" charset="-120"/>
              </a:rPr>
              <a:t>그리고 이 부분이 사람이 하기에 제일 귀찮고 제일 자주 빠뜨리는 부분 — 뒤에 나올 자동화의 핵심 포인트다.</a:t>
            </a:r>
            <a:endParaRPr lang="en-US" sz="1250" dirty="0"/>
          </a:p>
        </p:txBody>
      </p:sp>
      <p:sp>
        <p:nvSpPr>
          <p:cNvPr id="28" name="Text 25"/>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2 · 그런데 왜 아무도 안 하는가</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장벽 ① 첫 실험까지 3~4주</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카오스 엔지니어링의 문제는 개념이 아니라 진입 비용이다.</a:t>
            </a:r>
            <a:endParaRPr lang="en-US" sz="1300" dirty="0"/>
          </a:p>
        </p:txBody>
      </p:sp>
      <p:sp>
        <p:nvSpPr>
          <p:cNvPr id="5" name="Shape 3"/>
          <p:cNvSpPr/>
          <p:nvPr/>
        </p:nvSpPr>
        <p:spPr>
          <a:xfrm>
            <a:off x="640080" y="1783080"/>
            <a:ext cx="7406640" cy="786384"/>
          </a:xfrm>
          <a:prstGeom prst="roundRect">
            <a:avLst>
              <a:gd name="adj" fmla="val 6977"/>
            </a:avLst>
          </a:prstGeom>
          <a:solidFill>
            <a:srgbClr val="F7F8F8"/>
          </a:solidFill>
          <a:ln/>
        </p:spPr>
        <p:txBody>
          <a:bodyPr/>
          <a:lstStyle/>
          <a:p>
            <a:endParaRPr lang="ko-Kore-KR" altLang="en-US"/>
          </a:p>
        </p:txBody>
      </p:sp>
      <p:sp>
        <p:nvSpPr>
          <p:cNvPr id="6" name="Text 4"/>
          <p:cNvSpPr txBox="1"/>
          <p:nvPr/>
        </p:nvSpPr>
        <p:spPr>
          <a:xfrm>
            <a:off x="960120" y="1892808"/>
            <a:ext cx="2103120" cy="310896"/>
          </a:xfrm>
          <a:prstGeom prst="rect">
            <a:avLst/>
          </a:prstGeom>
          <a:noFill/>
          <a:ln/>
        </p:spPr>
        <p:txBody>
          <a:bodyPr wrap="square" lIns="0" tIns="0" rIns="0" bIns="0" rtlCol="0" anchor="ctr"/>
          <a:lstStyle/>
          <a:p>
            <a:pPr marL="0" indent="0">
              <a:buNone/>
            </a:pPr>
            <a:r>
              <a:rPr lang="en-US" sz="1400" b="1" dirty="0">
                <a:solidFill>
                  <a:srgbClr val="232F3E"/>
                </a:solidFill>
                <a:latin typeface="Apple SD Gothic Neo" pitchFamily="34" charset="0"/>
                <a:ea typeface="Apple SD Gothic Neo" pitchFamily="34" charset="-122"/>
                <a:cs typeface="Apple SD Gothic Neo" pitchFamily="34" charset="-120"/>
              </a:rPr>
              <a:t>시스템 파악</a:t>
            </a:r>
            <a:endParaRPr lang="en-US" sz="1400" dirty="0"/>
          </a:p>
        </p:txBody>
      </p:sp>
      <p:sp>
        <p:nvSpPr>
          <p:cNvPr id="7" name="Text 5"/>
          <p:cNvSpPr txBox="1"/>
          <p:nvPr/>
        </p:nvSpPr>
        <p:spPr>
          <a:xfrm>
            <a:off x="960120" y="2203704"/>
            <a:ext cx="4572000" cy="310896"/>
          </a:xfrm>
          <a:prstGeom prst="rect">
            <a:avLst/>
          </a:prstGeom>
          <a:noFill/>
          <a:ln/>
        </p:spPr>
        <p:txBody>
          <a:bodyPr wrap="square" lIns="0" tIns="0" rIns="0" bIns="0" rtlCol="0" anchor="ctr"/>
          <a:lstStyle/>
          <a:p>
            <a:pPr marL="0" indent="0">
              <a:buNone/>
            </a:pPr>
            <a:r>
              <a:rPr lang="en-US" sz="1150" dirty="0">
                <a:solidFill>
                  <a:srgbClr val="687078"/>
                </a:solidFill>
                <a:latin typeface="Apple SD Gothic Neo" pitchFamily="34" charset="0"/>
                <a:ea typeface="Apple SD Gothic Neo" pitchFamily="34" charset="-122"/>
                <a:cs typeface="Apple SD Gothic Neo" pitchFamily="34" charset="-120"/>
              </a:rPr>
              <a:t>리소스 인벤토리, 의존성 맵 작성</a:t>
            </a:r>
            <a:endParaRPr lang="en-US" sz="1150" dirty="0"/>
          </a:p>
        </p:txBody>
      </p:sp>
      <p:sp>
        <p:nvSpPr>
          <p:cNvPr id="8" name="Text 6"/>
          <p:cNvSpPr txBox="1"/>
          <p:nvPr/>
        </p:nvSpPr>
        <p:spPr>
          <a:xfrm>
            <a:off x="5577840" y="1892808"/>
            <a:ext cx="2148840" cy="566928"/>
          </a:xfrm>
          <a:prstGeom prst="rect">
            <a:avLst/>
          </a:prstGeom>
          <a:noFill/>
          <a:ln/>
        </p:spPr>
        <p:txBody>
          <a:bodyPr wrap="square" lIns="0" tIns="0" rIns="0" bIns="0" rtlCol="0" anchor="ctr"/>
          <a:lstStyle/>
          <a:p>
            <a:pPr marL="0" indent="0" algn="r">
              <a:buNone/>
            </a:pPr>
            <a:r>
              <a:rPr lang="en-US" sz="1400" b="1" dirty="0">
                <a:solidFill>
                  <a:srgbClr val="FF9900"/>
                </a:solidFill>
                <a:latin typeface="Apple SD Gothic Neo" pitchFamily="34" charset="0"/>
                <a:ea typeface="Apple SD Gothic Neo" pitchFamily="34" charset="-122"/>
                <a:cs typeface="Apple SD Gothic Neo" pitchFamily="34" charset="-120"/>
              </a:rPr>
              <a:t>1~2주</a:t>
            </a:r>
            <a:endParaRPr lang="en-US" sz="1400" dirty="0"/>
          </a:p>
        </p:txBody>
      </p:sp>
      <p:sp>
        <p:nvSpPr>
          <p:cNvPr id="9" name="Shape 7"/>
          <p:cNvSpPr/>
          <p:nvPr/>
        </p:nvSpPr>
        <p:spPr>
          <a:xfrm>
            <a:off x="640080" y="2642616"/>
            <a:ext cx="7406640" cy="786384"/>
          </a:xfrm>
          <a:prstGeom prst="roundRect">
            <a:avLst>
              <a:gd name="adj" fmla="val 6977"/>
            </a:avLst>
          </a:prstGeom>
          <a:solidFill>
            <a:srgbClr val="FFFFFF"/>
          </a:solidFill>
          <a:ln w="12700">
            <a:solidFill>
              <a:srgbClr val="D5DBDB"/>
            </a:solidFill>
            <a:prstDash val="solid"/>
          </a:ln>
        </p:spPr>
        <p:txBody>
          <a:bodyPr/>
          <a:lstStyle/>
          <a:p>
            <a:endParaRPr lang="ko-Kore-KR" altLang="en-US"/>
          </a:p>
        </p:txBody>
      </p:sp>
      <p:sp>
        <p:nvSpPr>
          <p:cNvPr id="10" name="Text 8"/>
          <p:cNvSpPr txBox="1"/>
          <p:nvPr/>
        </p:nvSpPr>
        <p:spPr>
          <a:xfrm>
            <a:off x="960120" y="2752344"/>
            <a:ext cx="2103120" cy="310896"/>
          </a:xfrm>
          <a:prstGeom prst="rect">
            <a:avLst/>
          </a:prstGeom>
          <a:noFill/>
          <a:ln/>
        </p:spPr>
        <p:txBody>
          <a:bodyPr wrap="square" lIns="0" tIns="0" rIns="0" bIns="0" rtlCol="0" anchor="ctr"/>
          <a:lstStyle/>
          <a:p>
            <a:pPr marL="0" indent="0">
              <a:buNone/>
            </a:pPr>
            <a:r>
              <a:rPr lang="en-US" sz="1400" b="1" dirty="0">
                <a:solidFill>
                  <a:srgbClr val="232F3E"/>
                </a:solidFill>
                <a:latin typeface="Apple SD Gothic Neo" pitchFamily="34" charset="0"/>
                <a:ea typeface="Apple SD Gothic Neo" pitchFamily="34" charset="-122"/>
                <a:cs typeface="Apple SD Gothic Neo" pitchFamily="34" charset="-120"/>
              </a:rPr>
              <a:t>가설 도출</a:t>
            </a:r>
            <a:endParaRPr lang="en-US" sz="1400" dirty="0"/>
          </a:p>
        </p:txBody>
      </p:sp>
      <p:sp>
        <p:nvSpPr>
          <p:cNvPr id="11" name="Text 9"/>
          <p:cNvSpPr txBox="1"/>
          <p:nvPr/>
        </p:nvSpPr>
        <p:spPr>
          <a:xfrm>
            <a:off x="960120" y="3063240"/>
            <a:ext cx="4572000" cy="310896"/>
          </a:xfrm>
          <a:prstGeom prst="rect">
            <a:avLst/>
          </a:prstGeom>
          <a:noFill/>
          <a:ln/>
        </p:spPr>
        <p:txBody>
          <a:bodyPr wrap="square" lIns="0" tIns="0" rIns="0" bIns="0" rtlCol="0" anchor="ctr"/>
          <a:lstStyle/>
          <a:p>
            <a:pPr marL="0" indent="0">
              <a:buNone/>
            </a:pPr>
            <a:r>
              <a:rPr lang="en-US" sz="1150" dirty="0">
                <a:solidFill>
                  <a:srgbClr val="687078"/>
                </a:solidFill>
                <a:latin typeface="Apple SD Gothic Neo" pitchFamily="34" charset="0"/>
                <a:ea typeface="Apple SD Gothic Neo" pitchFamily="34" charset="-122"/>
                <a:cs typeface="Apple SD Gothic Neo" pitchFamily="34" charset="-120"/>
              </a:rPr>
              <a:t>"어디가 약한가" 회의, 브레인스토밍</a:t>
            </a:r>
            <a:endParaRPr lang="en-US" sz="1150" dirty="0"/>
          </a:p>
        </p:txBody>
      </p:sp>
      <p:sp>
        <p:nvSpPr>
          <p:cNvPr id="12" name="Text 10"/>
          <p:cNvSpPr txBox="1"/>
          <p:nvPr/>
        </p:nvSpPr>
        <p:spPr>
          <a:xfrm>
            <a:off x="5577840" y="2752344"/>
            <a:ext cx="2148840" cy="566928"/>
          </a:xfrm>
          <a:prstGeom prst="rect">
            <a:avLst/>
          </a:prstGeom>
          <a:noFill/>
          <a:ln/>
        </p:spPr>
        <p:txBody>
          <a:bodyPr wrap="square" lIns="0" tIns="0" rIns="0" bIns="0" rtlCol="0" anchor="ctr"/>
          <a:lstStyle/>
          <a:p>
            <a:pPr marL="0" indent="0" algn="r">
              <a:buNone/>
            </a:pPr>
            <a:r>
              <a:rPr lang="en-US" sz="1400" b="1" dirty="0">
                <a:solidFill>
                  <a:srgbClr val="FF9900"/>
                </a:solidFill>
                <a:latin typeface="Apple SD Gothic Neo" pitchFamily="34" charset="0"/>
                <a:ea typeface="Apple SD Gothic Neo" pitchFamily="34" charset="-122"/>
                <a:cs typeface="Apple SD Gothic Neo" pitchFamily="34" charset="-120"/>
              </a:rPr>
              <a:t>수 시간 ~ 수 일</a:t>
            </a:r>
            <a:endParaRPr lang="en-US" sz="1400" dirty="0"/>
          </a:p>
        </p:txBody>
      </p:sp>
      <p:sp>
        <p:nvSpPr>
          <p:cNvPr id="13" name="Shape 11"/>
          <p:cNvSpPr/>
          <p:nvPr/>
        </p:nvSpPr>
        <p:spPr>
          <a:xfrm>
            <a:off x="640080" y="3502152"/>
            <a:ext cx="7406640" cy="786384"/>
          </a:xfrm>
          <a:prstGeom prst="roundRect">
            <a:avLst>
              <a:gd name="adj" fmla="val 6977"/>
            </a:avLst>
          </a:prstGeom>
          <a:solidFill>
            <a:srgbClr val="F7F8F8"/>
          </a:solidFill>
          <a:ln/>
        </p:spPr>
        <p:txBody>
          <a:bodyPr/>
          <a:lstStyle/>
          <a:p>
            <a:endParaRPr lang="ko-Kore-KR" altLang="en-US"/>
          </a:p>
        </p:txBody>
      </p:sp>
      <p:sp>
        <p:nvSpPr>
          <p:cNvPr id="14" name="Text 12"/>
          <p:cNvSpPr txBox="1"/>
          <p:nvPr/>
        </p:nvSpPr>
        <p:spPr>
          <a:xfrm>
            <a:off x="960120" y="3611880"/>
            <a:ext cx="2103120" cy="310896"/>
          </a:xfrm>
          <a:prstGeom prst="rect">
            <a:avLst/>
          </a:prstGeom>
          <a:noFill/>
          <a:ln/>
        </p:spPr>
        <p:txBody>
          <a:bodyPr wrap="square" lIns="0" tIns="0" rIns="0" bIns="0" rtlCol="0" anchor="ctr"/>
          <a:lstStyle/>
          <a:p>
            <a:pPr marL="0" indent="0">
              <a:buNone/>
            </a:pPr>
            <a:r>
              <a:rPr lang="en-US" sz="1400" b="1" dirty="0">
                <a:solidFill>
                  <a:srgbClr val="232F3E"/>
                </a:solidFill>
                <a:latin typeface="Apple SD Gothic Neo" pitchFamily="34" charset="0"/>
                <a:ea typeface="Apple SD Gothic Neo" pitchFamily="34" charset="-122"/>
                <a:cs typeface="Apple SD Gothic Neo" pitchFamily="34" charset="-120"/>
              </a:rPr>
              <a:t>실험 설계</a:t>
            </a:r>
            <a:endParaRPr lang="en-US" sz="1400" dirty="0"/>
          </a:p>
        </p:txBody>
      </p:sp>
      <p:sp>
        <p:nvSpPr>
          <p:cNvPr id="15" name="Text 13"/>
          <p:cNvSpPr txBox="1"/>
          <p:nvPr/>
        </p:nvSpPr>
        <p:spPr>
          <a:xfrm>
            <a:off x="960120" y="3922776"/>
            <a:ext cx="4572000" cy="310896"/>
          </a:xfrm>
          <a:prstGeom prst="rect">
            <a:avLst/>
          </a:prstGeom>
          <a:noFill/>
          <a:ln/>
        </p:spPr>
        <p:txBody>
          <a:bodyPr wrap="square" lIns="0" tIns="0" rIns="0" bIns="0" rtlCol="0" anchor="ctr"/>
          <a:lstStyle/>
          <a:p>
            <a:pPr marL="0" indent="0">
              <a:buNone/>
            </a:pPr>
            <a:r>
              <a:rPr lang="en-US" sz="1150" dirty="0">
                <a:solidFill>
                  <a:srgbClr val="687078"/>
                </a:solidFill>
                <a:latin typeface="Apple SD Gothic Neo" pitchFamily="34" charset="0"/>
                <a:ea typeface="Apple SD Gothic Neo" pitchFamily="34" charset="-122"/>
                <a:cs typeface="Apple SD Gothic Neo" pitchFamily="34" charset="-120"/>
              </a:rPr>
              <a:t>FIS 템플릿/SSM 문서 작성, 태그·셀렉터 맞추기</a:t>
            </a:r>
            <a:endParaRPr lang="en-US" sz="1150" dirty="0"/>
          </a:p>
        </p:txBody>
      </p:sp>
      <p:sp>
        <p:nvSpPr>
          <p:cNvPr id="16" name="Text 14"/>
          <p:cNvSpPr txBox="1"/>
          <p:nvPr/>
        </p:nvSpPr>
        <p:spPr>
          <a:xfrm>
            <a:off x="5577840" y="3611880"/>
            <a:ext cx="2148840" cy="566928"/>
          </a:xfrm>
          <a:prstGeom prst="rect">
            <a:avLst/>
          </a:prstGeom>
          <a:noFill/>
          <a:ln/>
        </p:spPr>
        <p:txBody>
          <a:bodyPr wrap="square" lIns="0" tIns="0" rIns="0" bIns="0" rtlCol="0" anchor="ctr"/>
          <a:lstStyle/>
          <a:p>
            <a:pPr marL="0" indent="0" algn="r">
              <a:buNone/>
            </a:pPr>
            <a:r>
              <a:rPr lang="en-US" sz="1400" b="1" dirty="0">
                <a:solidFill>
                  <a:srgbClr val="FF9900"/>
                </a:solidFill>
                <a:latin typeface="Apple SD Gothic Neo" pitchFamily="34" charset="0"/>
                <a:ea typeface="Apple SD Gothic Neo" pitchFamily="34" charset="-122"/>
                <a:cs typeface="Apple SD Gothic Neo" pitchFamily="34" charset="-120"/>
              </a:rPr>
              <a:t>실험당 3~5일</a:t>
            </a:r>
            <a:endParaRPr lang="en-US" sz="1400" dirty="0"/>
          </a:p>
        </p:txBody>
      </p:sp>
      <p:sp>
        <p:nvSpPr>
          <p:cNvPr id="17" name="Shape 15"/>
          <p:cNvSpPr/>
          <p:nvPr/>
        </p:nvSpPr>
        <p:spPr>
          <a:xfrm>
            <a:off x="640080" y="4361688"/>
            <a:ext cx="7406640" cy="786384"/>
          </a:xfrm>
          <a:prstGeom prst="roundRect">
            <a:avLst>
              <a:gd name="adj" fmla="val 6977"/>
            </a:avLst>
          </a:prstGeom>
          <a:solidFill>
            <a:srgbClr val="FFFFFF"/>
          </a:solidFill>
          <a:ln w="12700">
            <a:solidFill>
              <a:srgbClr val="D5DBDB"/>
            </a:solidFill>
            <a:prstDash val="solid"/>
          </a:ln>
        </p:spPr>
        <p:txBody>
          <a:bodyPr/>
          <a:lstStyle/>
          <a:p>
            <a:endParaRPr lang="ko-Kore-KR" altLang="en-US"/>
          </a:p>
        </p:txBody>
      </p:sp>
      <p:sp>
        <p:nvSpPr>
          <p:cNvPr id="18" name="Text 16"/>
          <p:cNvSpPr txBox="1"/>
          <p:nvPr/>
        </p:nvSpPr>
        <p:spPr>
          <a:xfrm>
            <a:off x="960120" y="4471416"/>
            <a:ext cx="2103120" cy="310896"/>
          </a:xfrm>
          <a:prstGeom prst="rect">
            <a:avLst/>
          </a:prstGeom>
          <a:noFill/>
          <a:ln/>
        </p:spPr>
        <p:txBody>
          <a:bodyPr wrap="square" lIns="0" tIns="0" rIns="0" bIns="0" rtlCol="0" anchor="ctr"/>
          <a:lstStyle/>
          <a:p>
            <a:pPr marL="0" indent="0">
              <a:buNone/>
            </a:pPr>
            <a:r>
              <a:rPr lang="en-US" sz="1400" b="1" dirty="0">
                <a:solidFill>
                  <a:srgbClr val="232F3E"/>
                </a:solidFill>
                <a:latin typeface="Apple SD Gothic Neo" pitchFamily="34" charset="0"/>
                <a:ea typeface="Apple SD Gothic Neo" pitchFamily="34" charset="-122"/>
                <a:cs typeface="Apple SD Gothic Neo" pitchFamily="34" charset="-120"/>
              </a:rPr>
              <a:t>안전 검토</a:t>
            </a:r>
            <a:endParaRPr lang="en-US" sz="1400" dirty="0"/>
          </a:p>
        </p:txBody>
      </p:sp>
      <p:sp>
        <p:nvSpPr>
          <p:cNvPr id="19" name="Text 17"/>
          <p:cNvSpPr txBox="1"/>
          <p:nvPr/>
        </p:nvSpPr>
        <p:spPr>
          <a:xfrm>
            <a:off x="960120" y="4782312"/>
            <a:ext cx="4572000" cy="310896"/>
          </a:xfrm>
          <a:prstGeom prst="rect">
            <a:avLst/>
          </a:prstGeom>
          <a:noFill/>
          <a:ln/>
        </p:spPr>
        <p:txBody>
          <a:bodyPr wrap="square" lIns="0" tIns="0" rIns="0" bIns="0" rtlCol="0" anchor="ctr"/>
          <a:lstStyle/>
          <a:p>
            <a:pPr marL="0" indent="0">
              <a:buNone/>
            </a:pPr>
            <a:r>
              <a:rPr lang="en-US" sz="1150" dirty="0">
                <a:solidFill>
                  <a:srgbClr val="687078"/>
                </a:solidFill>
                <a:latin typeface="Apple SD Gothic Neo" pitchFamily="34" charset="0"/>
                <a:ea typeface="Apple SD Gothic Neo" pitchFamily="34" charset="-122"/>
                <a:cs typeface="Apple SD Gothic Neo" pitchFamily="34" charset="-120"/>
              </a:rPr>
              <a:t>폭발 반경 리뷰, 승인</a:t>
            </a:r>
            <a:endParaRPr lang="en-US" sz="1150" dirty="0"/>
          </a:p>
        </p:txBody>
      </p:sp>
      <p:sp>
        <p:nvSpPr>
          <p:cNvPr id="20" name="Text 18"/>
          <p:cNvSpPr txBox="1"/>
          <p:nvPr/>
        </p:nvSpPr>
        <p:spPr>
          <a:xfrm>
            <a:off x="5577840" y="4471416"/>
            <a:ext cx="2148840" cy="566928"/>
          </a:xfrm>
          <a:prstGeom prst="rect">
            <a:avLst/>
          </a:prstGeom>
          <a:noFill/>
          <a:ln/>
        </p:spPr>
        <p:txBody>
          <a:bodyPr wrap="square" lIns="0" tIns="0" rIns="0" bIns="0" rtlCol="0" anchor="ctr"/>
          <a:lstStyle/>
          <a:p>
            <a:pPr marL="0" indent="0" algn="r">
              <a:buNone/>
            </a:pPr>
            <a:r>
              <a:rPr lang="en-US" sz="1400" b="1" dirty="0">
                <a:solidFill>
                  <a:srgbClr val="FF9900"/>
                </a:solidFill>
                <a:latin typeface="Apple SD Gothic Neo" pitchFamily="34" charset="0"/>
                <a:ea typeface="Apple SD Gothic Neo" pitchFamily="34" charset="-122"/>
                <a:cs typeface="Apple SD Gothic Neo" pitchFamily="34" charset="-120"/>
              </a:rPr>
              <a:t>시나리오당 1주</a:t>
            </a:r>
            <a:endParaRPr lang="en-US" sz="1400" dirty="0"/>
          </a:p>
        </p:txBody>
      </p:sp>
      <p:sp>
        <p:nvSpPr>
          <p:cNvPr id="21" name="Shape 19"/>
          <p:cNvSpPr/>
          <p:nvPr/>
        </p:nvSpPr>
        <p:spPr>
          <a:xfrm>
            <a:off x="8412480" y="1783080"/>
            <a:ext cx="3139135" cy="3364992"/>
          </a:xfrm>
          <a:prstGeom prst="roundRect">
            <a:avLst>
              <a:gd name="adj" fmla="val 1748"/>
            </a:avLst>
          </a:prstGeom>
          <a:solidFill>
            <a:srgbClr val="232F3E"/>
          </a:solidFill>
          <a:ln/>
        </p:spPr>
        <p:txBody>
          <a:bodyPr/>
          <a:lstStyle/>
          <a:p>
            <a:endParaRPr lang="ko-Kore-KR" altLang="en-US"/>
          </a:p>
        </p:txBody>
      </p:sp>
      <p:sp>
        <p:nvSpPr>
          <p:cNvPr id="22" name="Text 20"/>
          <p:cNvSpPr txBox="1"/>
          <p:nvPr/>
        </p:nvSpPr>
        <p:spPr>
          <a:xfrm>
            <a:off x="8686800" y="2240280"/>
            <a:ext cx="2590495" cy="365760"/>
          </a:xfrm>
          <a:prstGeom prst="rect">
            <a:avLst/>
          </a:prstGeom>
          <a:noFill/>
          <a:ln/>
        </p:spPr>
        <p:txBody>
          <a:bodyPr wrap="square" lIns="0" tIns="0" rIns="0" bIns="0" rtlCol="0" anchor="ctr"/>
          <a:lstStyle/>
          <a:p>
            <a:pPr marL="0" indent="0" algn="ctr">
              <a:buNone/>
            </a:pPr>
            <a:r>
              <a:rPr lang="en-US" sz="1400" dirty="0">
                <a:solidFill>
                  <a:srgbClr val="B8C0C8"/>
                </a:solidFill>
                <a:latin typeface="Apple SD Gothic Neo" pitchFamily="34" charset="0"/>
                <a:ea typeface="Apple SD Gothic Neo" pitchFamily="34" charset="-122"/>
                <a:cs typeface="Apple SD Gothic Neo" pitchFamily="34" charset="-120"/>
              </a:rPr>
              <a:t>첫 실험까지</a:t>
            </a:r>
            <a:endParaRPr lang="en-US" sz="1400" dirty="0"/>
          </a:p>
        </p:txBody>
      </p:sp>
      <p:sp>
        <p:nvSpPr>
          <p:cNvPr id="23" name="Text 21"/>
          <p:cNvSpPr txBox="1"/>
          <p:nvPr/>
        </p:nvSpPr>
        <p:spPr>
          <a:xfrm>
            <a:off x="8686800" y="2606040"/>
            <a:ext cx="2590495" cy="1097280"/>
          </a:xfrm>
          <a:prstGeom prst="rect">
            <a:avLst/>
          </a:prstGeom>
          <a:noFill/>
          <a:ln/>
        </p:spPr>
        <p:txBody>
          <a:bodyPr wrap="square" lIns="0" tIns="0" rIns="0" bIns="0" rtlCol="0" anchor="ctr"/>
          <a:lstStyle/>
          <a:p>
            <a:pPr marL="0" indent="0" algn="ctr">
              <a:buNone/>
            </a:pPr>
            <a:r>
              <a:rPr lang="en-US" sz="5600" b="1" dirty="0">
                <a:solidFill>
                  <a:srgbClr val="FF9900"/>
                </a:solidFill>
                <a:latin typeface="Apple SD Gothic Neo" pitchFamily="34" charset="0"/>
                <a:ea typeface="Apple SD Gothic Neo" pitchFamily="34" charset="-122"/>
                <a:cs typeface="Apple SD Gothic Neo" pitchFamily="34" charset="-120"/>
              </a:rPr>
              <a:t>3~4주</a:t>
            </a:r>
            <a:endParaRPr lang="en-US" sz="5600" dirty="0"/>
          </a:p>
        </p:txBody>
      </p:sp>
      <p:sp>
        <p:nvSpPr>
          <p:cNvPr id="24" name="Text 22"/>
          <p:cNvSpPr txBox="1"/>
          <p:nvPr/>
        </p:nvSpPr>
        <p:spPr>
          <a:xfrm>
            <a:off x="8686800" y="3822192"/>
            <a:ext cx="2590495" cy="822960"/>
          </a:xfrm>
          <a:prstGeom prst="rect">
            <a:avLst/>
          </a:prstGeom>
          <a:noFill/>
          <a:ln/>
        </p:spPr>
        <p:txBody>
          <a:bodyPr wrap="square" lIns="0" tIns="0" rIns="0" bIns="0" rtlCol="0" anchor="ctr"/>
          <a:lstStyle/>
          <a:p>
            <a:pPr marL="0" indent="0" algn="ctr">
              <a:lnSpc>
                <a:spcPts val="2400"/>
              </a:lnSpc>
              <a:buNone/>
            </a:pPr>
            <a:r>
              <a:rPr lang="en-US" sz="1400" dirty="0">
                <a:solidFill>
                  <a:srgbClr val="FFFFFF"/>
                </a:solidFill>
                <a:latin typeface="Apple SD Gothic Neo" pitchFamily="34" charset="0"/>
                <a:ea typeface="Apple SD Gothic Neo" pitchFamily="34" charset="-122"/>
                <a:cs typeface="Apple SD Gothic Neo" pitchFamily="34" charset="-120"/>
              </a:rPr>
              <a:t>현실적으로는</a:t>
            </a:r>
            <a:endParaRPr lang="en-US" sz="1400" dirty="0"/>
          </a:p>
          <a:p>
            <a:pPr marL="0" indent="0" algn="ctr">
              <a:lnSpc>
                <a:spcPts val="2400"/>
              </a:lnSpc>
              <a:buNone/>
            </a:pPr>
            <a:r>
              <a:rPr lang="en-US" sz="1400" dirty="0">
                <a:solidFill>
                  <a:srgbClr val="FFFFFF"/>
                </a:solidFill>
                <a:latin typeface="Apple SD Gothic Neo" pitchFamily="34" charset="0"/>
                <a:ea typeface="Apple SD Gothic Neo" pitchFamily="34" charset="-122"/>
                <a:cs typeface="Apple SD Gothic Neo" pitchFamily="34" charset="-120"/>
              </a:rPr>
              <a:t>"안 한다"는 뜻</a:t>
            </a:r>
            <a:endParaRPr lang="en-US" sz="1400" dirty="0"/>
          </a:p>
        </p:txBody>
      </p:sp>
      <p:sp>
        <p:nvSpPr>
          <p:cNvPr id="25" name="Text 23"/>
          <p:cNvSpPr txBox="1"/>
          <p:nvPr/>
        </p:nvSpPr>
        <p:spPr>
          <a:xfrm>
            <a:off x="640080" y="5358384"/>
            <a:ext cx="10911535" cy="274320"/>
          </a:xfrm>
          <a:prstGeom prst="rect">
            <a:avLst/>
          </a:prstGeom>
          <a:noFill/>
          <a:ln/>
        </p:spPr>
        <p:txBody>
          <a:bodyPr wrap="square" lIns="0" tIns="0" rIns="0" bIns="0" rtlCol="0" anchor="ctr"/>
          <a:lstStyle/>
          <a:p>
            <a:pPr marL="0" indent="0">
              <a:buNone/>
            </a:pPr>
            <a:r>
              <a:rPr lang="en-US" sz="1100" i="1" dirty="0">
                <a:solidFill>
                  <a:srgbClr val="687078"/>
                </a:solidFill>
                <a:latin typeface="Apple SD Gothic Neo" pitchFamily="34" charset="0"/>
                <a:ea typeface="Apple SD Gothic Neo" pitchFamily="34" charset="-122"/>
                <a:cs typeface="Apple SD Gothic Neo" pitchFamily="34" charset="-120"/>
              </a:rPr>
              <a:t>※ 위 수치는 AWS 발표 자료 기준 추정치다. 우리가 측정한 값이 아니다.</a:t>
            </a:r>
            <a:endParaRPr lang="en-US" sz="1100" dirty="0"/>
          </a:p>
        </p:txBody>
      </p:sp>
      <p:sp>
        <p:nvSpPr>
          <p:cNvPr id="26" name="Shape 24"/>
          <p:cNvSpPr/>
          <p:nvPr/>
        </p:nvSpPr>
        <p:spPr>
          <a:xfrm>
            <a:off x="640080" y="5742432"/>
            <a:ext cx="10911535" cy="566928"/>
          </a:xfrm>
          <a:prstGeom prst="roundRect">
            <a:avLst>
              <a:gd name="adj" fmla="val 9677"/>
            </a:avLst>
          </a:prstGeom>
          <a:solidFill>
            <a:srgbClr val="F2F7FF"/>
          </a:solidFill>
          <a:ln/>
        </p:spPr>
        <p:txBody>
          <a:bodyPr/>
          <a:lstStyle/>
          <a:p>
            <a:endParaRPr lang="ko-Kore-KR" altLang="en-US"/>
          </a:p>
        </p:txBody>
      </p:sp>
      <p:sp>
        <p:nvSpPr>
          <p:cNvPr id="27" name="Text 25"/>
          <p:cNvSpPr txBox="1"/>
          <p:nvPr/>
        </p:nvSpPr>
        <p:spPr>
          <a:xfrm>
            <a:off x="1005840" y="5742432"/>
            <a:ext cx="10180015" cy="566928"/>
          </a:xfrm>
          <a:prstGeom prst="rect">
            <a:avLst/>
          </a:prstGeom>
          <a:noFill/>
          <a:ln/>
        </p:spPr>
        <p:txBody>
          <a:bodyPr wrap="square" lIns="0" tIns="0" rIns="0" bIns="0" rtlCol="0" anchor="ctr"/>
          <a:lstStyle/>
          <a:p>
            <a:pPr marL="0" indent="0">
              <a:buNone/>
            </a:pPr>
            <a:r>
              <a:rPr lang="en-US" sz="1300" b="1" dirty="0">
                <a:solidFill>
                  <a:srgbClr val="232F3E"/>
                </a:solidFill>
                <a:latin typeface="Apple SD Gothic Neo" pitchFamily="34" charset="0"/>
                <a:ea typeface="Apple SD Gothic Neo" pitchFamily="34" charset="-122"/>
                <a:cs typeface="Apple SD Gothic Neo" pitchFamily="34" charset="-120"/>
              </a:rPr>
              <a:t>우리가 풀고 싶었던 문제는 "어떻게 잘할까"가 아니라 "어떻게 시작 자체를 가능하게 할까"였다.</a:t>
            </a:r>
            <a:endParaRPr lang="en-US" sz="1300" dirty="0"/>
          </a:p>
        </p:txBody>
      </p:sp>
      <p:sp>
        <p:nvSpPr>
          <p:cNvPr id="29" name="Text 26"/>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2 · 그런데 왜 아무도 안 하는가</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장벽 ② 무엇이 어려운가</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오래 걸리는 이유는 어려워서가 아니라, 흩어진 맥락을 사람 머리로 모아야 해서다.</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2743200"/>
        </p:xfrm>
        <a:graphic>
          <a:graphicData uri="http://schemas.openxmlformats.org/drawingml/2006/table">
            <a:tbl>
              <a:tblPr/>
              <a:tblGrid>
                <a:gridCol w="2194560">
                  <a:extLst>
                    <a:ext uri="{9D8B030D-6E8A-4147-A177-3AD203B41FA5}">
                      <a16:colId xmlns:a16="http://schemas.microsoft.com/office/drawing/2014/main" val="20000"/>
                    </a:ext>
                  </a:extLst>
                </a:gridCol>
                <a:gridCol w="8716975">
                  <a:extLst>
                    <a:ext uri="{9D8B030D-6E8A-4147-A177-3AD203B41FA5}">
                      <a16:colId xmlns:a16="http://schemas.microsoft.com/office/drawing/2014/main" val="20001"/>
                    </a:ext>
                  </a:extLst>
                </a:gridCol>
              </a:tblGrid>
              <a:tr h="548640">
                <a:tc>
                  <a:txBody>
                    <a:bodyPr/>
                    <a:lstStyle/>
                    <a:p>
                      <a:pPr marL="0" indent="0" algn="l">
                        <a:buNone/>
                      </a:pPr>
                      <a:r>
                        <a:rPr lang="en-US" sz="1150" b="1" dirty="0">
                          <a:solidFill>
                            <a:srgbClr val="FFFFFF"/>
                          </a:solidFill>
                          <a:latin typeface="Apple SD Gothic Neo" pitchFamily="34" charset="0"/>
                          <a:ea typeface="Apple SD Gothic Neo" pitchFamily="34" charset="-122"/>
                          <a:cs typeface="Apple SD Gothic Neo" pitchFamily="34" charset="-120"/>
                        </a:rPr>
                        <a:t>단계</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50" b="1" dirty="0">
                          <a:solidFill>
                            <a:srgbClr val="FFFFFF"/>
                          </a:solidFill>
                          <a:latin typeface="Apple SD Gothic Neo" pitchFamily="34" charset="0"/>
                          <a:ea typeface="Apple SD Gothic Neo" pitchFamily="34" charset="-122"/>
                          <a:cs typeface="Apple SD Gothic Neo" pitchFamily="34" charset="-120"/>
                        </a:rPr>
                        <a:t>무엇이 어려운가</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548640">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시스템 파악</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정보가 kubectl · 콘솔 · 위키 · 사람 기억에 흩어져 있다. 문서는 항상 낡아 있다</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가설 도출</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300" b="1" dirty="0">
                          <a:solidFill>
                            <a:srgbClr val="232F3E"/>
                          </a:solidFill>
                          <a:latin typeface="Apple SD Gothic Neo" pitchFamily="34" charset="0"/>
                          <a:ea typeface="Apple SD Gothic Neo" pitchFamily="34" charset="-122"/>
                          <a:cs typeface="Apple SD Gothic Neo" pitchFamily="34" charset="-120"/>
                        </a:rPr>
                        <a:t>경험 의존적이다. 사람마다 떠올리는 실패 유형이 편향된다 — 겪어본 장애만 떠올린다</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2"/>
                  </a:ext>
                </a:extLst>
              </a:tr>
              <a:tr h="548640">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실험 설계</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FIS 액션 ID · 리소스 타입 · 셀렉터 문법을 매번 문서 찾아가며 맞춘다</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안전 검토</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300" dirty="0">
                          <a:solidFill>
                            <a:srgbClr val="4A5561"/>
                          </a:solidFill>
                          <a:latin typeface="Apple SD Gothic Neo" pitchFamily="34" charset="0"/>
                          <a:ea typeface="Apple SD Gothic Neo" pitchFamily="34" charset="-122"/>
                          <a:cs typeface="Apple SD Gothic Neo" pitchFamily="34" charset="-120"/>
                        </a:rPr>
                        <a:t>체크리스트를 수동 확인한다. 사람이 하면 반드시 빠뜨린다</a:t>
                      </a:r>
                      <a:endParaRPr lang="en-US" sz="130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4"/>
                  </a:ext>
                </a:extLst>
              </a:tr>
            </a:tbl>
          </a:graphicData>
        </a:graphic>
      </p:graphicFrame>
      <p:sp>
        <p:nvSpPr>
          <p:cNvPr id="6" name="Shape 3"/>
          <p:cNvSpPr/>
          <p:nvPr/>
        </p:nvSpPr>
        <p:spPr>
          <a:xfrm>
            <a:off x="640080" y="4617720"/>
            <a:ext cx="10911535" cy="749808"/>
          </a:xfrm>
          <a:prstGeom prst="roundRect">
            <a:avLst>
              <a:gd name="adj" fmla="val 7317"/>
            </a:avLst>
          </a:prstGeom>
          <a:solidFill>
            <a:srgbClr val="F7F8F8"/>
          </a:solidFill>
          <a:ln/>
        </p:spPr>
        <p:txBody>
          <a:bodyPr/>
          <a:lstStyle/>
          <a:p>
            <a:endParaRPr lang="ko-Kore-KR" altLang="en-US"/>
          </a:p>
        </p:txBody>
      </p:sp>
      <p:sp>
        <p:nvSpPr>
          <p:cNvPr id="7" name="Text 4"/>
          <p:cNvSpPr txBox="1"/>
          <p:nvPr/>
        </p:nvSpPr>
        <p:spPr>
          <a:xfrm>
            <a:off x="1005840" y="4617720"/>
            <a:ext cx="10180015" cy="749808"/>
          </a:xfrm>
          <a:prstGeom prst="rect">
            <a:avLst/>
          </a:prstGeom>
          <a:noFill/>
          <a:ln/>
        </p:spPr>
        <p:txBody>
          <a:bodyPr wrap="square" lIns="0" tIns="0" rIns="0" bIns="0" rtlCol="0" anchor="ctr"/>
          <a:lstStyle/>
          <a:p>
            <a:pPr marL="0" indent="0">
              <a:buNone/>
            </a:pPr>
            <a:r>
              <a:rPr lang="en-US" sz="1300" b="1" dirty="0">
                <a:solidFill>
                  <a:srgbClr val="687078"/>
                </a:solidFill>
                <a:latin typeface="Apple SD Gothic Neo" pitchFamily="34" charset="0"/>
                <a:ea typeface="Apple SD Gothic Neo" pitchFamily="34" charset="-122"/>
                <a:cs typeface="Apple SD Gothic Neo" pitchFamily="34" charset="-120"/>
              </a:rPr>
              <a:t>공통점 — </a:t>
            </a:r>
            <a:r>
              <a:rPr lang="en-US" sz="1500" b="1" dirty="0">
                <a:solidFill>
                  <a:srgbClr val="232F3E"/>
                </a:solidFill>
                <a:latin typeface="Apple SD Gothic Neo" pitchFamily="34" charset="0"/>
                <a:ea typeface="Apple SD Gothic Neo" pitchFamily="34" charset="-122"/>
                <a:cs typeface="Apple SD Gothic Neo" pitchFamily="34" charset="-120"/>
              </a:rPr>
              <a:t>흩어진 정보를 모아  →  패턴을 떠올리고  →  정해진 형식으로 옮기는 일</a:t>
            </a:r>
            <a:endParaRPr lang="en-US" sz="1300" dirty="0"/>
          </a:p>
        </p:txBody>
      </p:sp>
      <p:sp>
        <p:nvSpPr>
          <p:cNvPr id="8" name="Shape 5"/>
          <p:cNvSpPr/>
          <p:nvPr/>
        </p:nvSpPr>
        <p:spPr>
          <a:xfrm>
            <a:off x="640080" y="5596128"/>
            <a:ext cx="10911535" cy="731520"/>
          </a:xfrm>
          <a:prstGeom prst="roundRect">
            <a:avLst>
              <a:gd name="adj" fmla="val 7500"/>
            </a:avLst>
          </a:prstGeom>
          <a:solidFill>
            <a:srgbClr val="FFF4E5"/>
          </a:solidFill>
          <a:ln/>
        </p:spPr>
        <p:txBody>
          <a:bodyPr/>
          <a:lstStyle/>
          <a:p>
            <a:endParaRPr lang="ko-Kore-KR" altLang="en-US"/>
          </a:p>
        </p:txBody>
      </p:sp>
      <p:sp>
        <p:nvSpPr>
          <p:cNvPr id="9" name="Text 6"/>
          <p:cNvSpPr txBox="1"/>
          <p:nvPr/>
        </p:nvSpPr>
        <p:spPr>
          <a:xfrm>
            <a:off x="1005840" y="5596128"/>
            <a:ext cx="10180015" cy="731520"/>
          </a:xfrm>
          <a:prstGeom prst="rect">
            <a:avLst/>
          </a:prstGeom>
          <a:noFill/>
          <a:ln/>
        </p:spPr>
        <p:txBody>
          <a:bodyPr wrap="square" lIns="0" tIns="0" rIns="0" bIns="0" rtlCol="0" anchor="ctr"/>
          <a:lstStyle/>
          <a:p>
            <a:pPr marL="0" indent="0">
              <a:buNone/>
            </a:pPr>
            <a:r>
              <a:rPr lang="en-US" sz="1500" b="1" dirty="0">
                <a:solidFill>
                  <a:srgbClr val="FF9900"/>
                </a:solidFill>
                <a:latin typeface="Apple SD Gothic Neo" pitchFamily="34" charset="0"/>
                <a:ea typeface="Apple SD Gothic Neo" pitchFamily="34" charset="-122"/>
                <a:cs typeface="Apple SD Gothic Neo" pitchFamily="34" charset="-120"/>
              </a:rPr>
              <a:t>이게 LLM이 가장 잘하는 작업 형태다. 그래서 에이전트로 만들어봤다.</a:t>
            </a:r>
            <a:endParaRPr lang="en-US" sz="1500" dirty="0"/>
          </a:p>
        </p:txBody>
      </p:sp>
      <p:sp>
        <p:nvSpPr>
          <p:cNvPr id="11" name="Text 7"/>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AWS Summit Seoul 2026에서 본 Multi-Agent 활용</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출발점: 보고, 만들어봤다</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제가 만든 아이디어가 아니다. Summit에서 보고, AI Hackathon에서 토이 프로젝트로 직접 만들어본 기록이다.</a:t>
            </a:r>
            <a:endParaRPr lang="en-US" sz="1300" dirty="0"/>
          </a:p>
        </p:txBody>
      </p:sp>
      <p:sp>
        <p:nvSpPr>
          <p:cNvPr id="5" name="Shape 3"/>
          <p:cNvSpPr/>
          <p:nvPr/>
        </p:nvSpPr>
        <p:spPr>
          <a:xfrm>
            <a:off x="640080" y="1755648"/>
            <a:ext cx="5272888" cy="3017520"/>
          </a:xfrm>
          <a:prstGeom prst="roundRect">
            <a:avLst>
              <a:gd name="adj" fmla="val 1818"/>
            </a:avLst>
          </a:prstGeom>
          <a:solidFill>
            <a:srgbClr val="F2F7FF"/>
          </a:solidFill>
          <a:ln/>
        </p:spPr>
        <p:txBody>
          <a:bodyPr/>
          <a:lstStyle/>
          <a:p>
            <a:endParaRPr lang="ko-Kore-KR" altLang="en-US"/>
          </a:p>
        </p:txBody>
      </p:sp>
      <p:sp>
        <p:nvSpPr>
          <p:cNvPr id="6" name="Text 4"/>
          <p:cNvSpPr txBox="1"/>
          <p:nvPr/>
        </p:nvSpPr>
        <p:spPr>
          <a:xfrm>
            <a:off x="987552" y="1901952"/>
            <a:ext cx="4577944" cy="384048"/>
          </a:xfrm>
          <a:prstGeom prst="rect">
            <a:avLst/>
          </a:prstGeom>
          <a:noFill/>
          <a:ln/>
        </p:spPr>
        <p:txBody>
          <a:bodyPr wrap="square" lIns="0" tIns="0" rIns="0" bIns="0" rtlCol="0" anchor="ctr"/>
          <a:lstStyle/>
          <a:p>
            <a:pPr marL="0" indent="0">
              <a:buNone/>
            </a:pPr>
            <a:r>
              <a:rPr lang="en-US" sz="1500" b="1" dirty="0">
                <a:solidFill>
                  <a:srgbClr val="527FFF"/>
                </a:solidFill>
                <a:latin typeface="Apple SD Gothic Neo" pitchFamily="34" charset="0"/>
                <a:ea typeface="Apple SD Gothic Neo" pitchFamily="34" charset="-122"/>
                <a:cs typeface="Apple SD Gothic Neo" pitchFamily="34" charset="-120"/>
              </a:rPr>
              <a:t>①  봤다 — AWS Summit Seoul 2026</a:t>
            </a:r>
            <a:endParaRPr lang="en-US" sz="1500" dirty="0"/>
          </a:p>
        </p:txBody>
      </p:sp>
      <p:sp>
        <p:nvSpPr>
          <p:cNvPr id="7" name="Text 5"/>
          <p:cNvSpPr txBox="1"/>
          <p:nvPr/>
        </p:nvSpPr>
        <p:spPr>
          <a:xfrm>
            <a:off x="987552" y="2286000"/>
            <a:ext cx="4577944" cy="274320"/>
          </a:xfrm>
          <a:prstGeom prst="rect">
            <a:avLst/>
          </a:prstGeom>
          <a:noFill/>
          <a:ln/>
        </p:spPr>
        <p:txBody>
          <a:bodyPr wrap="square" lIns="0" tIns="0" rIns="0" bIns="0" rtlCol="0" anchor="ctr"/>
          <a:lstStyle/>
          <a:p>
            <a:pPr marL="0" indent="0">
              <a:buNone/>
            </a:pPr>
            <a:r>
              <a:rPr lang="en-US" sz="1100" dirty="0">
                <a:solidFill>
                  <a:srgbClr val="687078"/>
                </a:solidFill>
                <a:latin typeface="Apple SD Gothic Neo" pitchFamily="34" charset="0"/>
                <a:ea typeface="Apple SD Gothic Neo" pitchFamily="34" charset="-122"/>
                <a:cs typeface="Apple SD Gothic Neo" pitchFamily="34" charset="-120"/>
              </a:rPr>
              <a:t>세션에서 가져온 것</a:t>
            </a:r>
            <a:endParaRPr lang="en-US" sz="1100" dirty="0"/>
          </a:p>
        </p:txBody>
      </p:sp>
      <p:sp>
        <p:nvSpPr>
          <p:cNvPr id="8" name="Text 6"/>
          <p:cNvSpPr txBox="1"/>
          <p:nvPr/>
        </p:nvSpPr>
        <p:spPr>
          <a:xfrm>
            <a:off x="987552" y="2633472"/>
            <a:ext cx="4577944" cy="20116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Multi-Agent Chaos Engineering 이라는 접근 자체</a:t>
            </a:r>
            <a:endParaRPr lang="en-US" sz="1250" dirty="0"/>
          </a:p>
          <a:p>
            <a:pPr marL="342900" indent="-342900">
              <a:spcAft>
                <a:spcPts val="9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5단계 에이전트 파이프라인 구조 (가설 → 우선순위 → 설계 → 실행 → 학습)</a:t>
            </a:r>
            <a:endParaRPr lang="en-US" sz="1250" dirty="0"/>
          </a:p>
          <a:p>
            <a:pPr marL="342900" indent="-342900">
              <a:spcAft>
                <a:spcPts val="9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안전 가드레일 5원칙</a:t>
            </a:r>
            <a:endParaRPr lang="en-US" sz="1250" dirty="0"/>
          </a:p>
          <a:p>
            <a:pPr marL="342900" indent="-342900">
              <a:spcAft>
                <a:spcPts val="9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"실패를 없애려 하지 말고, AI와 함께 실패를 설계하세요" 라는 메시지</a:t>
            </a:r>
            <a:endParaRPr lang="en-US" sz="1250" dirty="0"/>
          </a:p>
        </p:txBody>
      </p:sp>
      <p:sp>
        <p:nvSpPr>
          <p:cNvPr id="9" name="Shape 7"/>
          <p:cNvSpPr/>
          <p:nvPr/>
        </p:nvSpPr>
        <p:spPr>
          <a:xfrm>
            <a:off x="6278728" y="1755648"/>
            <a:ext cx="5272888" cy="3017520"/>
          </a:xfrm>
          <a:prstGeom prst="roundRect">
            <a:avLst>
              <a:gd name="adj" fmla="val 1818"/>
            </a:avLst>
          </a:prstGeom>
          <a:solidFill>
            <a:srgbClr val="E8F8F5"/>
          </a:solidFill>
          <a:ln/>
        </p:spPr>
        <p:txBody>
          <a:bodyPr/>
          <a:lstStyle/>
          <a:p>
            <a:endParaRPr lang="ko-Kore-KR" altLang="en-US"/>
          </a:p>
        </p:txBody>
      </p:sp>
      <p:sp>
        <p:nvSpPr>
          <p:cNvPr id="10" name="Text 8"/>
          <p:cNvSpPr txBox="1"/>
          <p:nvPr/>
        </p:nvSpPr>
        <p:spPr>
          <a:xfrm>
            <a:off x="6626200" y="1901952"/>
            <a:ext cx="4577944" cy="384048"/>
          </a:xfrm>
          <a:prstGeom prst="rect">
            <a:avLst/>
          </a:prstGeom>
          <a:noFill/>
          <a:ln/>
        </p:spPr>
        <p:txBody>
          <a:bodyPr wrap="square" lIns="0" tIns="0" rIns="0" bIns="0" rtlCol="0" anchor="ctr"/>
          <a:lstStyle/>
          <a:p>
            <a:pPr marL="0" indent="0">
              <a:buNone/>
            </a:pPr>
            <a:r>
              <a:rPr lang="en-US" sz="1500" b="1" dirty="0">
                <a:solidFill>
                  <a:srgbClr val="01A88D"/>
                </a:solidFill>
                <a:latin typeface="Apple SD Gothic Neo" pitchFamily="34" charset="0"/>
                <a:ea typeface="Apple SD Gothic Neo" pitchFamily="34" charset="-122"/>
                <a:cs typeface="Apple SD Gothic Neo" pitchFamily="34" charset="-120"/>
              </a:rPr>
              <a:t>②  만들어봤다 — AI Hackathon 토이 프로젝트</a:t>
            </a:r>
            <a:endParaRPr lang="en-US" sz="1500" dirty="0"/>
          </a:p>
        </p:txBody>
      </p:sp>
      <p:sp>
        <p:nvSpPr>
          <p:cNvPr id="11" name="Text 9"/>
          <p:cNvSpPr txBox="1"/>
          <p:nvPr/>
        </p:nvSpPr>
        <p:spPr>
          <a:xfrm>
            <a:off x="6626200" y="2340864"/>
            <a:ext cx="4577944" cy="246888"/>
          </a:xfrm>
          <a:prstGeom prst="rect">
            <a:avLst/>
          </a:prstGeom>
          <a:noFill/>
          <a:ln/>
        </p:spPr>
        <p:txBody>
          <a:bodyPr wrap="square" lIns="0" tIns="0" rIns="0" bIns="0" rtlCol="0" anchor="ctr"/>
          <a:lstStyle/>
          <a:p>
            <a:pPr marL="0" indent="0">
              <a:buNone/>
            </a:pPr>
            <a:r>
              <a:rPr lang="en-US" sz="1250" b="1" dirty="0">
                <a:solidFill>
                  <a:srgbClr val="232F3E"/>
                </a:solidFill>
                <a:latin typeface="Apple SD Gothic Neo" pitchFamily="34" charset="0"/>
                <a:ea typeface="Apple SD Gothic Neo" pitchFamily="34" charset="-122"/>
                <a:cs typeface="Apple SD Gothic Neo" pitchFamily="34" charset="-120"/>
              </a:rPr>
              <a:t>5-Agent 파이프라인 직접 구현</a:t>
            </a:r>
            <a:endParaRPr lang="en-US" sz="1250" dirty="0"/>
          </a:p>
        </p:txBody>
      </p:sp>
      <p:sp>
        <p:nvSpPr>
          <p:cNvPr id="12" name="Text 10"/>
          <p:cNvSpPr txBox="1"/>
          <p:nvPr/>
        </p:nvSpPr>
        <p:spPr>
          <a:xfrm>
            <a:off x="6626200" y="2569464"/>
            <a:ext cx="4577944" cy="228600"/>
          </a:xfrm>
          <a:prstGeom prst="rect">
            <a:avLst/>
          </a:prstGeom>
          <a:noFill/>
          <a:ln/>
        </p:spPr>
        <p:txBody>
          <a:bodyPr wrap="square" lIns="0" tIns="0" rIns="0" bIns="0" rtlCol="0" anchor="ctr"/>
          <a:lstStyle/>
          <a:p>
            <a:pPr marL="0" indent="0">
              <a:buNone/>
            </a:pPr>
            <a:r>
              <a:rPr lang="en-US" sz="1100" dirty="0">
                <a:solidFill>
                  <a:srgbClr val="687078"/>
                </a:solidFill>
                <a:latin typeface="Apple SD Gothic Neo" pitchFamily="34" charset="0"/>
                <a:ea typeface="Apple SD Gothic Neo" pitchFamily="34" charset="-122"/>
                <a:cs typeface="Apple SD Gothic Neo" pitchFamily="34" charset="-120"/>
              </a:rPr>
              <a:t>Strands Agents SDK + Bedrock</a:t>
            </a:r>
            <a:endParaRPr lang="en-US" sz="1100" dirty="0"/>
          </a:p>
        </p:txBody>
      </p:sp>
      <p:sp>
        <p:nvSpPr>
          <p:cNvPr id="13" name="Text 11"/>
          <p:cNvSpPr txBox="1"/>
          <p:nvPr/>
        </p:nvSpPr>
        <p:spPr>
          <a:xfrm>
            <a:off x="6626200" y="2816352"/>
            <a:ext cx="4577944" cy="246888"/>
          </a:xfrm>
          <a:prstGeom prst="rect">
            <a:avLst/>
          </a:prstGeom>
          <a:noFill/>
          <a:ln/>
        </p:spPr>
        <p:txBody>
          <a:bodyPr wrap="square" lIns="0" tIns="0" rIns="0" bIns="0" rtlCol="0" anchor="ctr"/>
          <a:lstStyle/>
          <a:p>
            <a:pPr marL="0" indent="0">
              <a:buNone/>
            </a:pPr>
            <a:r>
              <a:rPr lang="en-US" sz="1250" b="1" dirty="0">
                <a:solidFill>
                  <a:srgbClr val="232F3E"/>
                </a:solidFill>
                <a:latin typeface="Apple SD Gothic Neo" pitchFamily="34" charset="0"/>
                <a:ea typeface="Apple SD Gothic Neo" pitchFamily="34" charset="-122"/>
                <a:cs typeface="Apple SD Gothic Neo" pitchFamily="34" charset="-120"/>
              </a:rPr>
              <a:t>테스트용 EKS 클러스터 신규 구축</a:t>
            </a:r>
            <a:endParaRPr lang="en-US" sz="1250" dirty="0"/>
          </a:p>
        </p:txBody>
      </p:sp>
      <p:sp>
        <p:nvSpPr>
          <p:cNvPr id="14" name="Text 12"/>
          <p:cNvSpPr txBox="1"/>
          <p:nvPr/>
        </p:nvSpPr>
        <p:spPr>
          <a:xfrm>
            <a:off x="6626200" y="3044952"/>
            <a:ext cx="4577944" cy="228600"/>
          </a:xfrm>
          <a:prstGeom prst="rect">
            <a:avLst/>
          </a:prstGeom>
          <a:noFill/>
          <a:ln/>
        </p:spPr>
        <p:txBody>
          <a:bodyPr wrap="square" lIns="0" tIns="0" rIns="0" bIns="0" rtlCol="0" anchor="ctr"/>
          <a:lstStyle/>
          <a:p>
            <a:pPr marL="0" indent="0">
              <a:buNone/>
            </a:pPr>
            <a:r>
              <a:rPr lang="en-US" sz="1100" dirty="0">
                <a:solidFill>
                  <a:srgbClr val="687078"/>
                </a:solidFill>
                <a:latin typeface="Apple SD Gothic Neo" pitchFamily="34" charset="0"/>
                <a:ea typeface="Apple SD Gothic Neo" pitchFamily="34" charset="-122"/>
                <a:cs typeface="Apple SD Gothic Neo" pitchFamily="34" charset="-120"/>
              </a:rPr>
              <a:t>ap-northeast-2, AWS 샘플 앱, Pod 10개</a:t>
            </a:r>
            <a:endParaRPr lang="en-US" sz="1100" dirty="0"/>
          </a:p>
        </p:txBody>
      </p:sp>
      <p:sp>
        <p:nvSpPr>
          <p:cNvPr id="15" name="Text 13"/>
          <p:cNvSpPr txBox="1"/>
          <p:nvPr/>
        </p:nvSpPr>
        <p:spPr>
          <a:xfrm>
            <a:off x="6626200" y="3291840"/>
            <a:ext cx="4577944" cy="246888"/>
          </a:xfrm>
          <a:prstGeom prst="rect">
            <a:avLst/>
          </a:prstGeom>
          <a:noFill/>
          <a:ln/>
        </p:spPr>
        <p:txBody>
          <a:bodyPr wrap="square" lIns="0" tIns="0" rIns="0" bIns="0" rtlCol="0" anchor="ctr"/>
          <a:lstStyle/>
          <a:p>
            <a:pPr marL="0" indent="0">
              <a:buNone/>
            </a:pPr>
            <a:r>
              <a:rPr lang="en-US" sz="1250" b="1" dirty="0">
                <a:solidFill>
                  <a:srgbClr val="232F3E"/>
                </a:solidFill>
                <a:latin typeface="Apple SD Gothic Neo" pitchFamily="34" charset="0"/>
                <a:ea typeface="Apple SD Gothic Neo" pitchFamily="34" charset="-122"/>
                <a:cs typeface="Apple SD Gothic Neo" pitchFamily="34" charset="-120"/>
              </a:rPr>
              <a:t>실제 AWS 계정에서 API 호출</a:t>
            </a:r>
            <a:endParaRPr lang="en-US" sz="1250" dirty="0"/>
          </a:p>
        </p:txBody>
      </p:sp>
      <p:sp>
        <p:nvSpPr>
          <p:cNvPr id="16" name="Text 14"/>
          <p:cNvSpPr txBox="1"/>
          <p:nvPr/>
        </p:nvSpPr>
        <p:spPr>
          <a:xfrm>
            <a:off x="6626200" y="3520440"/>
            <a:ext cx="4577944" cy="228600"/>
          </a:xfrm>
          <a:prstGeom prst="rect">
            <a:avLst/>
          </a:prstGeom>
          <a:noFill/>
          <a:ln/>
        </p:spPr>
        <p:txBody>
          <a:bodyPr wrap="square" lIns="0" tIns="0" rIns="0" bIns="0" rtlCol="0" anchor="ctr"/>
          <a:lstStyle/>
          <a:p>
            <a:pPr marL="0" indent="0">
              <a:buNone/>
            </a:pPr>
            <a:r>
              <a:rPr lang="en-US" sz="1100" dirty="0">
                <a:solidFill>
                  <a:srgbClr val="687078"/>
                </a:solidFill>
                <a:latin typeface="Apple SD Gothic Neo" pitchFamily="34" charset="0"/>
                <a:ea typeface="Apple SD Gothic Neo" pitchFamily="34" charset="-122"/>
                <a:cs typeface="Apple SD Gothic Neo" pitchFamily="34" charset="-120"/>
              </a:rPr>
              <a:t>Bedrock LLM + FIS API (모킹 아님)</a:t>
            </a:r>
            <a:endParaRPr lang="en-US" sz="1100" dirty="0"/>
          </a:p>
        </p:txBody>
      </p:sp>
      <p:sp>
        <p:nvSpPr>
          <p:cNvPr id="17" name="Text 15"/>
          <p:cNvSpPr txBox="1"/>
          <p:nvPr/>
        </p:nvSpPr>
        <p:spPr>
          <a:xfrm>
            <a:off x="6626200" y="3767328"/>
            <a:ext cx="4577944" cy="246888"/>
          </a:xfrm>
          <a:prstGeom prst="rect">
            <a:avLst/>
          </a:prstGeom>
          <a:noFill/>
          <a:ln/>
        </p:spPr>
        <p:txBody>
          <a:bodyPr wrap="square" lIns="0" tIns="0" rIns="0" bIns="0" rtlCol="0" anchor="ctr"/>
          <a:lstStyle/>
          <a:p>
            <a:pPr marL="0" indent="0">
              <a:buNone/>
            </a:pPr>
            <a:r>
              <a:rPr lang="en-US" sz="1250" b="1" dirty="0">
                <a:solidFill>
                  <a:srgbClr val="232F3E"/>
                </a:solidFill>
                <a:latin typeface="Apple SD Gothic Neo" pitchFamily="34" charset="0"/>
                <a:ea typeface="Apple SD Gothic Neo" pitchFamily="34" charset="-122"/>
                <a:cs typeface="Apple SD Gothic Neo" pitchFamily="34" charset="-120"/>
              </a:rPr>
              <a:t>실제 FIS 실험 템플릿 2개 생성</a:t>
            </a:r>
            <a:endParaRPr lang="en-US" sz="1250" dirty="0"/>
          </a:p>
        </p:txBody>
      </p:sp>
      <p:sp>
        <p:nvSpPr>
          <p:cNvPr id="18" name="Text 16"/>
          <p:cNvSpPr txBox="1"/>
          <p:nvPr/>
        </p:nvSpPr>
        <p:spPr>
          <a:xfrm>
            <a:off x="6626200" y="3995928"/>
            <a:ext cx="4577944" cy="228600"/>
          </a:xfrm>
          <a:prstGeom prst="rect">
            <a:avLst/>
          </a:prstGeom>
          <a:noFill/>
          <a:ln/>
        </p:spPr>
        <p:txBody>
          <a:bodyPr wrap="square" lIns="0" tIns="0" rIns="0" bIns="0" rtlCol="0" anchor="ctr"/>
          <a:lstStyle/>
          <a:p>
            <a:pPr marL="0" indent="0">
              <a:buNone/>
            </a:pPr>
            <a:r>
              <a:rPr lang="en-US" sz="1100" dirty="0">
                <a:solidFill>
                  <a:srgbClr val="687078"/>
                </a:solidFill>
                <a:latin typeface="Apple SD Gothic Neo" pitchFamily="34" charset="0"/>
                <a:ea typeface="Apple SD Gothic Neo" pitchFamily="34" charset="-122"/>
                <a:cs typeface="Apple SD Gothic Neo" pitchFamily="34" charset="-120"/>
              </a:rPr>
              <a:t>AWS 콘솔에 남은 실물</a:t>
            </a:r>
            <a:endParaRPr lang="en-US" sz="1100" dirty="0"/>
          </a:p>
        </p:txBody>
      </p:sp>
      <p:sp>
        <p:nvSpPr>
          <p:cNvPr id="19" name="Text 17"/>
          <p:cNvSpPr txBox="1"/>
          <p:nvPr/>
        </p:nvSpPr>
        <p:spPr>
          <a:xfrm>
            <a:off x="6626200" y="4242816"/>
            <a:ext cx="4577944" cy="246888"/>
          </a:xfrm>
          <a:prstGeom prst="rect">
            <a:avLst/>
          </a:prstGeom>
          <a:noFill/>
          <a:ln/>
        </p:spPr>
        <p:txBody>
          <a:bodyPr wrap="square" lIns="0" tIns="0" rIns="0" bIns="0" rtlCol="0" anchor="ctr"/>
          <a:lstStyle/>
          <a:p>
            <a:pPr marL="0" indent="0">
              <a:buNone/>
            </a:pPr>
            <a:r>
              <a:rPr lang="en-US" sz="1250" b="1" dirty="0">
                <a:solidFill>
                  <a:srgbClr val="232F3E"/>
                </a:solidFill>
                <a:latin typeface="Apple SD Gothic Neo" pitchFamily="34" charset="0"/>
                <a:ea typeface="Apple SD Gothic Neo" pitchFamily="34" charset="-122"/>
                <a:cs typeface="Apple SD Gothic Neo" pitchFamily="34" charset="-120"/>
              </a:rPr>
              <a:t>파이프라인 전체 실행</a:t>
            </a:r>
            <a:endParaRPr lang="en-US" sz="1250" dirty="0"/>
          </a:p>
        </p:txBody>
      </p:sp>
      <p:sp>
        <p:nvSpPr>
          <p:cNvPr id="20" name="Text 18"/>
          <p:cNvSpPr txBox="1"/>
          <p:nvPr/>
        </p:nvSpPr>
        <p:spPr>
          <a:xfrm>
            <a:off x="6626200" y="4471416"/>
            <a:ext cx="4577944" cy="228600"/>
          </a:xfrm>
          <a:prstGeom prst="rect">
            <a:avLst/>
          </a:prstGeom>
          <a:noFill/>
          <a:ln/>
        </p:spPr>
        <p:txBody>
          <a:bodyPr wrap="square" lIns="0" tIns="0" rIns="0" bIns="0" rtlCol="0" anchor="ctr"/>
          <a:lstStyle/>
          <a:p>
            <a:pPr marL="0" indent="0">
              <a:buNone/>
            </a:pPr>
            <a:r>
              <a:rPr lang="en-US" sz="1100" dirty="0">
                <a:solidFill>
                  <a:srgbClr val="687078"/>
                </a:solidFill>
                <a:latin typeface="Apple SD Gothic Neo" pitchFamily="34" charset="0"/>
                <a:ea typeface="Apple SD Gothic Neo" pitchFamily="34" charset="-122"/>
                <a:cs typeface="Apple SD Gothic Neo" pitchFamily="34" charset="-120"/>
              </a:rPr>
              <a:t>2분 32초 / 33,731 토큰</a:t>
            </a:r>
            <a:endParaRPr lang="en-US" sz="1100" dirty="0"/>
          </a:p>
        </p:txBody>
      </p:sp>
      <p:sp>
        <p:nvSpPr>
          <p:cNvPr id="21" name="Shape 19"/>
          <p:cNvSpPr/>
          <p:nvPr/>
        </p:nvSpPr>
        <p:spPr>
          <a:xfrm>
            <a:off x="640080" y="4956048"/>
            <a:ext cx="10911535" cy="1234440"/>
          </a:xfrm>
          <a:prstGeom prst="roundRect">
            <a:avLst>
              <a:gd name="adj" fmla="val 4444"/>
            </a:avLst>
          </a:prstGeom>
          <a:solidFill>
            <a:srgbClr val="FDF0EE"/>
          </a:solidFill>
          <a:ln/>
        </p:spPr>
        <p:txBody>
          <a:bodyPr/>
          <a:lstStyle/>
          <a:p>
            <a:endParaRPr lang="ko-Kore-KR" altLang="en-US"/>
          </a:p>
        </p:txBody>
      </p:sp>
      <p:sp>
        <p:nvSpPr>
          <p:cNvPr id="22" name="Text 20"/>
          <p:cNvSpPr txBox="1"/>
          <p:nvPr/>
        </p:nvSpPr>
        <p:spPr>
          <a:xfrm>
            <a:off x="1005840" y="4956048"/>
            <a:ext cx="10180015" cy="1234440"/>
          </a:xfrm>
          <a:prstGeom prst="rect">
            <a:avLst/>
          </a:prstGeom>
          <a:noFill/>
          <a:ln/>
        </p:spPr>
        <p:txBody>
          <a:bodyPr wrap="square" lIns="0" tIns="0" rIns="0" bIns="0" rtlCol="0" anchor="ctr"/>
          <a:lstStyle/>
          <a:p>
            <a:pPr marL="0" indent="0">
              <a:lnSpc>
                <a:spcPts val="2300"/>
              </a:lnSpc>
              <a:buNone/>
            </a:pPr>
            <a:r>
              <a:rPr lang="en-US" sz="1250" b="1" dirty="0">
                <a:solidFill>
                  <a:srgbClr val="D13212"/>
                </a:solidFill>
                <a:latin typeface="Apple SD Gothic Neo" pitchFamily="34" charset="0"/>
                <a:ea typeface="Apple SD Gothic Neo" pitchFamily="34" charset="-122"/>
                <a:cs typeface="Apple SD Gothic Neo" pitchFamily="34" charset="-120"/>
              </a:rPr>
              <a:t>운영 환경이 아니다. </a:t>
            </a:r>
            <a:r>
              <a:rPr lang="en-US" sz="1250" dirty="0">
                <a:solidFill>
                  <a:srgbClr val="4A5561"/>
                </a:solidFill>
                <a:latin typeface="Apple SD Gothic Neo" pitchFamily="34" charset="0"/>
                <a:ea typeface="Apple SD Gothic Neo" pitchFamily="34" charset="-122"/>
                <a:cs typeface="Apple SD Gothic Neo" pitchFamily="34" charset="-120"/>
              </a:rPr>
              <a:t>해커톤 기간에 만든 테스트 클러스터 + AWS 공식 샘플 앱이다.
다만 슬라이드 위 코드나 모킹이 아니라, 실제 AWS API를 호출해 끝까지 돌려봤다.
</a:t>
            </a:r>
            <a:r>
              <a:rPr lang="en-US" sz="1250" b="1" dirty="0">
                <a:solidFill>
                  <a:srgbClr val="232F3E"/>
                </a:solidFill>
                <a:latin typeface="Apple SD Gothic Neo" pitchFamily="34" charset="0"/>
                <a:ea typeface="Apple SD Gothic Neo" pitchFamily="34" charset="-122"/>
                <a:cs typeface="Apple SD Gothic Neo" pitchFamily="34" charset="-120"/>
              </a:rPr>
              <a:t>실제 장애 주입까지는 가지 못했다 — 그 이유가 이 발표의 절반이다.</a:t>
            </a:r>
            <a:endParaRPr lang="en-US" sz="1250" dirty="0"/>
          </a:p>
        </p:txBody>
      </p:sp>
      <p:sp>
        <p:nvSpPr>
          <p:cNvPr id="24" name="Text 21"/>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기술 소개</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세 가지 기술, 세 개의 역할</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두뇌(Bedrock) / 손발(Strands) / 실행기(FIS)로 역할이 깨끗하게 나뉜다.</a:t>
            </a:r>
            <a:endParaRPr lang="en-US" sz="1300" dirty="0"/>
          </a:p>
        </p:txBody>
      </p:sp>
      <p:pic>
        <p:nvPicPr>
          <p:cNvPr id="5" name="Image 0" descr="/sessions/vibrant-jolly-ramanujan/mnt/uploads/slide-14-tech-stack.png"/>
          <p:cNvPicPr>
            <a:picLocks noChangeAspect="1"/>
          </p:cNvPicPr>
          <p:nvPr/>
        </p:nvPicPr>
        <p:blipFill>
          <a:blip r:embed="rId3"/>
          <a:stretch>
            <a:fillRect/>
          </a:stretch>
        </p:blipFill>
        <p:spPr>
          <a:xfrm>
            <a:off x="2092052" y="1572768"/>
            <a:ext cx="8007592" cy="4782312"/>
          </a:xfrm>
          <a:prstGeom prst="rect">
            <a:avLst/>
          </a:prstGeom>
        </p:spPr>
      </p:pic>
      <p:sp>
        <p:nvSpPr>
          <p:cNvPr id="7" name="Text 3"/>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기술 ①</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Amazon Bedrock — 두뇌</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IAM·SDK로 붙이지 않고 OpenAI 호환 엔드포인트 + API Key로 붙였다. 덕분에 설정이 5줄로 끝난다.</a:t>
            </a:r>
            <a:endParaRPr lang="en-US" sz="1300" dirty="0"/>
          </a:p>
        </p:txBody>
      </p:sp>
      <p:sp>
        <p:nvSpPr>
          <p:cNvPr id="5" name="Shape 3"/>
          <p:cNvSpPr/>
          <p:nvPr/>
        </p:nvSpPr>
        <p:spPr>
          <a:xfrm>
            <a:off x="640080" y="1755648"/>
            <a:ext cx="6492240" cy="2651760"/>
          </a:xfrm>
          <a:prstGeom prst="roundRect">
            <a:avLst>
              <a:gd name="adj" fmla="val 2069"/>
            </a:avLst>
          </a:prstGeom>
          <a:solidFill>
            <a:srgbClr val="F7F8F8"/>
          </a:solidFill>
          <a:ln w="12700">
            <a:solidFill>
              <a:srgbClr val="D5DBDB"/>
            </a:solidFill>
            <a:prstDash val="solid"/>
          </a:ln>
        </p:spPr>
        <p:txBody>
          <a:bodyPr/>
          <a:lstStyle/>
          <a:p>
            <a:endParaRPr lang="ko-Kore-KR" altLang="en-US"/>
          </a:p>
        </p:txBody>
      </p:sp>
      <p:sp>
        <p:nvSpPr>
          <p:cNvPr id="6" name="Text 4"/>
          <p:cNvSpPr txBox="1"/>
          <p:nvPr/>
        </p:nvSpPr>
        <p:spPr>
          <a:xfrm>
            <a:off x="914400" y="1901952"/>
            <a:ext cx="5943600" cy="2377440"/>
          </a:xfrm>
          <a:prstGeom prst="rect">
            <a:avLst/>
          </a:prstGeom>
          <a:noFill/>
          <a:ln/>
        </p:spPr>
        <p:txBody>
          <a:bodyPr wrap="square" lIns="0" tIns="0" rIns="0" bIns="0" rtlCol="0" anchor="t"/>
          <a:lstStyle/>
          <a:p>
            <a:pPr marL="0" indent="0">
              <a:lnSpc>
                <a:spcPts val="1900"/>
              </a:lnSpc>
              <a:buNone/>
            </a:pPr>
            <a:r>
              <a:rPr lang="en-US" sz="1050" dirty="0">
                <a:solidFill>
                  <a:srgbClr val="232F3E"/>
                </a:solidFill>
                <a:latin typeface="Courier New" pitchFamily="34" charset="0"/>
                <a:ea typeface="Courier New" pitchFamily="34" charset="-122"/>
                <a:cs typeface="Courier New" pitchFamily="34" charset="-120"/>
              </a:rPr>
              <a:t>from strands.models.openai import OpenAIModel</a:t>
            </a:r>
            <a:endParaRPr lang="en-US" sz="1050" dirty="0"/>
          </a:p>
          <a:p>
            <a:pPr marL="0" indent="0">
              <a:lnSpc>
                <a:spcPts val="1900"/>
              </a:lnSpc>
              <a:buNone/>
            </a:pPr>
            <a:endParaRPr lang="en-US" sz="1050" dirty="0"/>
          </a:p>
          <a:p>
            <a:pPr marL="0" indent="0">
              <a:lnSpc>
                <a:spcPts val="1900"/>
              </a:lnSpc>
              <a:buNone/>
            </a:pPr>
            <a:r>
              <a:rPr lang="en-US" sz="1050" dirty="0">
                <a:solidFill>
                  <a:srgbClr val="232F3E"/>
                </a:solidFill>
                <a:latin typeface="Courier New" pitchFamily="34" charset="0"/>
                <a:ea typeface="Courier New" pitchFamily="34" charset="-122"/>
                <a:cs typeface="Courier New" pitchFamily="34" charset="-120"/>
              </a:rPr>
              <a:t>bedrock_model = OpenAIModel(</a:t>
            </a:r>
            <a:endParaRPr lang="en-US" sz="1050" dirty="0"/>
          </a:p>
          <a:p>
            <a:pPr marL="0" indent="0">
              <a:lnSpc>
                <a:spcPts val="1900"/>
              </a:lnSpc>
              <a:buNone/>
            </a:pPr>
            <a:r>
              <a:rPr lang="en-US" sz="1050" dirty="0">
                <a:solidFill>
                  <a:srgbClr val="232F3E"/>
                </a:solidFill>
                <a:latin typeface="Courier New" pitchFamily="34" charset="0"/>
                <a:ea typeface="Courier New" pitchFamily="34" charset="-122"/>
                <a:cs typeface="Courier New" pitchFamily="34" charset="-120"/>
              </a:rPr>
              <a:t>    client_args={</a:t>
            </a:r>
            <a:endParaRPr lang="en-US" sz="1050" dirty="0"/>
          </a:p>
          <a:p>
            <a:pPr marL="0" indent="0">
              <a:lnSpc>
                <a:spcPts val="1900"/>
              </a:lnSpc>
              <a:buNone/>
            </a:pPr>
            <a:r>
              <a:rPr lang="en-US" sz="1050" dirty="0">
                <a:solidFill>
                  <a:srgbClr val="232F3E"/>
                </a:solidFill>
                <a:latin typeface="Courier New" pitchFamily="34" charset="0"/>
                <a:ea typeface="Courier New" pitchFamily="34" charset="-122"/>
                <a:cs typeface="Courier New" pitchFamily="34" charset="-120"/>
              </a:rPr>
              <a:t>        "base_url": "https://bedrock-mantle.us-east-1.api.aws/v1",</a:t>
            </a:r>
            <a:endParaRPr lang="en-US" sz="1050" dirty="0"/>
          </a:p>
          <a:p>
            <a:pPr marL="0" indent="0">
              <a:lnSpc>
                <a:spcPts val="1900"/>
              </a:lnSpc>
              <a:buNone/>
            </a:pPr>
            <a:r>
              <a:rPr lang="en-US" sz="1050" dirty="0">
                <a:solidFill>
                  <a:srgbClr val="232F3E"/>
                </a:solidFill>
                <a:latin typeface="Courier New" pitchFamily="34" charset="0"/>
                <a:ea typeface="Courier New" pitchFamily="34" charset="-122"/>
                <a:cs typeface="Courier New" pitchFamily="34" charset="-120"/>
              </a:rPr>
              <a:t>        "api_key": os.getenv("AWS_BEARER_TOKEN_BEDROCK"),</a:t>
            </a:r>
            <a:endParaRPr lang="en-US" sz="1050" dirty="0"/>
          </a:p>
          <a:p>
            <a:pPr marL="0" indent="0">
              <a:lnSpc>
                <a:spcPts val="1900"/>
              </a:lnSpc>
              <a:buNone/>
            </a:pPr>
            <a:r>
              <a:rPr lang="en-US" sz="1050" dirty="0">
                <a:solidFill>
                  <a:srgbClr val="232F3E"/>
                </a:solidFill>
                <a:latin typeface="Courier New" pitchFamily="34" charset="0"/>
                <a:ea typeface="Courier New" pitchFamily="34" charset="-122"/>
                <a:cs typeface="Courier New" pitchFamily="34" charset="-120"/>
              </a:rPr>
              <a:t>    },</a:t>
            </a:r>
            <a:endParaRPr lang="en-US" sz="1050" dirty="0"/>
          </a:p>
          <a:p>
            <a:pPr marL="0" indent="0">
              <a:lnSpc>
                <a:spcPts val="1900"/>
              </a:lnSpc>
              <a:buNone/>
            </a:pPr>
            <a:r>
              <a:rPr lang="en-US" sz="1050" dirty="0">
                <a:solidFill>
                  <a:srgbClr val="232F3E"/>
                </a:solidFill>
                <a:latin typeface="Courier New" pitchFamily="34" charset="0"/>
                <a:ea typeface="Courier New" pitchFamily="34" charset="-122"/>
                <a:cs typeface="Courier New" pitchFamily="34" charset="-120"/>
              </a:rPr>
              <a:t>    model_id="qwen.qwen3-coder-30b-a3b-instruct",</a:t>
            </a:r>
            <a:endParaRPr lang="en-US" sz="1050" dirty="0"/>
          </a:p>
          <a:p>
            <a:pPr marL="0" indent="0">
              <a:lnSpc>
                <a:spcPts val="1900"/>
              </a:lnSpc>
              <a:buNone/>
            </a:pPr>
            <a:r>
              <a:rPr lang="en-US" sz="1050" dirty="0">
                <a:solidFill>
                  <a:srgbClr val="232F3E"/>
                </a:solidFill>
                <a:latin typeface="Courier New" pitchFamily="34" charset="0"/>
                <a:ea typeface="Courier New" pitchFamily="34" charset="-122"/>
                <a:cs typeface="Courier New" pitchFamily="34" charset="-120"/>
              </a:rPr>
              <a:t>)</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498080" y="1755648"/>
          <a:ext cx="4053535" cy="2651760"/>
        </p:xfrm>
        <a:graphic>
          <a:graphicData uri="http://schemas.openxmlformats.org/drawingml/2006/table">
            <a:tbl>
              <a:tblPr/>
              <a:tblGrid>
                <a:gridCol w="1371600">
                  <a:extLst>
                    <a:ext uri="{9D8B030D-6E8A-4147-A177-3AD203B41FA5}">
                      <a16:colId xmlns:a16="http://schemas.microsoft.com/office/drawing/2014/main" val="20000"/>
                    </a:ext>
                  </a:extLst>
                </a:gridCol>
                <a:gridCol w="2681935">
                  <a:extLst>
                    <a:ext uri="{9D8B030D-6E8A-4147-A177-3AD203B41FA5}">
                      <a16:colId xmlns:a16="http://schemas.microsoft.com/office/drawing/2014/main" val="20001"/>
                    </a:ext>
                  </a:extLst>
                </a:gridCol>
              </a:tblGrid>
              <a:tr h="530352">
                <a:tc>
                  <a:txBody>
                    <a:bodyPr/>
                    <a:lstStyle/>
                    <a:p>
                      <a:pPr marL="0" indent="0" algn="l">
                        <a:buNone/>
                      </a:pPr>
                      <a:r>
                        <a:rPr lang="en-US" sz="1150" b="1" dirty="0">
                          <a:solidFill>
                            <a:srgbClr val="FFFFFF"/>
                          </a:solidFill>
                          <a:latin typeface="Apple SD Gothic Neo" pitchFamily="34" charset="0"/>
                          <a:ea typeface="Apple SD Gothic Neo" pitchFamily="34" charset="-122"/>
                          <a:cs typeface="Apple SD Gothic Neo" pitchFamily="34" charset="-120"/>
                        </a:rPr>
                        <a:t>항목</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50" b="1" dirty="0">
                          <a:solidFill>
                            <a:srgbClr val="FFFFFF"/>
                          </a:solidFill>
                          <a:latin typeface="Apple SD Gothic Neo" pitchFamily="34" charset="0"/>
                          <a:ea typeface="Apple SD Gothic Neo" pitchFamily="34" charset="-122"/>
                          <a:cs typeface="Apple SD Gothic Neo" pitchFamily="34" charset="-120"/>
                        </a:rPr>
                        <a:t>값</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530352">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모델 클래스</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FF9900"/>
                          </a:solidFill>
                          <a:latin typeface="Apple SD Gothic Neo" pitchFamily="34" charset="0"/>
                          <a:ea typeface="Apple SD Gothic Neo" pitchFamily="34" charset="-122"/>
                          <a:cs typeface="Apple SD Gothic Neo" pitchFamily="34" charset="-120"/>
                        </a:rPr>
                        <a:t>OpenAIModel</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모델</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qwen.qwen3-coder-30b</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2"/>
                  </a:ext>
                </a:extLst>
              </a:tr>
              <a:tr h="530352">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인증</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API Key (Bearer Token)</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리전</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us-east-1</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4"/>
                  </a:ext>
                </a:extLst>
              </a:tr>
            </a:tbl>
          </a:graphicData>
        </a:graphic>
      </p:graphicFrame>
      <p:sp>
        <p:nvSpPr>
          <p:cNvPr id="8" name="Shape 5"/>
          <p:cNvSpPr/>
          <p:nvPr/>
        </p:nvSpPr>
        <p:spPr>
          <a:xfrm>
            <a:off x="7498080" y="3913632"/>
            <a:ext cx="4053535" cy="493776"/>
          </a:xfrm>
          <a:prstGeom prst="roundRect">
            <a:avLst>
              <a:gd name="adj" fmla="val 11111"/>
            </a:avLst>
          </a:prstGeom>
          <a:solidFill>
            <a:srgbClr val="FFF4E5"/>
          </a:solidFill>
          <a:ln/>
        </p:spPr>
        <p:txBody>
          <a:bodyPr/>
          <a:lstStyle/>
          <a:p>
            <a:endParaRPr lang="ko-Kore-KR" altLang="en-US"/>
          </a:p>
        </p:txBody>
      </p:sp>
      <p:sp>
        <p:nvSpPr>
          <p:cNvPr id="9" name="Text 6"/>
          <p:cNvSpPr txBox="1"/>
          <p:nvPr/>
        </p:nvSpPr>
        <p:spPr>
          <a:xfrm>
            <a:off x="7726680" y="3913632"/>
            <a:ext cx="3596335" cy="493776"/>
          </a:xfrm>
          <a:prstGeom prst="rect">
            <a:avLst/>
          </a:prstGeom>
          <a:noFill/>
          <a:ln/>
        </p:spPr>
        <p:txBody>
          <a:bodyPr wrap="square" lIns="0" tIns="0" rIns="0" bIns="0" rtlCol="0" anchor="ctr"/>
          <a:lstStyle/>
          <a:p>
            <a:pPr marL="0" indent="0">
              <a:buNone/>
            </a:pPr>
            <a:r>
              <a:rPr lang="en-US" sz="1150" b="1" dirty="0">
                <a:solidFill>
                  <a:srgbClr val="FF9900"/>
                </a:solidFill>
                <a:latin typeface="Apple SD Gothic Neo" pitchFamily="34" charset="0"/>
                <a:ea typeface="Apple SD Gothic Neo" pitchFamily="34" charset="-122"/>
                <a:cs typeface="Apple SD Gothic Neo" pitchFamily="34" charset="-120"/>
              </a:rPr>
              <a:t>BedrockModel 이 아니다</a:t>
            </a:r>
            <a:endParaRPr lang="en-US" sz="1150" dirty="0"/>
          </a:p>
        </p:txBody>
      </p:sp>
      <p:sp>
        <p:nvSpPr>
          <p:cNvPr id="10" name="Shape 7"/>
          <p:cNvSpPr/>
          <p:nvPr/>
        </p:nvSpPr>
        <p:spPr>
          <a:xfrm>
            <a:off x="640080" y="4617720"/>
            <a:ext cx="10911535" cy="1417320"/>
          </a:xfrm>
          <a:prstGeom prst="roundRect">
            <a:avLst>
              <a:gd name="adj" fmla="val 3871"/>
            </a:avLst>
          </a:prstGeom>
          <a:solidFill>
            <a:srgbClr val="F2F7FF"/>
          </a:solidFill>
          <a:ln/>
        </p:spPr>
        <p:txBody>
          <a:bodyPr/>
          <a:lstStyle/>
          <a:p>
            <a:endParaRPr lang="ko-Kore-KR" altLang="en-US"/>
          </a:p>
        </p:txBody>
      </p:sp>
      <p:sp>
        <p:nvSpPr>
          <p:cNvPr id="11" name="Text 8"/>
          <p:cNvSpPr txBox="1"/>
          <p:nvPr/>
        </p:nvSpPr>
        <p:spPr>
          <a:xfrm>
            <a:off x="1005840" y="4617720"/>
            <a:ext cx="10180015" cy="1417320"/>
          </a:xfrm>
          <a:prstGeom prst="rect">
            <a:avLst/>
          </a:prstGeom>
          <a:noFill/>
          <a:ln/>
        </p:spPr>
        <p:txBody>
          <a:bodyPr wrap="square" lIns="0" tIns="0" rIns="0" bIns="0" rtlCol="0" anchor="ctr"/>
          <a:lstStyle/>
          <a:p>
            <a:pPr marL="0" indent="0">
              <a:lnSpc>
                <a:spcPts val="2300"/>
              </a:lnSpc>
              <a:buNone/>
            </a:pPr>
            <a:r>
              <a:rPr lang="en-US" sz="1250" b="1" dirty="0">
                <a:solidFill>
                  <a:srgbClr val="527FFF"/>
                </a:solidFill>
                <a:latin typeface="Apple SD Gothic Neo" pitchFamily="34" charset="0"/>
                <a:ea typeface="Apple SD Gothic Neo" pitchFamily="34" charset="-122"/>
                <a:cs typeface="Apple SD Gothic Neo" pitchFamily="34" charset="-120"/>
              </a:rPr>
              <a:t>무엇이 달라졌나 — </a:t>
            </a:r>
            <a:r>
              <a:rPr lang="en-US" sz="1250" dirty="0">
                <a:solidFill>
                  <a:srgbClr val="4A5561"/>
                </a:solidFill>
                <a:latin typeface="Apple SD Gothic Neo" pitchFamily="34" charset="0"/>
                <a:ea typeface="Apple SD Gothic Neo" pitchFamily="34" charset="-122"/>
                <a:cs typeface="Apple SD Gothic Neo" pitchFamily="34" charset="-120"/>
              </a:rPr>
              <a:t>원래 방식이면 IAM Role 생성 + SigV4 서명 + 모델 액세스 승인이 필요하다.
Mantle 엔드포인트는 OpenAI 호환이라 API Key 하나로 끝난다. 이름은 OpenAI지만 실제로 부르는 건 Bedrock의 Qwen 모델이다.
</a:t>
            </a:r>
            <a:r>
              <a:rPr lang="en-US" sz="1250" b="1" dirty="0">
                <a:solidFill>
                  <a:srgbClr val="232F3E"/>
                </a:solidFill>
                <a:latin typeface="Apple SD Gothic Neo" pitchFamily="34" charset="0"/>
                <a:ea typeface="Apple SD Gothic Neo" pitchFamily="34" charset="-122"/>
                <a:cs typeface="Apple SD Gothic Neo" pitchFamily="34" charset="-120"/>
              </a:rPr>
              <a:t>모델은 30B — 아주 큰 모델이 아니다. 이 정도로도 kubectl 출력을 읽고 가설을 만드는 작업은 됐다.</a:t>
            </a:r>
            <a:endParaRPr lang="en-US" sz="1250" dirty="0"/>
          </a:p>
        </p:txBody>
      </p:sp>
      <p:sp>
        <p:nvSpPr>
          <p:cNvPr id="13" name="Text 9"/>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기술 ②</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Strands Agents — 손발</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에이전트가 "자율적"이라는 말의 실체는 이 루프다. 코드는 도구를 등록만 하고, 호출 여부는 LLM이 정한다.</a:t>
            </a:r>
            <a:endParaRPr lang="en-US" sz="1300" dirty="0"/>
          </a:p>
        </p:txBody>
      </p:sp>
      <p:pic>
        <p:nvPicPr>
          <p:cNvPr id="5" name="Image 0" descr="/sessions/vibrant-jolly-ramanujan/mnt/uploads/slide-16-agent-loop.png"/>
          <p:cNvPicPr>
            <a:picLocks noChangeAspect="1"/>
          </p:cNvPicPr>
          <p:nvPr/>
        </p:nvPicPr>
        <p:blipFill>
          <a:blip r:embed="rId3"/>
          <a:stretch>
            <a:fillRect/>
          </a:stretch>
        </p:blipFill>
        <p:spPr>
          <a:xfrm>
            <a:off x="1694947" y="1572768"/>
            <a:ext cx="8801801" cy="4782312"/>
          </a:xfrm>
          <a:prstGeom prst="rect">
            <a:avLst/>
          </a:prstGeom>
        </p:spPr>
      </p:pic>
      <p:sp>
        <p:nvSpPr>
          <p:cNvPr id="7" name="Text 3"/>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기술 ③</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AWS FIS — 실행기</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EKS 전용 도구가 아니다. AWS 리소스 전반에 장애를 주입하는 관리형 서비스이고, 우리는 그중 EKS Pod 액션만 썼다.</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755648"/>
          <a:ext cx="6400800" cy="3209544"/>
        </p:xfrm>
        <a:graphic>
          <a:graphicData uri="http://schemas.openxmlformats.org/drawingml/2006/table">
            <a:tbl>
              <a:tblPr/>
              <a:tblGrid>
                <a:gridCol w="196596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tblGrid>
              <a:tr h="356616">
                <a:tc>
                  <a:txBody>
                    <a:bodyPr/>
                    <a:lstStyle/>
                    <a:p>
                      <a:pPr marL="0" indent="0" algn="l">
                        <a:buNone/>
                      </a:pPr>
                      <a:r>
                        <a:rPr lang="en-US" sz="1050" b="1" dirty="0">
                          <a:solidFill>
                            <a:srgbClr val="FFFFFF"/>
                          </a:solidFill>
                          <a:latin typeface="Apple SD Gothic Neo" pitchFamily="34" charset="0"/>
                          <a:ea typeface="Apple SD Gothic Neo" pitchFamily="34" charset="-122"/>
                          <a:cs typeface="Apple SD Gothic Neo" pitchFamily="34" charset="-120"/>
                        </a:rPr>
                        <a:t>대상</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Apple SD Gothic Neo" pitchFamily="34" charset="0"/>
                          <a:ea typeface="Apple SD Gothic Neo" pitchFamily="34" charset="-122"/>
                          <a:cs typeface="Apple SD Gothic Neo" pitchFamily="34" charset="-120"/>
                        </a:rPr>
                        <a:t>대표 액션</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356616">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EC2</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인스턴스 종료·재부팅·중지, Spot 중단 시뮬레이션</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EKS</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050" b="1" dirty="0">
                          <a:solidFill>
                            <a:srgbClr val="FF9900"/>
                          </a:solidFill>
                          <a:latin typeface="Apple SD Gothic Neo" pitchFamily="34" charset="0"/>
                          <a:ea typeface="Apple SD Gothic Neo" pitchFamily="34" charset="-122"/>
                          <a:cs typeface="Apple SD Gothic Neo" pitchFamily="34" charset="-120"/>
                        </a:rPr>
                        <a:t>Pod CPU·메모리·I/O·네트워크 장애, 노드그룹 인스턴스 종료</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2"/>
                  </a:ext>
                </a:extLst>
              </a:tr>
              <a:tr h="356616">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ECS</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태스크 중지, 컨테이너 인스턴스 드레인</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RDS / Aurora</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DB 인스턴스 재부팅, 클러스터 페일오버</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4"/>
                  </a:ext>
                </a:extLst>
              </a:tr>
              <a:tr h="356616">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ElastiCache</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가용영역 전원 차단</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6616">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Network</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연결 차단, 리전 간·Transit Gateway 연결 장애</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6"/>
                  </a:ext>
                </a:extLst>
              </a:tr>
              <a:tr h="356616">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Lambda / S3 / DynamoDB</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함수 오류 주입, 복제 일시 중지</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6616">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AWS API 자체</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API 내부 오류·스로틀링·응답 불가 주입</a:t>
                      </a:r>
                      <a:endParaRPr lang="en-US" sz="1050" dirty="0">
                        <a:latin typeface="Apple SD Gothic Neo" charset="0"/>
                        <a:ea typeface="Apple SD Gothic Neo" charset="0"/>
                        <a:cs typeface="Apple SD Gothic Neo" charset="0"/>
                      </a:endParaRPr>
                    </a:p>
                  </a:txBody>
                  <a:tcPr marL="114300" marR="114300" marT="38100" marB="381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8"/>
                  </a:ext>
                </a:extLst>
              </a:tr>
            </a:tbl>
          </a:graphicData>
        </a:graphic>
      </p:graphicFrame>
      <p:sp>
        <p:nvSpPr>
          <p:cNvPr id="6" name="Text 3"/>
          <p:cNvSpPr txBox="1"/>
          <p:nvPr/>
        </p:nvSpPr>
        <p:spPr>
          <a:xfrm>
            <a:off x="640080" y="5230368"/>
            <a:ext cx="6400800" cy="329184"/>
          </a:xfrm>
          <a:prstGeom prst="rect">
            <a:avLst/>
          </a:prstGeom>
          <a:noFill/>
          <a:ln/>
        </p:spPr>
        <p:txBody>
          <a:bodyPr wrap="square" lIns="0" tIns="0" rIns="0" bIns="0" rtlCol="0" anchor="ctr"/>
          <a:lstStyle/>
          <a:p>
            <a:pPr marL="0" indent="0">
              <a:buNone/>
            </a:pPr>
            <a:r>
              <a:rPr lang="en-US" sz="1150" b="1" dirty="0">
                <a:solidFill>
                  <a:srgbClr val="232F3E"/>
                </a:solidFill>
                <a:latin typeface="Apple SD Gothic Neo" pitchFamily="34" charset="0"/>
                <a:ea typeface="Apple SD Gothic Neo" pitchFamily="34" charset="-122"/>
                <a:cs typeface="Apple SD Gothic Neo" pitchFamily="34" charset="-120"/>
              </a:rPr>
              <a:t>→  우리가 쓴 것은 EKS Pod 액션뿐. 나머지는 그대로 남아 있는 확장 여지다</a:t>
            </a:r>
            <a:endParaRPr lang="en-US" sz="1150" dirty="0"/>
          </a:p>
        </p:txBody>
      </p:sp>
      <p:sp>
        <p:nvSpPr>
          <p:cNvPr id="7" name="Shape 4"/>
          <p:cNvSpPr/>
          <p:nvPr/>
        </p:nvSpPr>
        <p:spPr>
          <a:xfrm>
            <a:off x="7406640" y="1755648"/>
            <a:ext cx="4144975" cy="1810512"/>
          </a:xfrm>
          <a:prstGeom prst="roundRect">
            <a:avLst>
              <a:gd name="adj" fmla="val 3030"/>
            </a:avLst>
          </a:prstGeom>
          <a:solidFill>
            <a:srgbClr val="F2F7FF"/>
          </a:solidFill>
          <a:ln/>
        </p:spPr>
        <p:txBody>
          <a:bodyPr/>
          <a:lstStyle/>
          <a:p>
            <a:endParaRPr lang="ko-Kore-KR" altLang="en-US"/>
          </a:p>
        </p:txBody>
      </p:sp>
      <p:sp>
        <p:nvSpPr>
          <p:cNvPr id="8" name="Text 5"/>
          <p:cNvSpPr txBox="1"/>
          <p:nvPr/>
        </p:nvSpPr>
        <p:spPr>
          <a:xfrm>
            <a:off x="7680960" y="1847088"/>
            <a:ext cx="3596335" cy="292608"/>
          </a:xfrm>
          <a:prstGeom prst="rect">
            <a:avLst/>
          </a:prstGeom>
          <a:noFill/>
          <a:ln/>
        </p:spPr>
        <p:txBody>
          <a:bodyPr wrap="square" lIns="0" tIns="0" rIns="0" bIns="0" rtlCol="0" anchor="ctr"/>
          <a:lstStyle/>
          <a:p>
            <a:pPr marL="0" indent="0">
              <a:buNone/>
            </a:pPr>
            <a:r>
              <a:rPr lang="en-US" sz="1200" b="1" dirty="0">
                <a:solidFill>
                  <a:srgbClr val="527FFF"/>
                </a:solidFill>
                <a:latin typeface="Apple SD Gothic Neo" pitchFamily="34" charset="0"/>
                <a:ea typeface="Apple SD Gothic Neo" pitchFamily="34" charset="-122"/>
                <a:cs typeface="Apple SD Gothic Neo" pitchFamily="34" charset="-120"/>
              </a:rPr>
              <a:t>헷갈리기 쉬운 두 개념</a:t>
            </a:r>
            <a:endParaRPr lang="en-US" sz="1200" dirty="0"/>
          </a:p>
        </p:txBody>
      </p:sp>
      <p:sp>
        <p:nvSpPr>
          <p:cNvPr id="9" name="Text 6"/>
          <p:cNvSpPr txBox="1"/>
          <p:nvPr/>
        </p:nvSpPr>
        <p:spPr>
          <a:xfrm>
            <a:off x="7680960" y="2157984"/>
            <a:ext cx="3596335" cy="1325880"/>
          </a:xfrm>
          <a:prstGeom prst="rect">
            <a:avLst/>
          </a:prstGeom>
          <a:noFill/>
          <a:ln/>
        </p:spPr>
        <p:txBody>
          <a:bodyPr wrap="square" lIns="0" tIns="0" rIns="0" bIns="0" rtlCol="0" anchor="t"/>
          <a:lstStyle/>
          <a:p>
            <a:pPr marL="0" indent="0">
              <a:lnSpc>
                <a:spcPts val="1900"/>
              </a:lnSpc>
              <a:buNone/>
            </a:pPr>
            <a:r>
              <a:rPr lang="en-US" sz="1250" b="1" dirty="0">
                <a:solidFill>
                  <a:srgbClr val="232F3E"/>
                </a:solidFill>
                <a:latin typeface="Apple SD Gothic Neo" pitchFamily="34" charset="0"/>
                <a:ea typeface="Apple SD Gothic Neo" pitchFamily="34" charset="-122"/>
                <a:cs typeface="Apple SD Gothic Neo" pitchFamily="34" charset="-120"/>
              </a:rPr>
              <a:t>실험 템플릿 (Experiment Template)
</a:t>
            </a:r>
            <a:r>
              <a:rPr lang="en-US" sz="1100" dirty="0">
                <a:solidFill>
                  <a:srgbClr val="4A5561"/>
                </a:solidFill>
                <a:latin typeface="Apple SD Gothic Neo" pitchFamily="34" charset="0"/>
                <a:ea typeface="Apple SD Gothic Neo" pitchFamily="34" charset="-122"/>
                <a:cs typeface="Apple SD Gothic Neo" pitchFamily="34" charset="-120"/>
              </a:rPr>
              <a:t>설계도. 한 번 만들면 계속 재사용
</a:t>
            </a:r>
            <a:r>
              <a:rPr lang="en-US" sz="1250" b="1" dirty="0">
                <a:solidFill>
                  <a:srgbClr val="232F3E"/>
                </a:solidFill>
                <a:latin typeface="Apple SD Gothic Neo" pitchFamily="34" charset="0"/>
                <a:ea typeface="Apple SD Gothic Neo" pitchFamily="34" charset="-122"/>
                <a:cs typeface="Apple SD Gothic Neo" pitchFamily="34" charset="-120"/>
              </a:rPr>
              <a:t>실험 (Experiment)
</a:t>
            </a:r>
            <a:r>
              <a:rPr lang="en-US" sz="1100" dirty="0">
                <a:solidFill>
                  <a:srgbClr val="4A5561"/>
                </a:solidFill>
                <a:latin typeface="Apple SD Gothic Neo" pitchFamily="34" charset="0"/>
                <a:ea typeface="Apple SD Gothic Neo" pitchFamily="34" charset="-122"/>
                <a:cs typeface="Apple SD Gothic Neo" pitchFamily="34" charset="-120"/>
              </a:rPr>
              <a:t>템플릿을 실행한 1회분. 상태·이력이 남는다</a:t>
            </a:r>
            <a:endParaRPr lang="en-US" sz="1250" dirty="0"/>
          </a:p>
        </p:txBody>
      </p:sp>
      <p:sp>
        <p:nvSpPr>
          <p:cNvPr id="10" name="Shape 7"/>
          <p:cNvSpPr/>
          <p:nvPr/>
        </p:nvSpPr>
        <p:spPr>
          <a:xfrm>
            <a:off x="7406640" y="3675888"/>
            <a:ext cx="4144975" cy="658368"/>
          </a:xfrm>
          <a:prstGeom prst="roundRect">
            <a:avLst>
              <a:gd name="adj" fmla="val 8333"/>
            </a:avLst>
          </a:prstGeom>
          <a:solidFill>
            <a:srgbClr val="FDF0EE"/>
          </a:solidFill>
          <a:ln/>
        </p:spPr>
        <p:txBody>
          <a:bodyPr/>
          <a:lstStyle/>
          <a:p>
            <a:endParaRPr lang="ko-Kore-KR" altLang="en-US"/>
          </a:p>
        </p:txBody>
      </p:sp>
      <p:sp>
        <p:nvSpPr>
          <p:cNvPr id="11" name="Text 8"/>
          <p:cNvSpPr txBox="1"/>
          <p:nvPr/>
        </p:nvSpPr>
        <p:spPr>
          <a:xfrm>
            <a:off x="7680960" y="3675888"/>
            <a:ext cx="3596335" cy="658368"/>
          </a:xfrm>
          <a:prstGeom prst="rect">
            <a:avLst/>
          </a:prstGeom>
          <a:noFill/>
          <a:ln/>
        </p:spPr>
        <p:txBody>
          <a:bodyPr wrap="square" lIns="0" tIns="0" rIns="0" bIns="0" rtlCol="0" anchor="ctr"/>
          <a:lstStyle/>
          <a:p>
            <a:pPr marL="0" indent="0">
              <a:lnSpc>
                <a:spcPts val="1700"/>
              </a:lnSpc>
              <a:buNone/>
            </a:pPr>
            <a:r>
              <a:rPr lang="en-US" sz="1150" b="1" dirty="0">
                <a:solidFill>
                  <a:srgbClr val="D13212"/>
                </a:solidFill>
                <a:latin typeface="Apple SD Gothic Neo" pitchFamily="34" charset="0"/>
                <a:ea typeface="Apple SD Gothic Neo" pitchFamily="34" charset="-122"/>
                <a:cs typeface="Apple SD Gothic Neo" pitchFamily="34" charset="-120"/>
              </a:rPr>
              <a:t>우리 에이전트는 템플릿까지만 만들었다.</a:t>
            </a:r>
            <a:endParaRPr lang="en-US" sz="1150" dirty="0"/>
          </a:p>
          <a:p>
            <a:pPr marL="0" indent="0">
              <a:lnSpc>
                <a:spcPts val="1700"/>
              </a:lnSpc>
              <a:buNone/>
            </a:pPr>
            <a:r>
              <a:rPr lang="en-US" sz="1150" b="1" dirty="0">
                <a:solidFill>
                  <a:srgbClr val="D13212"/>
                </a:solidFill>
                <a:latin typeface="Apple SD Gothic Neo" pitchFamily="34" charset="0"/>
                <a:ea typeface="Apple SD Gothic Neo" pitchFamily="34" charset="-122"/>
                <a:cs typeface="Apple SD Gothic Neo" pitchFamily="34" charset="-120"/>
              </a:rPr>
              <a:t>실험은 실행하지 않았다.</a:t>
            </a:r>
            <a:endParaRPr lang="en-US" sz="1150" dirty="0"/>
          </a:p>
        </p:txBody>
      </p:sp>
      <p:sp>
        <p:nvSpPr>
          <p:cNvPr id="12" name="Shape 9"/>
          <p:cNvSpPr/>
          <p:nvPr/>
        </p:nvSpPr>
        <p:spPr>
          <a:xfrm>
            <a:off x="7406640" y="4443984"/>
            <a:ext cx="4144975" cy="1572768"/>
          </a:xfrm>
          <a:prstGeom prst="roundRect">
            <a:avLst>
              <a:gd name="adj" fmla="val 3488"/>
            </a:avLst>
          </a:prstGeom>
          <a:solidFill>
            <a:srgbClr val="FFF4E5"/>
          </a:solidFill>
          <a:ln/>
        </p:spPr>
        <p:txBody>
          <a:bodyPr/>
          <a:lstStyle/>
          <a:p>
            <a:endParaRPr lang="ko-Kore-KR" altLang="en-US"/>
          </a:p>
        </p:txBody>
      </p:sp>
      <p:sp>
        <p:nvSpPr>
          <p:cNvPr id="13" name="Text 10"/>
          <p:cNvSpPr txBox="1"/>
          <p:nvPr/>
        </p:nvSpPr>
        <p:spPr>
          <a:xfrm>
            <a:off x="7680960" y="4535424"/>
            <a:ext cx="3596335" cy="292608"/>
          </a:xfrm>
          <a:prstGeom prst="rect">
            <a:avLst/>
          </a:prstGeom>
          <a:noFill/>
          <a:ln/>
        </p:spPr>
        <p:txBody>
          <a:bodyPr wrap="square" lIns="0" tIns="0" rIns="0" bIns="0" rtlCol="0" anchor="ctr"/>
          <a:lstStyle/>
          <a:p>
            <a:pPr marL="0" indent="0">
              <a:buNone/>
            </a:pPr>
            <a:r>
              <a:rPr lang="en-US" sz="1200" b="1" dirty="0">
                <a:solidFill>
                  <a:srgbClr val="FF9900"/>
                </a:solidFill>
                <a:latin typeface="Apple SD Gothic Neo" pitchFamily="34" charset="0"/>
                <a:ea typeface="Apple SD Gothic Neo" pitchFamily="34" charset="-122"/>
                <a:cs typeface="Apple SD Gothic Neo" pitchFamily="34" charset="-120"/>
              </a:rPr>
              <a:t>요금 — action-minute당 $0.10</a:t>
            </a:r>
            <a:endParaRPr lang="en-US" sz="1200" dirty="0"/>
          </a:p>
        </p:txBody>
      </p:sp>
      <p:sp>
        <p:nvSpPr>
          <p:cNvPr id="14" name="Text 11"/>
          <p:cNvSpPr txBox="1"/>
          <p:nvPr/>
        </p:nvSpPr>
        <p:spPr>
          <a:xfrm>
            <a:off x="7680960" y="4846320"/>
            <a:ext cx="3596335" cy="10515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4A5561"/>
                </a:solidFill>
                <a:latin typeface="Apple SD Gothic Neo" pitchFamily="34" charset="0"/>
                <a:ea typeface="Apple SD Gothic Neo" pitchFamily="34" charset="-122"/>
                <a:cs typeface="Apple SD Gothic Neo" pitchFamily="34" charset="-120"/>
              </a:rPr>
              <a:t>5분짜리 액션 1개 = $0.50</a:t>
            </a:r>
            <a:endParaRPr lang="en-US" sz="1100" dirty="0"/>
          </a:p>
          <a:p>
            <a:pPr marL="342900" indent="-342900">
              <a:spcAft>
                <a:spcPts val="500"/>
              </a:spcAft>
              <a:buSzPct val="100000"/>
              <a:buChar char="•"/>
            </a:pPr>
            <a:r>
              <a:rPr lang="en-US" sz="1100" dirty="0">
                <a:solidFill>
                  <a:srgbClr val="4A5561"/>
                </a:solidFill>
                <a:latin typeface="Apple SD Gothic Neo" pitchFamily="34" charset="0"/>
                <a:ea typeface="Apple SD Gothic Neo" pitchFamily="34" charset="-122"/>
                <a:cs typeface="Apple SD Gothic Neo" pitchFamily="34" charset="-120"/>
              </a:rPr>
              <a:t>템플릿만 만들고 실행 안 하면 $0</a:t>
            </a:r>
            <a:endParaRPr lang="en-US" sz="1100" dirty="0"/>
          </a:p>
          <a:p>
            <a:pPr marL="342900" indent="-342900">
              <a:spcAft>
                <a:spcPts val="500"/>
              </a:spcAft>
              <a:buSzPct val="100000"/>
              <a:buChar char="•"/>
            </a:pPr>
            <a:r>
              <a:rPr lang="en-US" sz="1100" dirty="0">
                <a:solidFill>
                  <a:srgbClr val="4A5561"/>
                </a:solidFill>
                <a:latin typeface="Apple SD Gothic Neo" pitchFamily="34" charset="0"/>
                <a:ea typeface="Apple SD Gothic Neo" pitchFamily="34" charset="-122"/>
                <a:cs typeface="Apple SD Gothic Neo" pitchFamily="34" charset="-120"/>
              </a:rPr>
              <a:t>준비물: FIS 실험 역할 1개 (ChaosAgentFISRole)</a:t>
            </a:r>
            <a:endParaRPr lang="en-US" sz="1100" dirty="0"/>
          </a:p>
        </p:txBody>
      </p:sp>
      <p:sp>
        <p:nvSpPr>
          <p:cNvPr id="16" name="Text 12"/>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기술 ③</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FIS 실험 템플릿은 어떻게 생겼나</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템플릿은 세 덩어리로 끝난다. 그리고 우리는 그중 안전장치 하나를 비워뒀다.</a:t>
            </a:r>
            <a:endParaRPr lang="en-US" sz="1300" dirty="0"/>
          </a:p>
        </p:txBody>
      </p:sp>
      <p:pic>
        <p:nvPicPr>
          <p:cNvPr id="5" name="Image 0" descr="/sessions/vibrant-jolly-ramanujan/mnt/uploads/slide-18-fis-structure.png"/>
          <p:cNvPicPr>
            <a:picLocks noChangeAspect="1"/>
          </p:cNvPicPr>
          <p:nvPr/>
        </p:nvPicPr>
        <p:blipFill>
          <a:blip r:embed="rId3"/>
          <a:stretch>
            <a:fillRect/>
          </a:stretch>
        </p:blipFill>
        <p:spPr>
          <a:xfrm>
            <a:off x="2110588" y="1572768"/>
            <a:ext cx="7970520" cy="4782312"/>
          </a:xfrm>
          <a:prstGeom prst="rect">
            <a:avLst/>
          </a:prstGeom>
        </p:spPr>
      </p:pic>
      <p:sp>
        <p:nvSpPr>
          <p:cNvPr id="7" name="Text 3"/>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기술 ③</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왜 kubectl delete pod 가 아니라 FIS인가</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같은 Pod를 죽이는 일인데 FIS를 쓴 이유는 통제와 기록이다.</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755648"/>
          <a:ext cx="6675120" cy="2743200"/>
        </p:xfrm>
        <a:graphic>
          <a:graphicData uri="http://schemas.openxmlformats.org/drawingml/2006/table">
            <a:tbl>
              <a:tblPr/>
              <a:tblGrid>
                <a:gridCol w="137160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457200">
                <a:tc>
                  <a:txBody>
                    <a:bodyPr/>
                    <a:lstStyle/>
                    <a:p>
                      <a:pPr marL="0" indent="0" algn="l">
                        <a:buNone/>
                      </a:pP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Apple SD Gothic Neo" pitchFamily="34" charset="0"/>
                          <a:ea typeface="Apple SD Gothic Neo" pitchFamily="34" charset="-122"/>
                          <a:cs typeface="Apple SD Gothic Neo" pitchFamily="34" charset="-120"/>
                        </a:rPr>
                        <a:t>직접 스크립트</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050" b="1" dirty="0">
                          <a:solidFill>
                            <a:srgbClr val="FFFFFF"/>
                          </a:solidFill>
                          <a:latin typeface="Apple SD Gothic Neo" pitchFamily="34" charset="0"/>
                          <a:ea typeface="Apple SD Gothic Neo" pitchFamily="34" charset="-122"/>
                          <a:cs typeface="Apple SD Gothic Neo" pitchFamily="34" charset="-120"/>
                        </a:rPr>
                        <a:t>AWS FIS</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457200">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권한 범위</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실행자의 권한 전체</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1A88D"/>
                          </a:solidFill>
                          <a:latin typeface="Apple SD Gothic Neo" pitchFamily="34" charset="0"/>
                          <a:ea typeface="Apple SD Gothic Neo" pitchFamily="34" charset="-122"/>
                          <a:cs typeface="Apple SD Gothic Neo" pitchFamily="34" charset="-120"/>
                        </a:rPr>
                        <a:t>IAM Role로 액션·리소스 한정</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중단</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사람이 보다가 수동 중단</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050" b="1" dirty="0">
                          <a:solidFill>
                            <a:srgbClr val="01A88D"/>
                          </a:solidFill>
                          <a:latin typeface="Apple SD Gothic Neo" pitchFamily="34" charset="0"/>
                          <a:ea typeface="Apple SD Gothic Neo" pitchFamily="34" charset="-122"/>
                          <a:cs typeface="Apple SD Gothic Neo" pitchFamily="34" charset="-120"/>
                        </a:rPr>
                        <a:t>CloudWatch 알람 기반 자동 중단</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2"/>
                  </a:ext>
                </a:extLst>
              </a:tr>
              <a:tr h="457200">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원복</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직접 구현해야 함</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1A88D"/>
                          </a:solidFill>
                          <a:latin typeface="Apple SD Gothic Neo" pitchFamily="34" charset="0"/>
                          <a:ea typeface="Apple SD Gothic Neo" pitchFamily="34" charset="-122"/>
                          <a:cs typeface="Apple SD Gothic Neo" pitchFamily="34" charset="-120"/>
                        </a:rPr>
                        <a:t>지속 시간 종료 시 자동 해제</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이력</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남지 않음</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050" b="1" dirty="0">
                          <a:solidFill>
                            <a:srgbClr val="01A88D"/>
                          </a:solidFill>
                          <a:latin typeface="Apple SD Gothic Neo" pitchFamily="34" charset="0"/>
                          <a:ea typeface="Apple SD Gothic Neo" pitchFamily="34" charset="-122"/>
                          <a:cs typeface="Apple SD Gothic Neo" pitchFamily="34" charset="-120"/>
                        </a:rPr>
                        <a:t>실행 이력·상태를 API로 조회</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4"/>
                  </a:ext>
                </a:extLst>
              </a:tr>
              <a:tr h="457200">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재현·공유</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5561"/>
                          </a:solidFill>
                          <a:latin typeface="Apple SD Gothic Neo" pitchFamily="34" charset="0"/>
                          <a:ea typeface="Apple SD Gothic Neo" pitchFamily="34" charset="-122"/>
                          <a:cs typeface="Apple SD Gothic Neo" pitchFamily="34" charset="-120"/>
                        </a:rPr>
                        <a:t>각자 로컬 스크립트</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1A88D"/>
                          </a:solidFill>
                          <a:latin typeface="Apple SD Gothic Neo" pitchFamily="34" charset="0"/>
                          <a:ea typeface="Apple SD Gothic Neo" pitchFamily="34" charset="-122"/>
                          <a:cs typeface="Apple SD Gothic Neo" pitchFamily="34" charset="-120"/>
                        </a:rPr>
                        <a:t>템플릿을 팀이 공유·재실행</a:t>
                      </a:r>
                      <a:endParaRPr lang="en-US" sz="10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640080" y="4709160"/>
            <a:ext cx="6675120" cy="1188720"/>
          </a:xfrm>
          <a:prstGeom prst="roundRect">
            <a:avLst>
              <a:gd name="adj" fmla="val 4615"/>
            </a:avLst>
          </a:prstGeom>
          <a:solidFill>
            <a:srgbClr val="E8F8F5"/>
          </a:solidFill>
          <a:ln/>
        </p:spPr>
        <p:txBody>
          <a:bodyPr/>
          <a:lstStyle/>
          <a:p>
            <a:endParaRPr lang="ko-Kore-KR" altLang="en-US"/>
          </a:p>
        </p:txBody>
      </p:sp>
      <p:sp>
        <p:nvSpPr>
          <p:cNvPr id="7" name="Text 4"/>
          <p:cNvSpPr txBox="1"/>
          <p:nvPr/>
        </p:nvSpPr>
        <p:spPr>
          <a:xfrm>
            <a:off x="960120" y="4709160"/>
            <a:ext cx="6035040" cy="1188720"/>
          </a:xfrm>
          <a:prstGeom prst="rect">
            <a:avLst/>
          </a:prstGeom>
          <a:noFill/>
          <a:ln/>
        </p:spPr>
        <p:txBody>
          <a:bodyPr wrap="square" lIns="0" tIns="0" rIns="0" bIns="0" rtlCol="0" anchor="ctr"/>
          <a:lstStyle/>
          <a:p>
            <a:pPr marL="0" indent="0">
              <a:lnSpc>
                <a:spcPts val="2100"/>
              </a:lnSpc>
              <a:buNone/>
            </a:pPr>
            <a:r>
              <a:rPr lang="en-US" sz="1200" b="1" dirty="0">
                <a:solidFill>
                  <a:srgbClr val="232F3E"/>
                </a:solidFill>
                <a:latin typeface="Apple SD Gothic Neo" pitchFamily="34" charset="0"/>
                <a:ea typeface="Apple SD Gothic Neo" pitchFamily="34" charset="-122"/>
                <a:cs typeface="Apple SD Gothic Neo" pitchFamily="34" charset="-120"/>
              </a:rPr>
              <a:t>LLM에게 셸 권한을 주는 것과, 미리 정의한 액션만 허용하는 IAM Role을 주는 것은 위험도가 전혀 다르다.
</a:t>
            </a:r>
            <a:r>
              <a:rPr lang="en-US" sz="1200" dirty="0">
                <a:solidFill>
                  <a:srgbClr val="4A5561"/>
                </a:solidFill>
                <a:latin typeface="Apple SD Gothic Neo" pitchFamily="34" charset="0"/>
                <a:ea typeface="Apple SD Gothic Neo" pitchFamily="34" charset="-122"/>
                <a:cs typeface="Apple SD Gothic Neo" pitchFamily="34" charset="-120"/>
              </a:rPr>
              <a:t>에이전트가 오작동해도 IAM 경계를 넘을 수 없다. 이게 FIS를 쓴 첫 번째 이유다.</a:t>
            </a:r>
            <a:endParaRPr lang="en-US" sz="1200" dirty="0"/>
          </a:p>
        </p:txBody>
      </p:sp>
      <p:sp>
        <p:nvSpPr>
          <p:cNvPr id="8" name="Text 5"/>
          <p:cNvSpPr txBox="1"/>
          <p:nvPr/>
        </p:nvSpPr>
        <p:spPr>
          <a:xfrm>
            <a:off x="7680960" y="1755648"/>
            <a:ext cx="3870655" cy="292608"/>
          </a:xfrm>
          <a:prstGeom prst="rect">
            <a:avLst/>
          </a:prstGeom>
          <a:noFill/>
          <a:ln/>
        </p:spPr>
        <p:txBody>
          <a:bodyPr wrap="square" lIns="0" tIns="0" rIns="0" bIns="0" rtlCol="0" anchor="ctr"/>
          <a:lstStyle/>
          <a:p>
            <a:pPr marL="0" indent="0">
              <a:buNone/>
            </a:pPr>
            <a:r>
              <a:rPr lang="en-US" sz="1250" b="1" dirty="0">
                <a:solidFill>
                  <a:srgbClr val="232F3E"/>
                </a:solidFill>
                <a:latin typeface="Apple SD Gothic Neo" pitchFamily="34" charset="0"/>
                <a:ea typeface="Apple SD Gothic Neo" pitchFamily="34" charset="-122"/>
                <a:cs typeface="Apple SD Gothic Neo" pitchFamily="34" charset="-120"/>
              </a:rPr>
              <a:t>주요 EKS Pod 액션 7개</a:t>
            </a:r>
            <a:endParaRPr lang="en-US" sz="1250" dirty="0"/>
          </a:p>
        </p:txBody>
      </p:sp>
      <p:sp>
        <p:nvSpPr>
          <p:cNvPr id="9" name="Shape 6"/>
          <p:cNvSpPr/>
          <p:nvPr/>
        </p:nvSpPr>
        <p:spPr>
          <a:xfrm>
            <a:off x="7680960" y="2121408"/>
            <a:ext cx="3870655" cy="365760"/>
          </a:xfrm>
          <a:prstGeom prst="roundRect">
            <a:avLst>
              <a:gd name="adj" fmla="val 15000"/>
            </a:avLst>
          </a:prstGeom>
          <a:solidFill>
            <a:srgbClr val="FFF4E5"/>
          </a:solidFill>
          <a:ln/>
        </p:spPr>
        <p:txBody>
          <a:bodyPr/>
          <a:lstStyle/>
          <a:p>
            <a:endParaRPr lang="ko-Kore-KR" altLang="en-US"/>
          </a:p>
        </p:txBody>
      </p:sp>
      <p:sp>
        <p:nvSpPr>
          <p:cNvPr id="10" name="Text 7"/>
          <p:cNvSpPr txBox="1"/>
          <p:nvPr/>
        </p:nvSpPr>
        <p:spPr>
          <a:xfrm>
            <a:off x="7863840" y="2121408"/>
            <a:ext cx="2148840" cy="365760"/>
          </a:xfrm>
          <a:prstGeom prst="rect">
            <a:avLst/>
          </a:prstGeom>
          <a:noFill/>
          <a:ln/>
        </p:spPr>
        <p:txBody>
          <a:bodyPr wrap="square" lIns="0" tIns="0" rIns="0" bIns="0" rtlCol="0" anchor="ctr"/>
          <a:lstStyle/>
          <a:p>
            <a:pPr marL="0" indent="0">
              <a:buNone/>
            </a:pPr>
            <a:r>
              <a:rPr lang="en-US" sz="900" b="1" dirty="0">
                <a:solidFill>
                  <a:srgbClr val="FF9900"/>
                </a:solidFill>
                <a:latin typeface="Courier New" pitchFamily="34" charset="0"/>
                <a:ea typeface="Courier New" pitchFamily="34" charset="-122"/>
                <a:cs typeface="Courier New" pitchFamily="34" charset="-120"/>
              </a:rPr>
              <a:t>aws:eks:pod-delete</a:t>
            </a:r>
            <a:endParaRPr lang="en-US" sz="900" dirty="0"/>
          </a:p>
        </p:txBody>
      </p:sp>
      <p:sp>
        <p:nvSpPr>
          <p:cNvPr id="11" name="Text 8"/>
          <p:cNvSpPr txBox="1"/>
          <p:nvPr/>
        </p:nvSpPr>
        <p:spPr>
          <a:xfrm>
            <a:off x="10058400" y="2121408"/>
            <a:ext cx="1310335" cy="365760"/>
          </a:xfrm>
          <a:prstGeom prst="rect">
            <a:avLst/>
          </a:prstGeom>
          <a:noFill/>
          <a:ln/>
        </p:spPr>
        <p:txBody>
          <a:bodyPr wrap="square" lIns="0" tIns="0" rIns="0" bIns="0" rtlCol="0" anchor="ctr"/>
          <a:lstStyle/>
          <a:p>
            <a:pPr marL="0" indent="0">
              <a:buNone/>
            </a:pPr>
            <a:r>
              <a:rPr lang="en-US" sz="950" dirty="0">
                <a:solidFill>
                  <a:srgbClr val="4A5561"/>
                </a:solidFill>
                <a:latin typeface="Apple SD Gothic Neo" pitchFamily="34" charset="0"/>
                <a:ea typeface="Apple SD Gothic Neo" pitchFamily="34" charset="-122"/>
                <a:cs typeface="Apple SD Gothic Neo" pitchFamily="34" charset="-120"/>
              </a:rPr>
              <a:t>Pod 강제 삭제</a:t>
            </a:r>
            <a:endParaRPr lang="en-US" sz="950" dirty="0"/>
          </a:p>
        </p:txBody>
      </p:sp>
      <p:sp>
        <p:nvSpPr>
          <p:cNvPr id="12" name="Shape 9"/>
          <p:cNvSpPr/>
          <p:nvPr/>
        </p:nvSpPr>
        <p:spPr>
          <a:xfrm>
            <a:off x="7680960" y="2523744"/>
            <a:ext cx="3870655" cy="365760"/>
          </a:xfrm>
          <a:prstGeom prst="roundRect">
            <a:avLst>
              <a:gd name="adj" fmla="val 15000"/>
            </a:avLst>
          </a:prstGeom>
          <a:solidFill>
            <a:srgbClr val="F7F8F8"/>
          </a:solidFill>
          <a:ln/>
        </p:spPr>
        <p:txBody>
          <a:bodyPr/>
          <a:lstStyle/>
          <a:p>
            <a:endParaRPr lang="ko-Kore-KR" altLang="en-US"/>
          </a:p>
        </p:txBody>
      </p:sp>
      <p:sp>
        <p:nvSpPr>
          <p:cNvPr id="13" name="Text 10"/>
          <p:cNvSpPr txBox="1"/>
          <p:nvPr/>
        </p:nvSpPr>
        <p:spPr>
          <a:xfrm>
            <a:off x="7863840" y="2523744"/>
            <a:ext cx="2148840" cy="365760"/>
          </a:xfrm>
          <a:prstGeom prst="rect">
            <a:avLst/>
          </a:prstGeom>
          <a:noFill/>
          <a:ln/>
        </p:spPr>
        <p:txBody>
          <a:bodyPr wrap="square" lIns="0" tIns="0" rIns="0" bIns="0" rtlCol="0" anchor="ctr"/>
          <a:lstStyle/>
          <a:p>
            <a:pPr marL="0" indent="0">
              <a:buNone/>
            </a:pPr>
            <a:r>
              <a:rPr lang="en-US" sz="900" b="1" dirty="0">
                <a:solidFill>
                  <a:srgbClr val="232F3E"/>
                </a:solidFill>
                <a:latin typeface="Courier New" pitchFamily="34" charset="0"/>
                <a:ea typeface="Courier New" pitchFamily="34" charset="-122"/>
                <a:cs typeface="Courier New" pitchFamily="34" charset="-120"/>
              </a:rPr>
              <a:t>aws:eks:pod-cpu-stress</a:t>
            </a:r>
            <a:endParaRPr lang="en-US" sz="900" dirty="0"/>
          </a:p>
        </p:txBody>
      </p:sp>
      <p:sp>
        <p:nvSpPr>
          <p:cNvPr id="14" name="Text 11"/>
          <p:cNvSpPr txBox="1"/>
          <p:nvPr/>
        </p:nvSpPr>
        <p:spPr>
          <a:xfrm>
            <a:off x="10058400" y="2523744"/>
            <a:ext cx="1310335" cy="365760"/>
          </a:xfrm>
          <a:prstGeom prst="rect">
            <a:avLst/>
          </a:prstGeom>
          <a:noFill/>
          <a:ln/>
        </p:spPr>
        <p:txBody>
          <a:bodyPr wrap="square" lIns="0" tIns="0" rIns="0" bIns="0" rtlCol="0" anchor="ctr"/>
          <a:lstStyle/>
          <a:p>
            <a:pPr marL="0" indent="0">
              <a:buNone/>
            </a:pPr>
            <a:r>
              <a:rPr lang="en-US" sz="950" dirty="0">
                <a:solidFill>
                  <a:srgbClr val="4A5561"/>
                </a:solidFill>
                <a:latin typeface="Apple SD Gothic Neo" pitchFamily="34" charset="0"/>
                <a:ea typeface="Apple SD Gothic Neo" pitchFamily="34" charset="-122"/>
                <a:cs typeface="Apple SD Gothic Neo" pitchFamily="34" charset="-120"/>
              </a:rPr>
              <a:t>CPU 부하 주입</a:t>
            </a:r>
            <a:endParaRPr lang="en-US" sz="950" dirty="0"/>
          </a:p>
        </p:txBody>
      </p:sp>
      <p:sp>
        <p:nvSpPr>
          <p:cNvPr id="15" name="Shape 12"/>
          <p:cNvSpPr/>
          <p:nvPr/>
        </p:nvSpPr>
        <p:spPr>
          <a:xfrm>
            <a:off x="7680960" y="2926080"/>
            <a:ext cx="3870655" cy="365760"/>
          </a:xfrm>
          <a:prstGeom prst="roundRect">
            <a:avLst>
              <a:gd name="adj" fmla="val 15000"/>
            </a:avLst>
          </a:prstGeom>
          <a:solidFill>
            <a:srgbClr val="F7F8F8"/>
          </a:solidFill>
          <a:ln/>
        </p:spPr>
        <p:txBody>
          <a:bodyPr/>
          <a:lstStyle/>
          <a:p>
            <a:endParaRPr lang="ko-Kore-KR" altLang="en-US"/>
          </a:p>
        </p:txBody>
      </p:sp>
      <p:sp>
        <p:nvSpPr>
          <p:cNvPr id="16" name="Text 13"/>
          <p:cNvSpPr txBox="1"/>
          <p:nvPr/>
        </p:nvSpPr>
        <p:spPr>
          <a:xfrm>
            <a:off x="7863840" y="2926080"/>
            <a:ext cx="2148840" cy="365760"/>
          </a:xfrm>
          <a:prstGeom prst="rect">
            <a:avLst/>
          </a:prstGeom>
          <a:noFill/>
          <a:ln/>
        </p:spPr>
        <p:txBody>
          <a:bodyPr wrap="square" lIns="0" tIns="0" rIns="0" bIns="0" rtlCol="0" anchor="ctr"/>
          <a:lstStyle/>
          <a:p>
            <a:pPr marL="0" indent="0">
              <a:buNone/>
            </a:pPr>
            <a:r>
              <a:rPr lang="en-US" sz="900" b="1" dirty="0">
                <a:solidFill>
                  <a:srgbClr val="232F3E"/>
                </a:solidFill>
                <a:latin typeface="Courier New" pitchFamily="34" charset="0"/>
                <a:ea typeface="Courier New" pitchFamily="34" charset="-122"/>
                <a:cs typeface="Courier New" pitchFamily="34" charset="-120"/>
              </a:rPr>
              <a:t>aws:eks:pod-memory-stress</a:t>
            </a:r>
            <a:endParaRPr lang="en-US" sz="900" dirty="0"/>
          </a:p>
        </p:txBody>
      </p:sp>
      <p:sp>
        <p:nvSpPr>
          <p:cNvPr id="17" name="Text 14"/>
          <p:cNvSpPr txBox="1"/>
          <p:nvPr/>
        </p:nvSpPr>
        <p:spPr>
          <a:xfrm>
            <a:off x="10058400" y="2926080"/>
            <a:ext cx="1310335" cy="365760"/>
          </a:xfrm>
          <a:prstGeom prst="rect">
            <a:avLst/>
          </a:prstGeom>
          <a:noFill/>
          <a:ln/>
        </p:spPr>
        <p:txBody>
          <a:bodyPr wrap="square" lIns="0" tIns="0" rIns="0" bIns="0" rtlCol="0" anchor="ctr"/>
          <a:lstStyle/>
          <a:p>
            <a:pPr marL="0" indent="0">
              <a:buNone/>
            </a:pPr>
            <a:r>
              <a:rPr lang="en-US" sz="950" dirty="0">
                <a:solidFill>
                  <a:srgbClr val="4A5561"/>
                </a:solidFill>
                <a:latin typeface="Apple SD Gothic Neo" pitchFamily="34" charset="0"/>
                <a:ea typeface="Apple SD Gothic Neo" pitchFamily="34" charset="-122"/>
                <a:cs typeface="Apple SD Gothic Neo" pitchFamily="34" charset="-120"/>
              </a:rPr>
              <a:t>메모리 부하 주입</a:t>
            </a:r>
            <a:endParaRPr lang="en-US" sz="950" dirty="0"/>
          </a:p>
        </p:txBody>
      </p:sp>
      <p:sp>
        <p:nvSpPr>
          <p:cNvPr id="18" name="Shape 15"/>
          <p:cNvSpPr/>
          <p:nvPr/>
        </p:nvSpPr>
        <p:spPr>
          <a:xfrm>
            <a:off x="7680960" y="3328416"/>
            <a:ext cx="3870655" cy="365760"/>
          </a:xfrm>
          <a:prstGeom prst="roundRect">
            <a:avLst>
              <a:gd name="adj" fmla="val 15000"/>
            </a:avLst>
          </a:prstGeom>
          <a:solidFill>
            <a:srgbClr val="F7F8F8"/>
          </a:solidFill>
          <a:ln/>
        </p:spPr>
        <p:txBody>
          <a:bodyPr/>
          <a:lstStyle/>
          <a:p>
            <a:endParaRPr lang="ko-Kore-KR" altLang="en-US"/>
          </a:p>
        </p:txBody>
      </p:sp>
      <p:sp>
        <p:nvSpPr>
          <p:cNvPr id="5" name="Text 16"/>
          <p:cNvSpPr txBox="1"/>
          <p:nvPr/>
        </p:nvSpPr>
        <p:spPr>
          <a:xfrm>
            <a:off x="7863840" y="3328416"/>
            <a:ext cx="2148840" cy="365760"/>
          </a:xfrm>
          <a:prstGeom prst="rect">
            <a:avLst/>
          </a:prstGeom>
          <a:noFill/>
          <a:ln/>
        </p:spPr>
        <p:txBody>
          <a:bodyPr wrap="square" lIns="0" tIns="0" rIns="0" bIns="0" rtlCol="0" anchor="ctr"/>
          <a:lstStyle/>
          <a:p>
            <a:pPr marL="0" indent="0">
              <a:buNone/>
            </a:pPr>
            <a:r>
              <a:rPr lang="en-US" sz="900" b="1" dirty="0">
                <a:solidFill>
                  <a:srgbClr val="232F3E"/>
                </a:solidFill>
                <a:latin typeface="Courier New" pitchFamily="34" charset="0"/>
                <a:ea typeface="Courier New" pitchFamily="34" charset="-122"/>
                <a:cs typeface="Courier New" pitchFamily="34" charset="-120"/>
              </a:rPr>
              <a:t>aws:eks:pod-io-stress</a:t>
            </a:r>
            <a:endParaRPr lang="en-US" sz="900" dirty="0"/>
          </a:p>
        </p:txBody>
      </p:sp>
      <p:sp>
        <p:nvSpPr>
          <p:cNvPr id="20" name="Text 17"/>
          <p:cNvSpPr txBox="1"/>
          <p:nvPr/>
        </p:nvSpPr>
        <p:spPr>
          <a:xfrm>
            <a:off x="10058400" y="3328416"/>
            <a:ext cx="1310335" cy="365760"/>
          </a:xfrm>
          <a:prstGeom prst="rect">
            <a:avLst/>
          </a:prstGeom>
          <a:noFill/>
          <a:ln/>
        </p:spPr>
        <p:txBody>
          <a:bodyPr wrap="square" lIns="0" tIns="0" rIns="0" bIns="0" rtlCol="0" anchor="ctr"/>
          <a:lstStyle/>
          <a:p>
            <a:pPr marL="0" indent="0">
              <a:buNone/>
            </a:pPr>
            <a:r>
              <a:rPr lang="en-US" sz="950" dirty="0">
                <a:solidFill>
                  <a:srgbClr val="4A5561"/>
                </a:solidFill>
                <a:latin typeface="Apple SD Gothic Neo" pitchFamily="34" charset="0"/>
                <a:ea typeface="Apple SD Gothic Neo" pitchFamily="34" charset="-122"/>
                <a:cs typeface="Apple SD Gothic Neo" pitchFamily="34" charset="-120"/>
              </a:rPr>
              <a:t>디스크 I/O 부하 주입</a:t>
            </a:r>
            <a:endParaRPr lang="en-US" sz="950" dirty="0"/>
          </a:p>
        </p:txBody>
      </p:sp>
      <p:sp>
        <p:nvSpPr>
          <p:cNvPr id="21" name="Shape 18"/>
          <p:cNvSpPr/>
          <p:nvPr/>
        </p:nvSpPr>
        <p:spPr>
          <a:xfrm>
            <a:off x="7680960" y="3730752"/>
            <a:ext cx="3870655" cy="365760"/>
          </a:xfrm>
          <a:prstGeom prst="roundRect">
            <a:avLst>
              <a:gd name="adj" fmla="val 15000"/>
            </a:avLst>
          </a:prstGeom>
          <a:solidFill>
            <a:srgbClr val="F7F8F8"/>
          </a:solidFill>
          <a:ln/>
        </p:spPr>
        <p:txBody>
          <a:bodyPr/>
          <a:lstStyle/>
          <a:p>
            <a:endParaRPr lang="ko-Kore-KR" altLang="en-US"/>
          </a:p>
        </p:txBody>
      </p:sp>
      <p:sp>
        <p:nvSpPr>
          <p:cNvPr id="22" name="Text 19"/>
          <p:cNvSpPr txBox="1"/>
          <p:nvPr/>
        </p:nvSpPr>
        <p:spPr>
          <a:xfrm>
            <a:off x="7863840" y="3730752"/>
            <a:ext cx="2148840" cy="365760"/>
          </a:xfrm>
          <a:prstGeom prst="rect">
            <a:avLst/>
          </a:prstGeom>
          <a:noFill/>
          <a:ln/>
        </p:spPr>
        <p:txBody>
          <a:bodyPr wrap="square" lIns="0" tIns="0" rIns="0" bIns="0" rtlCol="0" anchor="ctr"/>
          <a:lstStyle/>
          <a:p>
            <a:pPr marL="0" indent="0">
              <a:buNone/>
            </a:pPr>
            <a:r>
              <a:rPr lang="en-US" sz="900" b="1" dirty="0">
                <a:solidFill>
                  <a:srgbClr val="232F3E"/>
                </a:solidFill>
                <a:latin typeface="Courier New" pitchFamily="34" charset="0"/>
                <a:ea typeface="Courier New" pitchFamily="34" charset="-122"/>
                <a:cs typeface="Courier New" pitchFamily="34" charset="-120"/>
              </a:rPr>
              <a:t>aws:eks:pod-network-latency</a:t>
            </a:r>
            <a:endParaRPr lang="en-US" sz="900" dirty="0"/>
          </a:p>
        </p:txBody>
      </p:sp>
      <p:sp>
        <p:nvSpPr>
          <p:cNvPr id="23" name="Text 20"/>
          <p:cNvSpPr txBox="1"/>
          <p:nvPr/>
        </p:nvSpPr>
        <p:spPr>
          <a:xfrm>
            <a:off x="10058400" y="3730752"/>
            <a:ext cx="1310335" cy="365760"/>
          </a:xfrm>
          <a:prstGeom prst="rect">
            <a:avLst/>
          </a:prstGeom>
          <a:noFill/>
          <a:ln/>
        </p:spPr>
        <p:txBody>
          <a:bodyPr wrap="square" lIns="0" tIns="0" rIns="0" bIns="0" rtlCol="0" anchor="ctr"/>
          <a:lstStyle/>
          <a:p>
            <a:pPr marL="0" indent="0">
              <a:buNone/>
            </a:pPr>
            <a:r>
              <a:rPr lang="en-US" sz="950" dirty="0">
                <a:solidFill>
                  <a:srgbClr val="4A5561"/>
                </a:solidFill>
                <a:latin typeface="Apple SD Gothic Neo" pitchFamily="34" charset="0"/>
                <a:ea typeface="Apple SD Gothic Neo" pitchFamily="34" charset="-122"/>
                <a:cs typeface="Apple SD Gothic Neo" pitchFamily="34" charset="-120"/>
              </a:rPr>
              <a:t>네트워크 지연 주입</a:t>
            </a:r>
            <a:endParaRPr lang="en-US" sz="950" dirty="0"/>
          </a:p>
        </p:txBody>
      </p:sp>
      <p:sp>
        <p:nvSpPr>
          <p:cNvPr id="24" name="Shape 21"/>
          <p:cNvSpPr/>
          <p:nvPr/>
        </p:nvSpPr>
        <p:spPr>
          <a:xfrm>
            <a:off x="7680960" y="4133088"/>
            <a:ext cx="3870655" cy="365760"/>
          </a:xfrm>
          <a:prstGeom prst="roundRect">
            <a:avLst>
              <a:gd name="adj" fmla="val 15000"/>
            </a:avLst>
          </a:prstGeom>
          <a:solidFill>
            <a:srgbClr val="F7F8F8"/>
          </a:solidFill>
          <a:ln/>
        </p:spPr>
        <p:txBody>
          <a:bodyPr/>
          <a:lstStyle/>
          <a:p>
            <a:endParaRPr lang="ko-Kore-KR" altLang="en-US"/>
          </a:p>
        </p:txBody>
      </p:sp>
      <p:sp>
        <p:nvSpPr>
          <p:cNvPr id="25" name="Text 22"/>
          <p:cNvSpPr txBox="1"/>
          <p:nvPr/>
        </p:nvSpPr>
        <p:spPr>
          <a:xfrm>
            <a:off x="7863840" y="4133088"/>
            <a:ext cx="2148840" cy="365760"/>
          </a:xfrm>
          <a:prstGeom prst="rect">
            <a:avLst/>
          </a:prstGeom>
          <a:noFill/>
          <a:ln/>
        </p:spPr>
        <p:txBody>
          <a:bodyPr wrap="square" lIns="0" tIns="0" rIns="0" bIns="0" rtlCol="0" anchor="ctr"/>
          <a:lstStyle/>
          <a:p>
            <a:pPr marL="0" indent="0">
              <a:buNone/>
            </a:pPr>
            <a:r>
              <a:rPr lang="en-US" sz="900" b="1" dirty="0">
                <a:solidFill>
                  <a:srgbClr val="232F3E"/>
                </a:solidFill>
                <a:latin typeface="Courier New" pitchFamily="34" charset="0"/>
                <a:ea typeface="Courier New" pitchFamily="34" charset="-122"/>
                <a:cs typeface="Courier New" pitchFamily="34" charset="-120"/>
              </a:rPr>
              <a:t>aws:eks:pod-network-packet-loss</a:t>
            </a:r>
            <a:endParaRPr lang="en-US" sz="900" dirty="0"/>
          </a:p>
        </p:txBody>
      </p:sp>
      <p:sp>
        <p:nvSpPr>
          <p:cNvPr id="26" name="Text 23"/>
          <p:cNvSpPr txBox="1"/>
          <p:nvPr/>
        </p:nvSpPr>
        <p:spPr>
          <a:xfrm>
            <a:off x="10058400" y="4133088"/>
            <a:ext cx="1310335" cy="365760"/>
          </a:xfrm>
          <a:prstGeom prst="rect">
            <a:avLst/>
          </a:prstGeom>
          <a:noFill/>
          <a:ln/>
        </p:spPr>
        <p:txBody>
          <a:bodyPr wrap="square" lIns="0" tIns="0" rIns="0" bIns="0" rtlCol="0" anchor="ctr"/>
          <a:lstStyle/>
          <a:p>
            <a:pPr marL="0" indent="0">
              <a:buNone/>
            </a:pPr>
            <a:r>
              <a:rPr lang="en-US" sz="950" dirty="0">
                <a:solidFill>
                  <a:srgbClr val="4A5561"/>
                </a:solidFill>
                <a:latin typeface="Apple SD Gothic Neo" pitchFamily="34" charset="0"/>
                <a:ea typeface="Apple SD Gothic Neo" pitchFamily="34" charset="-122"/>
                <a:cs typeface="Apple SD Gothic Neo" pitchFamily="34" charset="-120"/>
              </a:rPr>
              <a:t>패킷 손실 주입</a:t>
            </a:r>
            <a:endParaRPr lang="en-US" sz="950" dirty="0"/>
          </a:p>
        </p:txBody>
      </p:sp>
      <p:sp>
        <p:nvSpPr>
          <p:cNvPr id="27" name="Shape 24"/>
          <p:cNvSpPr/>
          <p:nvPr/>
        </p:nvSpPr>
        <p:spPr>
          <a:xfrm>
            <a:off x="7680960" y="4535424"/>
            <a:ext cx="3870655" cy="365760"/>
          </a:xfrm>
          <a:prstGeom prst="roundRect">
            <a:avLst>
              <a:gd name="adj" fmla="val 15000"/>
            </a:avLst>
          </a:prstGeom>
          <a:solidFill>
            <a:srgbClr val="F7F8F8"/>
          </a:solidFill>
          <a:ln/>
        </p:spPr>
        <p:txBody>
          <a:bodyPr/>
          <a:lstStyle/>
          <a:p>
            <a:endParaRPr lang="ko-Kore-KR" altLang="en-US"/>
          </a:p>
        </p:txBody>
      </p:sp>
      <p:sp>
        <p:nvSpPr>
          <p:cNvPr id="28" name="Text 25"/>
          <p:cNvSpPr txBox="1"/>
          <p:nvPr/>
        </p:nvSpPr>
        <p:spPr>
          <a:xfrm>
            <a:off x="7863840" y="4535424"/>
            <a:ext cx="2148840" cy="365760"/>
          </a:xfrm>
          <a:prstGeom prst="rect">
            <a:avLst/>
          </a:prstGeom>
          <a:noFill/>
          <a:ln/>
        </p:spPr>
        <p:txBody>
          <a:bodyPr wrap="square" lIns="0" tIns="0" rIns="0" bIns="0" rtlCol="0" anchor="ctr"/>
          <a:lstStyle/>
          <a:p>
            <a:pPr marL="0" indent="0">
              <a:buNone/>
            </a:pPr>
            <a:r>
              <a:rPr lang="en-US" sz="900" b="1" dirty="0">
                <a:solidFill>
                  <a:srgbClr val="232F3E"/>
                </a:solidFill>
                <a:latin typeface="Courier New" pitchFamily="34" charset="0"/>
                <a:ea typeface="Courier New" pitchFamily="34" charset="-122"/>
                <a:cs typeface="Courier New" pitchFamily="34" charset="-120"/>
              </a:rPr>
              <a:t>aws:eks:pod-network-blackhole-port</a:t>
            </a:r>
            <a:endParaRPr lang="en-US" sz="900" dirty="0"/>
          </a:p>
        </p:txBody>
      </p:sp>
      <p:sp>
        <p:nvSpPr>
          <p:cNvPr id="29" name="Text 26"/>
          <p:cNvSpPr txBox="1"/>
          <p:nvPr/>
        </p:nvSpPr>
        <p:spPr>
          <a:xfrm>
            <a:off x="10058400" y="4535424"/>
            <a:ext cx="1310335" cy="365760"/>
          </a:xfrm>
          <a:prstGeom prst="rect">
            <a:avLst/>
          </a:prstGeom>
          <a:noFill/>
          <a:ln/>
        </p:spPr>
        <p:txBody>
          <a:bodyPr wrap="square" lIns="0" tIns="0" rIns="0" bIns="0" rtlCol="0" anchor="ctr"/>
          <a:lstStyle/>
          <a:p>
            <a:pPr marL="0" indent="0">
              <a:buNone/>
            </a:pPr>
            <a:r>
              <a:rPr lang="en-US" sz="950" dirty="0">
                <a:solidFill>
                  <a:srgbClr val="4A5561"/>
                </a:solidFill>
                <a:latin typeface="Apple SD Gothic Neo" pitchFamily="34" charset="0"/>
                <a:ea typeface="Apple SD Gothic Neo" pitchFamily="34" charset="-122"/>
                <a:cs typeface="Apple SD Gothic Neo" pitchFamily="34" charset="-120"/>
              </a:rPr>
              <a:t>특정 포트 통신 차단</a:t>
            </a:r>
            <a:endParaRPr lang="en-US" sz="950" dirty="0"/>
          </a:p>
        </p:txBody>
      </p:sp>
      <p:sp>
        <p:nvSpPr>
          <p:cNvPr id="30" name="Text 27"/>
          <p:cNvSpPr txBox="1"/>
          <p:nvPr/>
        </p:nvSpPr>
        <p:spPr>
          <a:xfrm>
            <a:off x="7680960" y="4992624"/>
            <a:ext cx="3870655" cy="859536"/>
          </a:xfrm>
          <a:prstGeom prst="rect">
            <a:avLst/>
          </a:prstGeom>
          <a:noFill/>
          <a:ln/>
        </p:spPr>
        <p:txBody>
          <a:bodyPr wrap="square" lIns="0" tIns="0" rIns="0" bIns="0" rtlCol="0" anchor="t"/>
          <a:lstStyle/>
          <a:p>
            <a:pPr marL="0" indent="0">
              <a:lnSpc>
                <a:spcPts val="1600"/>
              </a:lnSpc>
              <a:buNone/>
            </a:pPr>
            <a:r>
              <a:rPr lang="en-US" sz="1000" dirty="0">
                <a:solidFill>
                  <a:srgbClr val="687078"/>
                </a:solidFill>
                <a:latin typeface="Apple SD Gothic Neo" pitchFamily="34" charset="0"/>
                <a:ea typeface="Apple SD Gothic Neo" pitchFamily="34" charset="-122"/>
                <a:cs typeface="Apple SD Gothic Neo" pitchFamily="34" charset="-120"/>
              </a:rPr>
              <a:t>pod-delete를 제외한 모든 액션은 임시 컨테이너(ephemeral container)로 주입하고 실험 종료 시 제거된다 → 클러스터에 에이전트를 설치할 필요가 없다</a:t>
            </a:r>
            <a:endParaRPr lang="en-US" sz="1000" dirty="0"/>
          </a:p>
        </p:txBody>
      </p:sp>
      <p:sp>
        <p:nvSpPr>
          <p:cNvPr id="32" name="Text 28"/>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해결 접근</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5-Agent 파이프라인</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4단계 사이클을 5개 전문 에이전트에게 릴레이로 나눠 맡겼다.</a:t>
            </a:r>
            <a:endParaRPr lang="en-US" sz="1300" dirty="0"/>
          </a:p>
        </p:txBody>
      </p:sp>
      <p:pic>
        <p:nvPicPr>
          <p:cNvPr id="5" name="Image 0" descr="/sessions/vibrant-jolly-ramanujan/mnt/uploads/slide-20-agent-pipeline.png"/>
          <p:cNvPicPr>
            <a:picLocks noChangeAspect="1"/>
          </p:cNvPicPr>
          <p:nvPr/>
        </p:nvPicPr>
        <p:blipFill>
          <a:blip r:embed="rId3"/>
          <a:stretch>
            <a:fillRect/>
          </a:stretch>
        </p:blipFill>
        <p:spPr>
          <a:xfrm>
            <a:off x="1422579" y="1572768"/>
            <a:ext cx="9346538" cy="4782312"/>
          </a:xfrm>
          <a:prstGeom prst="rect">
            <a:avLst/>
          </a:prstGeom>
        </p:spPr>
      </p:pic>
      <p:sp>
        <p:nvSpPr>
          <p:cNvPr id="7" name="Text 3"/>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아키텍처</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테스트 대상: Retail Store Sample App on EKS</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AWS 공식 샘플 쇼핑몰. 그리고 이 구성 자체가 이미 문제를 안고 있었다.</a:t>
            </a:r>
            <a:endParaRPr lang="en-US" sz="1300" dirty="0"/>
          </a:p>
        </p:txBody>
      </p:sp>
      <p:pic>
        <p:nvPicPr>
          <p:cNvPr id="5" name="Image 0" descr="/sessions/vibrant-jolly-ramanujan/mnt/uploads/slide-25-target-architecture.png"/>
          <p:cNvPicPr>
            <a:picLocks noChangeAspect="1"/>
          </p:cNvPicPr>
          <p:nvPr/>
        </p:nvPicPr>
        <p:blipFill>
          <a:blip r:embed="rId3"/>
          <a:stretch>
            <a:fillRect/>
          </a:stretch>
        </p:blipFill>
        <p:spPr>
          <a:xfrm>
            <a:off x="3238348" y="1627632"/>
            <a:ext cx="5715000" cy="3429000"/>
          </a:xfrm>
          <a:prstGeom prst="rect">
            <a:avLst/>
          </a:prstGeom>
        </p:spPr>
      </p:pic>
      <p:sp>
        <p:nvSpPr>
          <p:cNvPr id="6" name="Shape 3"/>
          <p:cNvSpPr/>
          <p:nvPr/>
        </p:nvSpPr>
        <p:spPr>
          <a:xfrm>
            <a:off x="640080" y="5285232"/>
            <a:ext cx="3454298" cy="1024128"/>
          </a:xfrm>
          <a:prstGeom prst="roundRect">
            <a:avLst>
              <a:gd name="adj" fmla="val 5357"/>
            </a:avLst>
          </a:prstGeom>
          <a:solidFill>
            <a:srgbClr val="F2F7FF"/>
          </a:solidFill>
          <a:ln/>
        </p:spPr>
        <p:txBody>
          <a:bodyPr/>
          <a:lstStyle/>
          <a:p>
            <a:endParaRPr lang="ko-Kore-KR" altLang="en-US"/>
          </a:p>
        </p:txBody>
      </p:sp>
      <p:sp>
        <p:nvSpPr>
          <p:cNvPr id="7" name="Text 4"/>
          <p:cNvSpPr txBox="1"/>
          <p:nvPr/>
        </p:nvSpPr>
        <p:spPr>
          <a:xfrm>
            <a:off x="896112" y="5413248"/>
            <a:ext cx="2942234" cy="329184"/>
          </a:xfrm>
          <a:prstGeom prst="rect">
            <a:avLst/>
          </a:prstGeom>
          <a:noFill/>
          <a:ln/>
        </p:spPr>
        <p:txBody>
          <a:bodyPr wrap="square" lIns="0" tIns="0" rIns="0" bIns="0" rtlCol="0" anchor="ctr"/>
          <a:lstStyle/>
          <a:p>
            <a:pPr marL="0" indent="0">
              <a:buNone/>
            </a:pPr>
            <a:r>
              <a:rPr lang="en-US" sz="1400" b="1" dirty="0">
                <a:solidFill>
                  <a:srgbClr val="527FFF"/>
                </a:solidFill>
                <a:latin typeface="Apple SD Gothic Neo" pitchFamily="34" charset="0"/>
                <a:ea typeface="Apple SD Gothic Neo" pitchFamily="34" charset="-122"/>
                <a:cs typeface="Apple SD Gothic Neo" pitchFamily="34" charset="-120"/>
              </a:rPr>
              <a:t>해커톤용 테스트 클러스터</a:t>
            </a:r>
            <a:endParaRPr lang="en-US" sz="1400" dirty="0"/>
          </a:p>
        </p:txBody>
      </p:sp>
      <p:sp>
        <p:nvSpPr>
          <p:cNvPr id="8" name="Text 5"/>
          <p:cNvSpPr txBox="1"/>
          <p:nvPr/>
        </p:nvSpPr>
        <p:spPr>
          <a:xfrm>
            <a:off x="896112" y="5742432"/>
            <a:ext cx="2942234" cy="438912"/>
          </a:xfrm>
          <a:prstGeom prst="rect">
            <a:avLst/>
          </a:prstGeom>
          <a:noFill/>
          <a:ln/>
        </p:spPr>
        <p:txBody>
          <a:bodyPr wrap="square" lIns="0" tIns="0" rIns="0" bIns="0" rtlCol="0" anchor="t"/>
          <a:lstStyle/>
          <a:p>
            <a:pPr marL="0" indent="0">
              <a:lnSpc>
                <a:spcPts val="1500"/>
              </a:lnSpc>
              <a:buNone/>
            </a:pPr>
            <a:r>
              <a:rPr lang="en-US" sz="1050" dirty="0">
                <a:solidFill>
                  <a:srgbClr val="4A5561"/>
                </a:solidFill>
                <a:latin typeface="Apple SD Gothic Neo" pitchFamily="34" charset="0"/>
                <a:ea typeface="Apple SD Gothic Neo" pitchFamily="34" charset="-122"/>
                <a:cs typeface="Apple SD Gothic Neo" pitchFamily="34" charset="-120"/>
              </a:rPr>
              <a:t>ap-northeast-2 · EKS Auto Mode (Karpenter)</a:t>
            </a:r>
            <a:endParaRPr lang="en-US" sz="1050" dirty="0"/>
          </a:p>
        </p:txBody>
      </p:sp>
      <p:sp>
        <p:nvSpPr>
          <p:cNvPr id="9" name="Shape 6"/>
          <p:cNvSpPr/>
          <p:nvPr/>
        </p:nvSpPr>
        <p:spPr>
          <a:xfrm>
            <a:off x="4368698" y="5285232"/>
            <a:ext cx="3454298" cy="1024128"/>
          </a:xfrm>
          <a:prstGeom prst="roundRect">
            <a:avLst>
              <a:gd name="adj" fmla="val 5357"/>
            </a:avLst>
          </a:prstGeom>
          <a:solidFill>
            <a:srgbClr val="FFF4E5"/>
          </a:solidFill>
          <a:ln/>
        </p:spPr>
        <p:txBody>
          <a:bodyPr/>
          <a:lstStyle/>
          <a:p>
            <a:endParaRPr lang="ko-Kore-KR" altLang="en-US"/>
          </a:p>
        </p:txBody>
      </p:sp>
      <p:sp>
        <p:nvSpPr>
          <p:cNvPr id="10" name="Text 7"/>
          <p:cNvSpPr txBox="1"/>
          <p:nvPr/>
        </p:nvSpPr>
        <p:spPr>
          <a:xfrm>
            <a:off x="4624730" y="5413248"/>
            <a:ext cx="2942234" cy="329184"/>
          </a:xfrm>
          <a:prstGeom prst="rect">
            <a:avLst/>
          </a:prstGeom>
          <a:noFill/>
          <a:ln/>
        </p:spPr>
        <p:txBody>
          <a:bodyPr wrap="square" lIns="0" tIns="0" rIns="0" bIns="0" rtlCol="0" anchor="ctr"/>
          <a:lstStyle/>
          <a:p>
            <a:pPr marL="0" indent="0">
              <a:buNone/>
            </a:pPr>
            <a:r>
              <a:rPr lang="en-US" sz="1400" b="1" dirty="0">
                <a:solidFill>
                  <a:srgbClr val="FF9900"/>
                </a:solidFill>
                <a:latin typeface="Apple SD Gothic Neo" pitchFamily="34" charset="0"/>
                <a:ea typeface="Apple SD Gothic Neo" pitchFamily="34" charset="-122"/>
                <a:cs typeface="Apple SD Gothic Neo" pitchFamily="34" charset="-120"/>
              </a:rPr>
              <a:t>레플리카 전부 1개</a:t>
            </a:r>
            <a:endParaRPr lang="en-US" sz="1400" dirty="0"/>
          </a:p>
        </p:txBody>
      </p:sp>
      <p:sp>
        <p:nvSpPr>
          <p:cNvPr id="11" name="Text 8"/>
          <p:cNvSpPr txBox="1"/>
          <p:nvPr/>
        </p:nvSpPr>
        <p:spPr>
          <a:xfrm>
            <a:off x="4624730" y="5742432"/>
            <a:ext cx="2942234" cy="438912"/>
          </a:xfrm>
          <a:prstGeom prst="rect">
            <a:avLst/>
          </a:prstGeom>
          <a:noFill/>
          <a:ln/>
        </p:spPr>
        <p:txBody>
          <a:bodyPr wrap="square" lIns="0" tIns="0" rIns="0" bIns="0" rtlCol="0" anchor="t"/>
          <a:lstStyle/>
          <a:p>
            <a:pPr marL="0" indent="0">
              <a:lnSpc>
                <a:spcPts val="1500"/>
              </a:lnSpc>
              <a:buNone/>
            </a:pPr>
            <a:r>
              <a:rPr lang="en-US" sz="1050" dirty="0">
                <a:solidFill>
                  <a:srgbClr val="4A5561"/>
                </a:solidFill>
                <a:latin typeface="Apple SD Gothic Neo" pitchFamily="34" charset="0"/>
                <a:ea typeface="Apple SD Gothic Neo" pitchFamily="34" charset="-122"/>
                <a:cs typeface="Apple SD Gothic Neo" pitchFamily="34" charset="-120"/>
              </a:rPr>
              <a:t>샘플 앱 기본값 그대로 — 우리가 잘못 설정한 게 아니다</a:t>
            </a:r>
            <a:endParaRPr lang="en-US" sz="1050" dirty="0"/>
          </a:p>
        </p:txBody>
      </p:sp>
      <p:sp>
        <p:nvSpPr>
          <p:cNvPr id="12" name="Shape 9"/>
          <p:cNvSpPr/>
          <p:nvPr/>
        </p:nvSpPr>
        <p:spPr>
          <a:xfrm>
            <a:off x="8097317" y="5285232"/>
            <a:ext cx="3454298" cy="1024128"/>
          </a:xfrm>
          <a:prstGeom prst="roundRect">
            <a:avLst>
              <a:gd name="adj" fmla="val 5357"/>
            </a:avLst>
          </a:prstGeom>
          <a:solidFill>
            <a:srgbClr val="FDF0EE"/>
          </a:solidFill>
          <a:ln/>
        </p:spPr>
        <p:txBody>
          <a:bodyPr/>
          <a:lstStyle/>
          <a:p>
            <a:endParaRPr lang="ko-Kore-KR" altLang="en-US"/>
          </a:p>
        </p:txBody>
      </p:sp>
      <p:sp>
        <p:nvSpPr>
          <p:cNvPr id="13" name="Text 10"/>
          <p:cNvSpPr txBox="1"/>
          <p:nvPr/>
        </p:nvSpPr>
        <p:spPr>
          <a:xfrm>
            <a:off x="8353349" y="5413248"/>
            <a:ext cx="2942234" cy="329184"/>
          </a:xfrm>
          <a:prstGeom prst="rect">
            <a:avLst/>
          </a:prstGeom>
          <a:noFill/>
          <a:ln/>
        </p:spPr>
        <p:txBody>
          <a:bodyPr wrap="square" lIns="0" tIns="0" rIns="0" bIns="0" rtlCol="0" anchor="ctr"/>
          <a:lstStyle/>
          <a:p>
            <a:pPr marL="0" indent="0">
              <a:buNone/>
            </a:pPr>
            <a:r>
              <a:rPr lang="en-US" sz="1400" b="1" dirty="0">
                <a:solidFill>
                  <a:srgbClr val="D13212"/>
                </a:solidFill>
                <a:latin typeface="Apple SD Gothic Neo" pitchFamily="34" charset="0"/>
                <a:ea typeface="Apple SD Gothic Neo" pitchFamily="34" charset="-122"/>
                <a:cs typeface="Apple SD Gothic Neo" pitchFamily="34" charset="-120"/>
              </a:rPr>
              <a:t>트래픽 없음</a:t>
            </a:r>
            <a:endParaRPr lang="en-US" sz="1400" dirty="0"/>
          </a:p>
        </p:txBody>
      </p:sp>
      <p:sp>
        <p:nvSpPr>
          <p:cNvPr id="14" name="Text 11"/>
          <p:cNvSpPr txBox="1"/>
          <p:nvPr/>
        </p:nvSpPr>
        <p:spPr>
          <a:xfrm>
            <a:off x="8353349" y="5742432"/>
            <a:ext cx="2942234" cy="438912"/>
          </a:xfrm>
          <a:prstGeom prst="rect">
            <a:avLst/>
          </a:prstGeom>
          <a:noFill/>
          <a:ln/>
        </p:spPr>
        <p:txBody>
          <a:bodyPr wrap="square" lIns="0" tIns="0" rIns="0" bIns="0" rtlCol="0" anchor="t"/>
          <a:lstStyle/>
          <a:p>
            <a:pPr marL="0" indent="0">
              <a:lnSpc>
                <a:spcPts val="1500"/>
              </a:lnSpc>
              <a:buNone/>
            </a:pPr>
            <a:r>
              <a:rPr lang="en-US" sz="1050" dirty="0">
                <a:solidFill>
                  <a:srgbClr val="4A5561"/>
                </a:solidFill>
                <a:latin typeface="Apple SD Gothic Neo" pitchFamily="34" charset="0"/>
                <a:ea typeface="Apple SD Gothic Neo" pitchFamily="34" charset="-122"/>
                <a:cs typeface="Apple SD Gothic Neo" pitchFamily="34" charset="-120"/>
              </a:rPr>
              <a:t>사용자 요청도, 합성 부하도 넣지 않았다</a:t>
            </a:r>
            <a:endParaRPr lang="en-US" sz="1050" dirty="0"/>
          </a:p>
        </p:txBody>
      </p:sp>
      <p:sp>
        <p:nvSpPr>
          <p:cNvPr id="16" name="Text 12"/>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32F3E"/>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실제로 돌려본 결과</a:t>
            </a:r>
            <a:endParaRPr lang="en-US" sz="1100" dirty="0"/>
          </a:p>
        </p:txBody>
      </p:sp>
      <p:sp>
        <p:nvSpPr>
          <p:cNvPr id="3" name="Text 1"/>
          <p:cNvSpPr txBox="1"/>
          <p:nvPr/>
        </p:nvSpPr>
        <p:spPr>
          <a:xfrm>
            <a:off x="640080" y="1143000"/>
            <a:ext cx="10911535" cy="914400"/>
          </a:xfrm>
          <a:prstGeom prst="rect">
            <a:avLst/>
          </a:prstGeom>
          <a:noFill/>
          <a:ln/>
        </p:spPr>
        <p:txBody>
          <a:bodyPr wrap="square" lIns="0" tIns="0" rIns="0" bIns="0" rtlCol="0" anchor="ctr"/>
          <a:lstStyle/>
          <a:p>
            <a:pPr marL="0" indent="0">
              <a:buNone/>
            </a:pPr>
            <a:r>
              <a:rPr lang="en-US" sz="5400" b="1" kern="0" spc="400" dirty="0">
                <a:solidFill>
                  <a:srgbClr val="FFFFFF"/>
                </a:solidFill>
                <a:latin typeface="Apple SD Gothic Neo" pitchFamily="34" charset="0"/>
                <a:ea typeface="Apple SD Gothic Neo" pitchFamily="34" charset="-122"/>
                <a:cs typeface="Apple SD Gothic Neo" pitchFamily="34" charset="-120"/>
              </a:rPr>
              <a:t>DEMO</a:t>
            </a:r>
            <a:endParaRPr lang="en-US" sz="5400" dirty="0"/>
          </a:p>
        </p:txBody>
      </p:sp>
      <p:sp>
        <p:nvSpPr>
          <p:cNvPr id="4" name="Text 2"/>
          <p:cNvSpPr txBox="1"/>
          <p:nvPr/>
        </p:nvSpPr>
        <p:spPr>
          <a:xfrm>
            <a:off x="640080" y="2057400"/>
            <a:ext cx="10911535" cy="384048"/>
          </a:xfrm>
          <a:prstGeom prst="rect">
            <a:avLst/>
          </a:prstGeom>
          <a:noFill/>
          <a:ln/>
        </p:spPr>
        <p:txBody>
          <a:bodyPr wrap="square" lIns="0" tIns="0" rIns="0" bIns="0" rtlCol="0" anchor="ctr"/>
          <a:lstStyle/>
          <a:p>
            <a:pPr marL="0" indent="0">
              <a:buNone/>
            </a:pPr>
            <a:r>
              <a:rPr lang="en-US" sz="1500" dirty="0">
                <a:solidFill>
                  <a:srgbClr val="B8C0C8"/>
                </a:solidFill>
                <a:latin typeface="Apple SD Gothic Neo" pitchFamily="34" charset="0"/>
                <a:ea typeface="Apple SD Gothic Neo" pitchFamily="34" charset="-122"/>
                <a:cs typeface="Apple SD Gothic Neo" pitchFamily="34" charset="-120"/>
              </a:rPr>
              <a:t>노트북 셀을 순서대로 실행하면 가설부터 분석까지 한 번에 흐른다.  (사전 녹화 영상)</a:t>
            </a:r>
            <a:endParaRPr lang="en-US" sz="1500" dirty="0"/>
          </a:p>
        </p:txBody>
      </p:sp>
      <p:sp>
        <p:nvSpPr>
          <p:cNvPr id="5" name="Shape 3"/>
          <p:cNvSpPr/>
          <p:nvPr/>
        </p:nvSpPr>
        <p:spPr>
          <a:xfrm>
            <a:off x="640080" y="2834640"/>
            <a:ext cx="3454298" cy="1463040"/>
          </a:xfrm>
          <a:prstGeom prst="roundRect">
            <a:avLst>
              <a:gd name="adj" fmla="val 3750"/>
            </a:avLst>
          </a:prstGeom>
          <a:solidFill>
            <a:srgbClr val="2E3B4C"/>
          </a:solidFill>
          <a:ln/>
        </p:spPr>
        <p:txBody>
          <a:bodyPr/>
          <a:lstStyle/>
          <a:p>
            <a:endParaRPr lang="ko-Kore-KR" altLang="en-US"/>
          </a:p>
        </p:txBody>
      </p:sp>
      <p:sp>
        <p:nvSpPr>
          <p:cNvPr id="6" name="Text 4"/>
          <p:cNvSpPr txBox="1"/>
          <p:nvPr/>
        </p:nvSpPr>
        <p:spPr>
          <a:xfrm>
            <a:off x="960120" y="3035808"/>
            <a:ext cx="2814218" cy="292608"/>
          </a:xfrm>
          <a:prstGeom prst="rect">
            <a:avLst/>
          </a:prstGeom>
          <a:noFill/>
          <a:ln/>
        </p:spPr>
        <p:txBody>
          <a:bodyPr wrap="square" lIns="0" tIns="0" rIns="0" bIns="0" rtlCol="0" anchor="ctr"/>
          <a:lstStyle/>
          <a:p>
            <a:pPr marL="0" indent="0">
              <a:buNone/>
            </a:pPr>
            <a:r>
              <a:rPr lang="en-US" sz="1200" b="1" kern="0" spc="100" dirty="0">
                <a:solidFill>
                  <a:srgbClr val="527FFF"/>
                </a:solidFill>
                <a:latin typeface="Apple SD Gothic Neo" pitchFamily="34" charset="0"/>
                <a:ea typeface="Apple SD Gothic Neo" pitchFamily="34" charset="-122"/>
                <a:cs typeface="Apple SD Gothic Neo" pitchFamily="34" charset="-120"/>
              </a:rPr>
              <a:t>Step 1</a:t>
            </a:r>
            <a:endParaRPr lang="en-US" sz="1200" dirty="0"/>
          </a:p>
        </p:txBody>
      </p:sp>
      <p:sp>
        <p:nvSpPr>
          <p:cNvPr id="7" name="Text 5"/>
          <p:cNvSpPr txBox="1"/>
          <p:nvPr/>
        </p:nvSpPr>
        <p:spPr>
          <a:xfrm>
            <a:off x="960120" y="3364992"/>
            <a:ext cx="2814218" cy="713232"/>
          </a:xfrm>
          <a:prstGeom prst="rect">
            <a:avLst/>
          </a:prstGeom>
          <a:noFill/>
          <a:ln/>
        </p:spPr>
        <p:txBody>
          <a:bodyPr wrap="square" lIns="0" tIns="0" rIns="0" bIns="0" rtlCol="0" anchor="t"/>
          <a:lstStyle/>
          <a:p>
            <a:pPr marL="0" indent="0">
              <a:lnSpc>
                <a:spcPts val="2000"/>
              </a:lnSpc>
              <a:buNone/>
            </a:pPr>
            <a:r>
              <a:rPr lang="en-US" sz="1300" dirty="0">
                <a:solidFill>
                  <a:srgbClr val="FFFFFF"/>
                </a:solidFill>
                <a:latin typeface="Apple SD Gothic Neo" pitchFamily="34" charset="0"/>
                <a:ea typeface="Apple SD Gothic Neo" pitchFamily="34" charset="-122"/>
                <a:cs typeface="Apple SD Gothic Neo" pitchFamily="34" charset="-120"/>
              </a:rPr>
              <a:t>가설 생성 → 우선순위 → FIS 템플릿 설계</a:t>
            </a:r>
            <a:endParaRPr lang="en-US" sz="1300" dirty="0"/>
          </a:p>
        </p:txBody>
      </p:sp>
      <p:sp>
        <p:nvSpPr>
          <p:cNvPr id="8" name="Shape 6"/>
          <p:cNvSpPr/>
          <p:nvPr/>
        </p:nvSpPr>
        <p:spPr>
          <a:xfrm>
            <a:off x="4368698" y="2834640"/>
            <a:ext cx="3454298" cy="1463040"/>
          </a:xfrm>
          <a:prstGeom prst="roundRect">
            <a:avLst>
              <a:gd name="adj" fmla="val 3750"/>
            </a:avLst>
          </a:prstGeom>
          <a:solidFill>
            <a:srgbClr val="2E3B4C"/>
          </a:solidFill>
          <a:ln/>
        </p:spPr>
        <p:txBody>
          <a:bodyPr/>
          <a:lstStyle/>
          <a:p>
            <a:endParaRPr lang="ko-Kore-KR" altLang="en-US"/>
          </a:p>
        </p:txBody>
      </p:sp>
      <p:sp>
        <p:nvSpPr>
          <p:cNvPr id="9" name="Text 7"/>
          <p:cNvSpPr txBox="1"/>
          <p:nvPr/>
        </p:nvSpPr>
        <p:spPr>
          <a:xfrm>
            <a:off x="4688738" y="3035808"/>
            <a:ext cx="2814218" cy="292608"/>
          </a:xfrm>
          <a:prstGeom prst="rect">
            <a:avLst/>
          </a:prstGeom>
          <a:noFill/>
          <a:ln/>
        </p:spPr>
        <p:txBody>
          <a:bodyPr wrap="square" lIns="0" tIns="0" rIns="0" bIns="0" rtlCol="0" anchor="ctr"/>
          <a:lstStyle/>
          <a:p>
            <a:pPr marL="0" indent="0">
              <a:buNone/>
            </a:pPr>
            <a:r>
              <a:rPr lang="en-US" sz="1200" b="1" kern="0" spc="100" dirty="0">
                <a:solidFill>
                  <a:srgbClr val="FF9900"/>
                </a:solidFill>
                <a:latin typeface="Apple SD Gothic Neo" pitchFamily="34" charset="0"/>
                <a:ea typeface="Apple SD Gothic Neo" pitchFamily="34" charset="-122"/>
                <a:cs typeface="Apple SD Gothic Neo" pitchFamily="34" charset="-120"/>
              </a:rPr>
              <a:t>Step 2</a:t>
            </a:r>
            <a:endParaRPr lang="en-US" sz="1200" dirty="0"/>
          </a:p>
        </p:txBody>
      </p:sp>
      <p:sp>
        <p:nvSpPr>
          <p:cNvPr id="10" name="Text 8"/>
          <p:cNvSpPr txBox="1"/>
          <p:nvPr/>
        </p:nvSpPr>
        <p:spPr>
          <a:xfrm>
            <a:off x="4688738" y="3364992"/>
            <a:ext cx="2814218" cy="713232"/>
          </a:xfrm>
          <a:prstGeom prst="rect">
            <a:avLst/>
          </a:prstGeom>
          <a:noFill/>
          <a:ln/>
        </p:spPr>
        <p:txBody>
          <a:bodyPr wrap="square" lIns="0" tIns="0" rIns="0" bIns="0" rtlCol="0" anchor="t"/>
          <a:lstStyle/>
          <a:p>
            <a:pPr marL="0" indent="0">
              <a:lnSpc>
                <a:spcPts val="2000"/>
              </a:lnSpc>
              <a:buNone/>
            </a:pPr>
            <a:r>
              <a:rPr lang="en-US" sz="1300" dirty="0">
                <a:solidFill>
                  <a:srgbClr val="FFFFFF"/>
                </a:solidFill>
                <a:latin typeface="Apple SD Gothic Neo" pitchFamily="34" charset="0"/>
                <a:ea typeface="Apple SD Gothic Neo" pitchFamily="34" charset="-122"/>
                <a:cs typeface="Apple SD Gothic Neo" pitchFamily="34" charset="-120"/>
              </a:rPr>
              <a:t>가드레일 검증 → FIS 실험 템플릿 생성</a:t>
            </a:r>
            <a:endParaRPr lang="en-US" sz="1300" dirty="0"/>
          </a:p>
        </p:txBody>
      </p:sp>
      <p:sp>
        <p:nvSpPr>
          <p:cNvPr id="11" name="Shape 9"/>
          <p:cNvSpPr/>
          <p:nvPr/>
        </p:nvSpPr>
        <p:spPr>
          <a:xfrm>
            <a:off x="8097317" y="2834640"/>
            <a:ext cx="3454298" cy="1463040"/>
          </a:xfrm>
          <a:prstGeom prst="roundRect">
            <a:avLst>
              <a:gd name="adj" fmla="val 3750"/>
            </a:avLst>
          </a:prstGeom>
          <a:solidFill>
            <a:srgbClr val="2E3B4C"/>
          </a:solidFill>
          <a:ln/>
        </p:spPr>
        <p:txBody>
          <a:bodyPr/>
          <a:lstStyle/>
          <a:p>
            <a:endParaRPr lang="ko-Kore-KR" altLang="en-US"/>
          </a:p>
        </p:txBody>
      </p:sp>
      <p:sp>
        <p:nvSpPr>
          <p:cNvPr id="12" name="Text 10"/>
          <p:cNvSpPr txBox="1"/>
          <p:nvPr/>
        </p:nvSpPr>
        <p:spPr>
          <a:xfrm>
            <a:off x="8417357" y="3035808"/>
            <a:ext cx="2814218" cy="292608"/>
          </a:xfrm>
          <a:prstGeom prst="rect">
            <a:avLst/>
          </a:prstGeom>
          <a:noFill/>
          <a:ln/>
        </p:spPr>
        <p:txBody>
          <a:bodyPr wrap="square" lIns="0" tIns="0" rIns="0" bIns="0" rtlCol="0" anchor="ctr"/>
          <a:lstStyle/>
          <a:p>
            <a:pPr marL="0" indent="0">
              <a:buNone/>
            </a:pPr>
            <a:r>
              <a:rPr lang="en-US" sz="1200" b="1" kern="0" spc="100" dirty="0">
                <a:solidFill>
                  <a:srgbClr val="01A88D"/>
                </a:solidFill>
                <a:latin typeface="Apple SD Gothic Neo" pitchFamily="34" charset="0"/>
                <a:ea typeface="Apple SD Gothic Neo" pitchFamily="34" charset="-122"/>
                <a:cs typeface="Apple SD Gothic Neo" pitchFamily="34" charset="-120"/>
              </a:rPr>
              <a:t>Step 3</a:t>
            </a:r>
            <a:endParaRPr lang="en-US" sz="1200" dirty="0"/>
          </a:p>
        </p:txBody>
      </p:sp>
      <p:sp>
        <p:nvSpPr>
          <p:cNvPr id="13" name="Text 11"/>
          <p:cNvSpPr txBox="1"/>
          <p:nvPr/>
        </p:nvSpPr>
        <p:spPr>
          <a:xfrm>
            <a:off x="8417357" y="3364992"/>
            <a:ext cx="2814218" cy="713232"/>
          </a:xfrm>
          <a:prstGeom prst="rect">
            <a:avLst/>
          </a:prstGeom>
          <a:noFill/>
          <a:ln/>
        </p:spPr>
        <p:txBody>
          <a:bodyPr wrap="square" lIns="0" tIns="0" rIns="0" bIns="0" rtlCol="0" anchor="t"/>
          <a:lstStyle/>
          <a:p>
            <a:pPr marL="0" indent="0">
              <a:lnSpc>
                <a:spcPts val="2000"/>
              </a:lnSpc>
              <a:buNone/>
            </a:pPr>
            <a:r>
              <a:rPr lang="en-US" sz="1300" dirty="0">
                <a:solidFill>
                  <a:srgbClr val="FFFFFF"/>
                </a:solidFill>
                <a:latin typeface="Apple SD Gothic Neo" pitchFamily="34" charset="0"/>
                <a:ea typeface="Apple SD Gothic Neo" pitchFamily="34" charset="-122"/>
                <a:cs typeface="Apple SD Gothic Neo" pitchFamily="34" charset="-120"/>
              </a:rPr>
              <a:t>결과 분석 → 취약점·개선안 도출</a:t>
            </a:r>
            <a:endParaRPr lang="en-US" sz="1300" dirty="0"/>
          </a:p>
        </p:txBody>
      </p:sp>
      <p:sp>
        <p:nvSpPr>
          <p:cNvPr id="14" name="Shape 12"/>
          <p:cNvSpPr/>
          <p:nvPr/>
        </p:nvSpPr>
        <p:spPr>
          <a:xfrm>
            <a:off x="640080" y="4709160"/>
            <a:ext cx="10911535" cy="960120"/>
          </a:xfrm>
          <a:prstGeom prst="roundRect">
            <a:avLst>
              <a:gd name="adj" fmla="val 5714"/>
            </a:avLst>
          </a:prstGeom>
          <a:solidFill>
            <a:srgbClr val="2E3B4C"/>
          </a:solidFill>
          <a:ln/>
        </p:spPr>
        <p:txBody>
          <a:bodyPr/>
          <a:lstStyle/>
          <a:p>
            <a:endParaRPr lang="ko-Kore-KR" altLang="en-US"/>
          </a:p>
        </p:txBody>
      </p:sp>
      <p:sp>
        <p:nvSpPr>
          <p:cNvPr id="15" name="Text 13"/>
          <p:cNvSpPr txBox="1"/>
          <p:nvPr/>
        </p:nvSpPr>
        <p:spPr>
          <a:xfrm>
            <a:off x="1005840" y="4709160"/>
            <a:ext cx="10180015" cy="960120"/>
          </a:xfrm>
          <a:prstGeom prst="rect">
            <a:avLst/>
          </a:prstGeom>
          <a:noFill/>
          <a:ln/>
        </p:spPr>
        <p:txBody>
          <a:bodyPr wrap="square" lIns="0" tIns="0" rIns="0" bIns="0" rtlCol="0" anchor="ctr"/>
          <a:lstStyle/>
          <a:p>
            <a:pPr marL="0" indent="0">
              <a:buNone/>
            </a:pPr>
            <a:r>
              <a:rPr lang="en-US" sz="1300" dirty="0">
                <a:solidFill>
                  <a:srgbClr val="E3E8ED"/>
                </a:solidFill>
                <a:latin typeface="Apple SD Gothic Neo" pitchFamily="34" charset="0"/>
                <a:ea typeface="Apple SD Gothic Neo" pitchFamily="34" charset="-122"/>
                <a:cs typeface="Apple SD Gothic Neo" pitchFamily="34" charset="-120"/>
              </a:rPr>
              <a:t>영상에서 봐주실 것 — "이 도구를 호출해라"라고 지시하는 코드가 없다. 프롬프트만 주면 에이전트가 스스로 kubectl을 호출하고, 결과를 읽고, 다음 행동을 정한다.</a:t>
            </a:r>
            <a:endParaRPr lang="en-US" sz="1300" dirty="0"/>
          </a:p>
        </p:txBody>
      </p:sp>
      <p:sp>
        <p:nvSpPr>
          <p:cNvPr id="17" name="Text 14"/>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5A6572"/>
                </a:solidFill>
                <a:latin typeface="Apple SD Gothic Neo" pitchFamily="34" charset="0"/>
                <a:ea typeface="Apple SD Gothic Neo" pitchFamily="34" charset="-122"/>
                <a:cs typeface="Apple SD Gothic Neo"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실제로 돌려본 결과</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결과 ① 에이전트가 찾아낸 취약점</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사람이 문서에서 못 본 것을, 에이전트가 클러스터를 직접 읽고 찾아냈다.</a:t>
            </a:r>
            <a:endParaRPr lang="en-US" sz="1300" dirty="0"/>
          </a:p>
        </p:txBody>
      </p:sp>
      <p:sp>
        <p:nvSpPr>
          <p:cNvPr id="5" name="Shape 3"/>
          <p:cNvSpPr/>
          <p:nvPr/>
        </p:nvSpPr>
        <p:spPr>
          <a:xfrm>
            <a:off x="640080" y="1783080"/>
            <a:ext cx="10911535" cy="1060704"/>
          </a:xfrm>
          <a:prstGeom prst="roundRect">
            <a:avLst>
              <a:gd name="adj" fmla="val 5172"/>
            </a:avLst>
          </a:prstGeom>
          <a:solidFill>
            <a:srgbClr val="FDF0EE"/>
          </a:solidFill>
          <a:ln/>
        </p:spPr>
        <p:txBody>
          <a:bodyPr/>
          <a:lstStyle/>
          <a:p>
            <a:endParaRPr lang="ko-Kore-KR" altLang="en-US"/>
          </a:p>
        </p:txBody>
      </p:sp>
      <p:sp>
        <p:nvSpPr>
          <p:cNvPr id="6" name="Text 4"/>
          <p:cNvSpPr txBox="1"/>
          <p:nvPr/>
        </p:nvSpPr>
        <p:spPr>
          <a:xfrm>
            <a:off x="1024128" y="1947672"/>
            <a:ext cx="4206240" cy="384048"/>
          </a:xfrm>
          <a:prstGeom prst="rect">
            <a:avLst/>
          </a:prstGeom>
          <a:noFill/>
          <a:ln/>
        </p:spPr>
        <p:txBody>
          <a:bodyPr wrap="square" lIns="0" tIns="0" rIns="0" bIns="0" rtlCol="0" anchor="ctr"/>
          <a:lstStyle/>
          <a:p>
            <a:pPr marL="0" indent="0">
              <a:buNone/>
            </a:pPr>
            <a:r>
              <a:rPr lang="en-US" sz="1500" b="1" dirty="0">
                <a:solidFill>
                  <a:srgbClr val="232F3E"/>
                </a:solidFill>
                <a:latin typeface="Apple SD Gothic Neo" pitchFamily="34" charset="0"/>
                <a:ea typeface="Apple SD Gothic Neo" pitchFamily="34" charset="-122"/>
                <a:cs typeface="Apple SD Gothic Neo" pitchFamily="34" charset="-120"/>
              </a:rPr>
              <a:t>catalog-mysql 이 emptyDir 사용</a:t>
            </a:r>
            <a:endParaRPr lang="en-US" sz="1500" dirty="0"/>
          </a:p>
        </p:txBody>
      </p:sp>
      <p:sp>
        <p:nvSpPr>
          <p:cNvPr id="7" name="Text 5"/>
          <p:cNvSpPr txBox="1"/>
          <p:nvPr/>
        </p:nvSpPr>
        <p:spPr>
          <a:xfrm>
            <a:off x="1024128" y="2331720"/>
            <a:ext cx="4206240" cy="329184"/>
          </a:xfrm>
          <a:prstGeom prst="rect">
            <a:avLst/>
          </a:prstGeom>
          <a:noFill/>
          <a:ln/>
        </p:spPr>
        <p:txBody>
          <a:bodyPr wrap="square" lIns="0" tIns="0" rIns="0" bIns="0" rtlCol="0" anchor="ctr"/>
          <a:lstStyle/>
          <a:p>
            <a:pPr marL="0" indent="0">
              <a:buNone/>
            </a:pPr>
            <a:r>
              <a:rPr lang="en-US" sz="1150" dirty="0">
                <a:solidFill>
                  <a:srgbClr val="687078"/>
                </a:solidFill>
                <a:latin typeface="Apple SD Gothic Neo" pitchFamily="34" charset="0"/>
                <a:ea typeface="Apple SD Gothic Neo" pitchFamily="34" charset="-122"/>
                <a:cs typeface="Apple SD Gothic Neo" pitchFamily="34" charset="-120"/>
              </a:rPr>
              <a:t>PersistentVolume 미사용</a:t>
            </a:r>
            <a:endParaRPr lang="en-US" sz="1150" dirty="0"/>
          </a:p>
        </p:txBody>
      </p:sp>
      <p:sp>
        <p:nvSpPr>
          <p:cNvPr id="8" name="Text 6"/>
          <p:cNvSpPr txBox="1"/>
          <p:nvPr/>
        </p:nvSpPr>
        <p:spPr>
          <a:xfrm>
            <a:off x="5577840" y="1947672"/>
            <a:ext cx="914400" cy="274320"/>
          </a:xfrm>
          <a:prstGeom prst="rect">
            <a:avLst/>
          </a:prstGeom>
          <a:noFill/>
          <a:ln/>
        </p:spPr>
        <p:txBody>
          <a:bodyPr wrap="square" lIns="0" tIns="0" rIns="0" bIns="0" rtlCol="0" anchor="ctr"/>
          <a:lstStyle/>
          <a:p>
            <a:pPr marL="0" indent="0">
              <a:buNone/>
            </a:pPr>
            <a:r>
              <a:rPr lang="en-US" sz="1000" b="1" kern="0" spc="80" dirty="0">
                <a:solidFill>
                  <a:srgbClr val="D13212"/>
                </a:solidFill>
                <a:latin typeface="Apple SD Gothic Neo" pitchFamily="34" charset="0"/>
                <a:ea typeface="Apple SD Gothic Neo" pitchFamily="34" charset="-122"/>
                <a:cs typeface="Apple SD Gothic Neo" pitchFamily="34" charset="-120"/>
              </a:rPr>
              <a:t>영향</a:t>
            </a:r>
            <a:endParaRPr lang="en-US" sz="1000" dirty="0"/>
          </a:p>
        </p:txBody>
      </p:sp>
      <p:sp>
        <p:nvSpPr>
          <p:cNvPr id="9" name="Text 7"/>
          <p:cNvSpPr txBox="1"/>
          <p:nvPr/>
        </p:nvSpPr>
        <p:spPr>
          <a:xfrm>
            <a:off x="5577840" y="2221992"/>
            <a:ext cx="5516575" cy="438912"/>
          </a:xfrm>
          <a:prstGeom prst="rect">
            <a:avLst/>
          </a:prstGeom>
          <a:noFill/>
          <a:ln/>
        </p:spPr>
        <p:txBody>
          <a:bodyPr wrap="square" lIns="0" tIns="0" rIns="0" bIns="0" rtlCol="0" anchor="ctr"/>
          <a:lstStyle/>
          <a:p>
            <a:pPr marL="0" indent="0">
              <a:buNone/>
            </a:pPr>
            <a:r>
              <a:rPr lang="en-US" sz="1500" b="1" dirty="0">
                <a:solidFill>
                  <a:srgbClr val="D13212"/>
                </a:solidFill>
                <a:latin typeface="Apple SD Gothic Neo" pitchFamily="34" charset="0"/>
                <a:ea typeface="Apple SD Gothic Neo" pitchFamily="34" charset="-122"/>
                <a:cs typeface="Apple SD Gothic Neo" pitchFamily="34" charset="-120"/>
              </a:rPr>
              <a:t>Pod 재시작 시 상품 데이터 영구 손실</a:t>
            </a:r>
            <a:endParaRPr lang="en-US" sz="1500" dirty="0"/>
          </a:p>
        </p:txBody>
      </p:sp>
      <p:sp>
        <p:nvSpPr>
          <p:cNvPr id="10" name="Shape 8"/>
          <p:cNvSpPr/>
          <p:nvPr/>
        </p:nvSpPr>
        <p:spPr>
          <a:xfrm>
            <a:off x="640080" y="2971800"/>
            <a:ext cx="10911535" cy="1060704"/>
          </a:xfrm>
          <a:prstGeom prst="roundRect">
            <a:avLst>
              <a:gd name="adj" fmla="val 5172"/>
            </a:avLst>
          </a:prstGeom>
          <a:solidFill>
            <a:srgbClr val="FDF0EE"/>
          </a:solidFill>
          <a:ln/>
        </p:spPr>
        <p:txBody>
          <a:bodyPr/>
          <a:lstStyle/>
          <a:p>
            <a:endParaRPr lang="ko-Kore-KR" altLang="en-US"/>
          </a:p>
        </p:txBody>
      </p:sp>
      <p:sp>
        <p:nvSpPr>
          <p:cNvPr id="11" name="Text 9"/>
          <p:cNvSpPr txBox="1"/>
          <p:nvPr/>
        </p:nvSpPr>
        <p:spPr>
          <a:xfrm>
            <a:off x="1024128" y="3136392"/>
            <a:ext cx="4206240" cy="384048"/>
          </a:xfrm>
          <a:prstGeom prst="rect">
            <a:avLst/>
          </a:prstGeom>
          <a:noFill/>
          <a:ln/>
        </p:spPr>
        <p:txBody>
          <a:bodyPr wrap="square" lIns="0" tIns="0" rIns="0" bIns="0" rtlCol="0" anchor="ctr"/>
          <a:lstStyle/>
          <a:p>
            <a:pPr marL="0" indent="0">
              <a:buNone/>
            </a:pPr>
            <a:r>
              <a:rPr lang="en-US" sz="1500" b="1" dirty="0">
                <a:solidFill>
                  <a:srgbClr val="232F3E"/>
                </a:solidFill>
                <a:latin typeface="Apple SD Gothic Neo" pitchFamily="34" charset="0"/>
                <a:ea typeface="Apple SD Gothic Neo" pitchFamily="34" charset="-122"/>
                <a:cs typeface="Apple SD Gothic Neo" pitchFamily="34" charset="-120"/>
              </a:rPr>
              <a:t>checkout-redis 단일 레플리카</a:t>
            </a:r>
            <a:endParaRPr lang="en-US" sz="1500" dirty="0"/>
          </a:p>
        </p:txBody>
      </p:sp>
      <p:sp>
        <p:nvSpPr>
          <p:cNvPr id="12" name="Text 10"/>
          <p:cNvSpPr txBox="1"/>
          <p:nvPr/>
        </p:nvSpPr>
        <p:spPr>
          <a:xfrm>
            <a:off x="1024128" y="3520440"/>
            <a:ext cx="4206240" cy="329184"/>
          </a:xfrm>
          <a:prstGeom prst="rect">
            <a:avLst/>
          </a:prstGeom>
          <a:noFill/>
          <a:ln/>
        </p:spPr>
        <p:txBody>
          <a:bodyPr wrap="square" lIns="0" tIns="0" rIns="0" bIns="0" rtlCol="0" anchor="ctr"/>
          <a:lstStyle/>
          <a:p>
            <a:pPr marL="0" indent="0">
              <a:buNone/>
            </a:pPr>
            <a:r>
              <a:rPr lang="en-US" sz="1150" dirty="0">
                <a:solidFill>
                  <a:srgbClr val="687078"/>
                </a:solidFill>
                <a:latin typeface="Apple SD Gothic Neo" pitchFamily="34" charset="0"/>
                <a:ea typeface="Apple SD Gothic Neo" pitchFamily="34" charset="-122"/>
                <a:cs typeface="Apple SD Gothic Neo" pitchFamily="34" charset="-120"/>
              </a:rPr>
              <a:t>SPOF (단일 장애점)</a:t>
            </a:r>
            <a:endParaRPr lang="en-US" sz="1150" dirty="0"/>
          </a:p>
        </p:txBody>
      </p:sp>
      <p:sp>
        <p:nvSpPr>
          <p:cNvPr id="13" name="Text 11"/>
          <p:cNvSpPr txBox="1"/>
          <p:nvPr/>
        </p:nvSpPr>
        <p:spPr>
          <a:xfrm>
            <a:off x="5577840" y="3136392"/>
            <a:ext cx="914400" cy="274320"/>
          </a:xfrm>
          <a:prstGeom prst="rect">
            <a:avLst/>
          </a:prstGeom>
          <a:noFill/>
          <a:ln/>
        </p:spPr>
        <p:txBody>
          <a:bodyPr wrap="square" lIns="0" tIns="0" rIns="0" bIns="0" rtlCol="0" anchor="ctr"/>
          <a:lstStyle/>
          <a:p>
            <a:pPr marL="0" indent="0">
              <a:buNone/>
            </a:pPr>
            <a:r>
              <a:rPr lang="en-US" sz="1000" b="1" kern="0" spc="80" dirty="0">
                <a:solidFill>
                  <a:srgbClr val="D13212"/>
                </a:solidFill>
                <a:latin typeface="Apple SD Gothic Neo" pitchFamily="34" charset="0"/>
                <a:ea typeface="Apple SD Gothic Neo" pitchFamily="34" charset="-122"/>
                <a:cs typeface="Apple SD Gothic Neo" pitchFamily="34" charset="-120"/>
              </a:rPr>
              <a:t>영향</a:t>
            </a:r>
            <a:endParaRPr lang="en-US" sz="1000" dirty="0"/>
          </a:p>
        </p:txBody>
      </p:sp>
      <p:sp>
        <p:nvSpPr>
          <p:cNvPr id="14" name="Text 12"/>
          <p:cNvSpPr txBox="1"/>
          <p:nvPr/>
        </p:nvSpPr>
        <p:spPr>
          <a:xfrm>
            <a:off x="5577840" y="3410712"/>
            <a:ext cx="5516575" cy="438912"/>
          </a:xfrm>
          <a:prstGeom prst="rect">
            <a:avLst/>
          </a:prstGeom>
          <a:noFill/>
          <a:ln/>
        </p:spPr>
        <p:txBody>
          <a:bodyPr wrap="square" lIns="0" tIns="0" rIns="0" bIns="0" rtlCol="0" anchor="ctr"/>
          <a:lstStyle/>
          <a:p>
            <a:pPr marL="0" indent="0">
              <a:buNone/>
            </a:pPr>
            <a:r>
              <a:rPr lang="en-US" sz="1500" b="1" dirty="0">
                <a:solidFill>
                  <a:srgbClr val="D13212"/>
                </a:solidFill>
                <a:latin typeface="Apple SD Gothic Neo" pitchFamily="34" charset="0"/>
                <a:ea typeface="Apple SD Gothic Neo" pitchFamily="34" charset="-122"/>
                <a:cs typeface="Apple SD Gothic Neo" pitchFamily="34" charset="-120"/>
              </a:rPr>
              <a:t>해당 Pod 장애 시 결제 전체 중단</a:t>
            </a:r>
            <a:endParaRPr lang="en-US" sz="1500" dirty="0"/>
          </a:p>
        </p:txBody>
      </p:sp>
      <p:sp>
        <p:nvSpPr>
          <p:cNvPr id="15" name="Shape 13"/>
          <p:cNvSpPr/>
          <p:nvPr/>
        </p:nvSpPr>
        <p:spPr>
          <a:xfrm>
            <a:off x="640080" y="4160520"/>
            <a:ext cx="10911535" cy="1060704"/>
          </a:xfrm>
          <a:prstGeom prst="roundRect">
            <a:avLst>
              <a:gd name="adj" fmla="val 5172"/>
            </a:avLst>
          </a:prstGeom>
          <a:solidFill>
            <a:srgbClr val="FFF4E5"/>
          </a:solidFill>
          <a:ln/>
        </p:spPr>
        <p:txBody>
          <a:bodyPr/>
          <a:lstStyle/>
          <a:p>
            <a:endParaRPr lang="ko-Kore-KR" altLang="en-US" dirty="0"/>
          </a:p>
        </p:txBody>
      </p:sp>
      <p:sp>
        <p:nvSpPr>
          <p:cNvPr id="16" name="Text 14"/>
          <p:cNvSpPr txBox="1"/>
          <p:nvPr/>
        </p:nvSpPr>
        <p:spPr>
          <a:xfrm>
            <a:off x="1024128" y="4325112"/>
            <a:ext cx="4206240" cy="384048"/>
          </a:xfrm>
          <a:prstGeom prst="rect">
            <a:avLst/>
          </a:prstGeom>
          <a:noFill/>
          <a:ln/>
        </p:spPr>
        <p:txBody>
          <a:bodyPr wrap="square" lIns="0" tIns="0" rIns="0" bIns="0" rtlCol="0" anchor="ctr"/>
          <a:lstStyle/>
          <a:p>
            <a:pPr marL="0" indent="0">
              <a:buNone/>
            </a:pPr>
            <a:r>
              <a:rPr lang="en-US" sz="1500" b="1" dirty="0">
                <a:solidFill>
                  <a:srgbClr val="232F3E"/>
                </a:solidFill>
                <a:latin typeface="Apple SD Gothic Neo" pitchFamily="34" charset="0"/>
                <a:ea typeface="Apple SD Gothic Neo" pitchFamily="34" charset="-122"/>
                <a:cs typeface="Apple SD Gothic Neo" pitchFamily="34" charset="-120"/>
              </a:rPr>
              <a:t>의존성 체인</a:t>
            </a:r>
            <a:endParaRPr lang="en-US" sz="1500" dirty="0"/>
          </a:p>
        </p:txBody>
      </p:sp>
      <p:sp>
        <p:nvSpPr>
          <p:cNvPr id="17" name="Text 15"/>
          <p:cNvSpPr txBox="1"/>
          <p:nvPr/>
        </p:nvSpPr>
        <p:spPr>
          <a:xfrm>
            <a:off x="1024128" y="4709160"/>
            <a:ext cx="4206240" cy="329184"/>
          </a:xfrm>
          <a:prstGeom prst="rect">
            <a:avLst/>
          </a:prstGeom>
          <a:noFill/>
          <a:ln/>
        </p:spPr>
        <p:txBody>
          <a:bodyPr wrap="square" lIns="0" tIns="0" rIns="0" bIns="0" rtlCol="0" anchor="ctr"/>
          <a:lstStyle/>
          <a:p>
            <a:pPr marL="0" indent="0">
              <a:buNone/>
            </a:pPr>
            <a:r>
              <a:rPr lang="en-US" sz="1150" dirty="0">
                <a:solidFill>
                  <a:srgbClr val="687078"/>
                </a:solidFill>
                <a:latin typeface="Apple SD Gothic Neo" pitchFamily="34" charset="0"/>
                <a:ea typeface="Apple SD Gothic Neo" pitchFamily="34" charset="-122"/>
                <a:cs typeface="Apple SD Gothic Neo" pitchFamily="34" charset="-120"/>
              </a:rPr>
              <a:t>checkout → redis → orders</a:t>
            </a:r>
            <a:endParaRPr lang="en-US" sz="1150" dirty="0"/>
          </a:p>
        </p:txBody>
      </p:sp>
      <p:sp>
        <p:nvSpPr>
          <p:cNvPr id="18" name="Text 16"/>
          <p:cNvSpPr txBox="1"/>
          <p:nvPr/>
        </p:nvSpPr>
        <p:spPr>
          <a:xfrm>
            <a:off x="5577840" y="4325112"/>
            <a:ext cx="914400" cy="274320"/>
          </a:xfrm>
          <a:prstGeom prst="rect">
            <a:avLst/>
          </a:prstGeom>
          <a:noFill/>
          <a:ln/>
        </p:spPr>
        <p:txBody>
          <a:bodyPr wrap="square" lIns="0" tIns="0" rIns="0" bIns="0" rtlCol="0" anchor="ctr"/>
          <a:lstStyle/>
          <a:p>
            <a:pPr marL="0" indent="0">
              <a:buNone/>
            </a:pPr>
            <a:r>
              <a:rPr lang="en-US" sz="1000" b="1" kern="0" spc="80" dirty="0">
                <a:solidFill>
                  <a:srgbClr val="FF9900"/>
                </a:solidFill>
                <a:latin typeface="Apple SD Gothic Neo" pitchFamily="34" charset="0"/>
                <a:ea typeface="Apple SD Gothic Neo" pitchFamily="34" charset="-122"/>
                <a:cs typeface="Apple SD Gothic Neo" pitchFamily="34" charset="-120"/>
              </a:rPr>
              <a:t>영향</a:t>
            </a:r>
            <a:endParaRPr lang="en-US" sz="1000" dirty="0"/>
          </a:p>
        </p:txBody>
      </p:sp>
      <p:sp>
        <p:nvSpPr>
          <p:cNvPr id="19" name="Text 17"/>
          <p:cNvSpPr txBox="1"/>
          <p:nvPr/>
        </p:nvSpPr>
        <p:spPr>
          <a:xfrm>
            <a:off x="5577840" y="4599432"/>
            <a:ext cx="5516575" cy="438912"/>
          </a:xfrm>
          <a:prstGeom prst="rect">
            <a:avLst/>
          </a:prstGeom>
          <a:noFill/>
          <a:ln/>
        </p:spPr>
        <p:txBody>
          <a:bodyPr wrap="square" lIns="0" tIns="0" rIns="0" bIns="0" rtlCol="0" anchor="ctr"/>
          <a:lstStyle/>
          <a:p>
            <a:pPr marL="0" indent="0">
              <a:buNone/>
            </a:pPr>
            <a:r>
              <a:rPr lang="en-US" sz="1500" b="1" dirty="0">
                <a:solidFill>
                  <a:srgbClr val="FF9900"/>
                </a:solidFill>
                <a:latin typeface="Apple SD Gothic Neo" pitchFamily="34" charset="0"/>
                <a:ea typeface="Apple SD Gothic Neo" pitchFamily="34" charset="-122"/>
                <a:cs typeface="Apple SD Gothic Neo" pitchFamily="34" charset="-120"/>
              </a:rPr>
              <a:t>하나만 죽어도 연쇄 장애</a:t>
            </a:r>
            <a:endParaRPr lang="en-US" sz="1500" dirty="0"/>
          </a:p>
        </p:txBody>
      </p:sp>
      <p:sp>
        <p:nvSpPr>
          <p:cNvPr id="20" name="Shape 18"/>
          <p:cNvSpPr/>
          <p:nvPr/>
        </p:nvSpPr>
        <p:spPr>
          <a:xfrm>
            <a:off x="640080" y="5358384"/>
            <a:ext cx="10911535" cy="868680"/>
          </a:xfrm>
          <a:prstGeom prst="roundRect">
            <a:avLst>
              <a:gd name="adj" fmla="val 6316"/>
            </a:avLst>
          </a:prstGeom>
          <a:solidFill>
            <a:srgbClr val="F2F7FF"/>
          </a:solidFill>
          <a:ln/>
        </p:spPr>
        <p:txBody>
          <a:bodyPr/>
          <a:lstStyle/>
          <a:p>
            <a:endParaRPr lang="ko-Kore-KR" altLang="en-US"/>
          </a:p>
        </p:txBody>
      </p:sp>
      <p:sp>
        <p:nvSpPr>
          <p:cNvPr id="21" name="Text 19"/>
          <p:cNvSpPr txBox="1"/>
          <p:nvPr/>
        </p:nvSpPr>
        <p:spPr>
          <a:xfrm>
            <a:off x="1005840" y="5358384"/>
            <a:ext cx="10180015" cy="868680"/>
          </a:xfrm>
          <a:prstGeom prst="rect">
            <a:avLst/>
          </a:prstGeom>
          <a:noFill/>
          <a:ln/>
        </p:spPr>
        <p:txBody>
          <a:bodyPr wrap="square" lIns="0" tIns="0" rIns="0" bIns="0" rtlCol="0" anchor="ctr"/>
          <a:lstStyle/>
          <a:p>
            <a:pPr marL="0" indent="0">
              <a:lnSpc>
                <a:spcPts val="2100"/>
              </a:lnSpc>
              <a:buNone/>
            </a:pPr>
            <a:r>
              <a:rPr lang="en-US" sz="1200" b="1" dirty="0">
                <a:solidFill>
                  <a:srgbClr val="527FFF"/>
                </a:solidFill>
                <a:latin typeface="Apple SD Gothic Neo" pitchFamily="34" charset="0"/>
                <a:ea typeface="Apple SD Gothic Neo" pitchFamily="34" charset="-122"/>
                <a:cs typeface="Apple SD Gothic Neo" pitchFamily="34" charset="-120"/>
              </a:rPr>
              <a:t>대조 — </a:t>
            </a:r>
            <a:r>
              <a:rPr lang="en-US" sz="1200" dirty="0">
                <a:solidFill>
                  <a:srgbClr val="4A5561"/>
                </a:solidFill>
                <a:latin typeface="Apple SD Gothic Neo" pitchFamily="34" charset="0"/>
                <a:ea typeface="Apple SD Gothic Neo" pitchFamily="34" charset="-122"/>
                <a:cs typeface="Apple SD Gothic Neo" pitchFamily="34" charset="-120"/>
              </a:rPr>
              <a:t>같은 앱 안에서 orders-postgresql은 volumeClaimTemplates(PVC)를 제대로 쓴다. DB 구성이 일관되지 않다.
</a:t>
            </a:r>
            <a:r>
              <a:rPr lang="en-US" sz="1200" b="1" dirty="0">
                <a:solidFill>
                  <a:srgbClr val="232F3E"/>
                </a:solidFill>
                <a:latin typeface="Apple SD Gothic Neo" pitchFamily="34" charset="0"/>
                <a:ea typeface="Apple SD Gothic Neo" pitchFamily="34" charset="-122"/>
                <a:cs typeface="Apple SD Gothic Neo" pitchFamily="34" charset="-120"/>
              </a:rPr>
              <a:t>그리고 이 세 가지는 트래픽이 없어도 찾을 수 있는 취약점이다.</a:t>
            </a:r>
            <a:endParaRPr lang="en-US" sz="1200" dirty="0"/>
          </a:p>
        </p:txBody>
      </p:sp>
      <p:sp>
        <p:nvSpPr>
          <p:cNvPr id="23" name="Text 20"/>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실제로 돌려본 결과</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결과 ② 여기까지 가봤습니다</a:t>
            </a:r>
            <a:endParaRPr lang="en-US" sz="2800" dirty="0"/>
          </a:p>
        </p:txBody>
      </p:sp>
      <p:sp>
        <p:nvSpPr>
          <p:cNvPr id="5" name="Shape 3"/>
          <p:cNvSpPr/>
          <p:nvPr/>
        </p:nvSpPr>
        <p:spPr>
          <a:xfrm>
            <a:off x="640080" y="1755648"/>
            <a:ext cx="5029200" cy="1481328"/>
          </a:xfrm>
          <a:prstGeom prst="roundRect">
            <a:avLst>
              <a:gd name="adj" fmla="val 3704"/>
            </a:avLst>
          </a:prstGeom>
          <a:solidFill>
            <a:srgbClr val="E8F8F5"/>
          </a:solidFill>
          <a:ln/>
        </p:spPr>
        <p:txBody>
          <a:bodyPr/>
          <a:lstStyle/>
          <a:p>
            <a:endParaRPr lang="ko-Kore-KR" altLang="en-US"/>
          </a:p>
        </p:txBody>
      </p:sp>
      <p:sp>
        <p:nvSpPr>
          <p:cNvPr id="6" name="Text 4"/>
          <p:cNvSpPr txBox="1"/>
          <p:nvPr/>
        </p:nvSpPr>
        <p:spPr>
          <a:xfrm>
            <a:off x="932688" y="1865376"/>
            <a:ext cx="4443984" cy="310896"/>
          </a:xfrm>
          <a:prstGeom prst="rect">
            <a:avLst/>
          </a:prstGeom>
          <a:noFill/>
          <a:ln/>
        </p:spPr>
        <p:txBody>
          <a:bodyPr wrap="square" lIns="0" tIns="0" rIns="0" bIns="0" rtlCol="0" anchor="ctr"/>
          <a:lstStyle/>
          <a:p>
            <a:pPr marL="0" indent="0">
              <a:buNone/>
            </a:pPr>
            <a:r>
              <a:rPr lang="en-US" sz="1250" b="1" dirty="0">
                <a:solidFill>
                  <a:srgbClr val="01A88D"/>
                </a:solidFill>
                <a:latin typeface="Apple SD Gothic Neo" pitchFamily="34" charset="0"/>
                <a:ea typeface="Apple SD Gothic Neo" pitchFamily="34" charset="-122"/>
                <a:cs typeface="Apple SD Gothic Neo" pitchFamily="34" charset="-120"/>
              </a:rPr>
              <a:t>된 것 — FIS 실험 템플릿이 AWS 콘솔에 실제 생성</a:t>
            </a:r>
            <a:endParaRPr lang="en-US" sz="1250" dirty="0"/>
          </a:p>
        </p:txBody>
      </p:sp>
      <p:sp>
        <p:nvSpPr>
          <p:cNvPr id="7" name="Text 5"/>
          <p:cNvSpPr txBox="1"/>
          <p:nvPr/>
        </p:nvSpPr>
        <p:spPr>
          <a:xfrm>
            <a:off x="932688" y="2212848"/>
            <a:ext cx="4443984" cy="822960"/>
          </a:xfrm>
          <a:prstGeom prst="rect">
            <a:avLst/>
          </a:prstGeom>
          <a:noFill/>
          <a:ln/>
        </p:spPr>
        <p:txBody>
          <a:bodyPr wrap="square" lIns="0" tIns="0" rIns="0" bIns="0" rtlCol="0" anchor="t"/>
          <a:lstStyle/>
          <a:p>
            <a:pPr marL="0" indent="0">
              <a:lnSpc>
                <a:spcPts val="1900"/>
              </a:lnSpc>
              <a:buNone/>
            </a:pPr>
            <a:r>
              <a:rPr lang="en-US" sz="1000" dirty="0">
                <a:solidFill>
                  <a:srgbClr val="232F3E"/>
                </a:solidFill>
                <a:latin typeface="Courier New" pitchFamily="34" charset="0"/>
                <a:ea typeface="Courier New" pitchFamily="34" charset="-122"/>
                <a:cs typeface="Courier New" pitchFamily="34" charset="-120"/>
              </a:rPr>
              <a:t>chaos-eks-pod-cpu-stress-h001     → orders</a:t>
            </a:r>
            <a:endParaRPr lang="en-US" sz="1000" dirty="0"/>
          </a:p>
          <a:p>
            <a:pPr marL="0" indent="0">
              <a:lnSpc>
                <a:spcPts val="1900"/>
              </a:lnSpc>
              <a:buNone/>
            </a:pPr>
            <a:r>
              <a:rPr lang="en-US" sz="1000" dirty="0">
                <a:solidFill>
                  <a:srgbClr val="232F3E"/>
                </a:solidFill>
                <a:latin typeface="Courier New" pitchFamily="34" charset="0"/>
                <a:ea typeface="Courier New" pitchFamily="34" charset="-122"/>
                <a:cs typeface="Courier New" pitchFamily="34" charset="-120"/>
              </a:rPr>
              <a:t>chaos-eks-pod-memory-stress-h002  → carts</a:t>
            </a:r>
            <a:endParaRPr lang="en-US" sz="1000" dirty="0"/>
          </a:p>
        </p:txBody>
      </p:sp>
      <p:sp>
        <p:nvSpPr>
          <p:cNvPr id="8" name="Shape 6"/>
          <p:cNvSpPr/>
          <p:nvPr/>
        </p:nvSpPr>
        <p:spPr>
          <a:xfrm>
            <a:off x="640080" y="3401568"/>
            <a:ext cx="5029200" cy="2606040"/>
          </a:xfrm>
          <a:prstGeom prst="roundRect">
            <a:avLst>
              <a:gd name="adj" fmla="val 2105"/>
            </a:avLst>
          </a:prstGeom>
          <a:solidFill>
            <a:srgbClr val="F7F8F8"/>
          </a:solidFill>
          <a:ln w="12700">
            <a:solidFill>
              <a:srgbClr val="D5DBDB"/>
            </a:solidFill>
            <a:prstDash val="solid"/>
          </a:ln>
        </p:spPr>
        <p:txBody>
          <a:bodyPr/>
          <a:lstStyle/>
          <a:p>
            <a:endParaRPr lang="ko-Kore-KR" altLang="en-US"/>
          </a:p>
        </p:txBody>
      </p:sp>
      <p:sp>
        <p:nvSpPr>
          <p:cNvPr id="9" name="Text 7"/>
          <p:cNvSpPr txBox="1"/>
          <p:nvPr/>
        </p:nvSpPr>
        <p:spPr>
          <a:xfrm>
            <a:off x="932688" y="3511296"/>
            <a:ext cx="4443984" cy="274320"/>
          </a:xfrm>
          <a:prstGeom prst="rect">
            <a:avLst/>
          </a:prstGeom>
          <a:noFill/>
          <a:ln/>
        </p:spPr>
        <p:txBody>
          <a:bodyPr wrap="square" lIns="0" tIns="0" rIns="0" bIns="0" rtlCol="0" anchor="ctr"/>
          <a:lstStyle/>
          <a:p>
            <a:pPr marL="0" indent="0">
              <a:buNone/>
            </a:pPr>
            <a:r>
              <a:rPr lang="en-US" sz="1100" b="1" dirty="0">
                <a:solidFill>
                  <a:srgbClr val="687078"/>
                </a:solidFill>
                <a:latin typeface="Apple SD Gothic Neo" pitchFamily="34" charset="0"/>
                <a:ea typeface="Apple SD Gothic Neo" pitchFamily="34" charset="-122"/>
                <a:cs typeface="Apple SD Gothic Neo" pitchFamily="34" charset="-120"/>
              </a:rPr>
              <a:t>output/result.json  (실제 기록)</a:t>
            </a:r>
            <a:endParaRPr lang="en-US" sz="1100" dirty="0"/>
          </a:p>
        </p:txBody>
      </p:sp>
      <p:sp>
        <p:nvSpPr>
          <p:cNvPr id="10" name="Text 8"/>
          <p:cNvSpPr txBox="1"/>
          <p:nvPr/>
        </p:nvSpPr>
        <p:spPr>
          <a:xfrm>
            <a:off x="932688" y="3803904"/>
            <a:ext cx="4443984" cy="2103120"/>
          </a:xfrm>
          <a:prstGeom prst="rect">
            <a:avLst/>
          </a:prstGeom>
          <a:noFill/>
          <a:ln/>
        </p:spPr>
        <p:txBody>
          <a:bodyPr wrap="square" lIns="0" tIns="0" rIns="0" bIns="0" rtlCol="0" anchor="t"/>
          <a:lstStyle/>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a:t>
            </a:r>
            <a:endParaRPr lang="en-US" sz="950" dirty="0"/>
          </a:p>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  "experiment_id": "EXP-001",</a:t>
            </a:r>
            <a:endParaRPr lang="en-US" sz="950" dirty="0"/>
          </a:p>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  "status": "FAILED",</a:t>
            </a:r>
            <a:endParaRPr lang="en-US" sz="950" dirty="0"/>
          </a:p>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  "pre_checks": {</a:t>
            </a:r>
            <a:endParaRPr lang="en-US" sz="950" dirty="0"/>
          </a:p>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    "target_exists": true,</a:t>
            </a:r>
            <a:endParaRPr lang="en-US" sz="950" dirty="0"/>
          </a:p>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    "replicas_ok": false</a:t>
            </a:r>
            <a:endParaRPr lang="en-US" sz="950" dirty="0"/>
          </a:p>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  },</a:t>
            </a:r>
            <a:endParaRPr lang="en-US" sz="950" dirty="0"/>
          </a:p>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  "observations": "레플리카 수가 2개 미만으로,</a:t>
            </a:r>
            <a:endParaRPr lang="en-US" sz="950" dirty="0"/>
          </a:p>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   최소 레플리카 확인이 실패했습니다."</a:t>
            </a:r>
            <a:endParaRPr lang="en-US" sz="950" dirty="0"/>
          </a:p>
          <a:p>
            <a:pPr marL="0" indent="0">
              <a:lnSpc>
                <a:spcPts val="1600"/>
              </a:lnSpc>
              <a:buNone/>
            </a:pPr>
            <a:r>
              <a:rPr lang="en-US" sz="950" dirty="0">
                <a:solidFill>
                  <a:srgbClr val="232F3E"/>
                </a:solidFill>
                <a:latin typeface="Courier New" pitchFamily="34" charset="0"/>
                <a:ea typeface="Courier New" pitchFamily="34" charset="-122"/>
                <a:cs typeface="Courier New" pitchFamily="34" charset="-120"/>
              </a:rPr>
              <a:t>}</a:t>
            </a:r>
            <a:endParaRPr lang="en-US" sz="950" dirty="0"/>
          </a:p>
        </p:txBody>
      </p:sp>
      <p:sp>
        <p:nvSpPr>
          <p:cNvPr id="11" name="Text 9"/>
          <p:cNvSpPr txBox="1"/>
          <p:nvPr/>
        </p:nvSpPr>
        <p:spPr>
          <a:xfrm>
            <a:off x="6035040" y="1755648"/>
            <a:ext cx="5516575" cy="310896"/>
          </a:xfrm>
          <a:prstGeom prst="rect">
            <a:avLst/>
          </a:prstGeom>
          <a:noFill/>
          <a:ln/>
        </p:spPr>
        <p:txBody>
          <a:bodyPr wrap="square" lIns="0" tIns="0" rIns="0" bIns="0" rtlCol="0" anchor="ctr"/>
          <a:lstStyle/>
          <a:p>
            <a:pPr marL="0" indent="0">
              <a:buNone/>
            </a:pPr>
            <a:r>
              <a:rPr lang="en-US" sz="1300" b="1" dirty="0">
                <a:solidFill>
                  <a:srgbClr val="D13212"/>
                </a:solidFill>
                <a:latin typeface="Apple SD Gothic Neo" pitchFamily="34" charset="0"/>
                <a:ea typeface="Apple SD Gothic Neo" pitchFamily="34" charset="-122"/>
                <a:cs typeface="Apple SD Gothic Neo" pitchFamily="34" charset="-120"/>
              </a:rPr>
              <a:t>안 된 것 — 실제 주입. 이유 3개</a:t>
            </a:r>
            <a:endParaRPr lang="en-US" sz="1300" dirty="0"/>
          </a:p>
        </p:txBody>
      </p:sp>
      <p:sp>
        <p:nvSpPr>
          <p:cNvPr id="12" name="Shape 10"/>
          <p:cNvSpPr/>
          <p:nvPr/>
        </p:nvSpPr>
        <p:spPr>
          <a:xfrm>
            <a:off x="6035040" y="2157984"/>
            <a:ext cx="5516575" cy="1207008"/>
          </a:xfrm>
          <a:prstGeom prst="roundRect">
            <a:avLst>
              <a:gd name="adj" fmla="val 4545"/>
            </a:avLst>
          </a:prstGeom>
          <a:solidFill>
            <a:srgbClr val="E8F8F5"/>
          </a:solidFill>
          <a:ln/>
        </p:spPr>
        <p:txBody>
          <a:bodyPr/>
          <a:lstStyle/>
          <a:p>
            <a:endParaRPr lang="ko-Kore-KR" altLang="en-US"/>
          </a:p>
        </p:txBody>
      </p:sp>
      <p:sp>
        <p:nvSpPr>
          <p:cNvPr id="13" name="Shape 11"/>
          <p:cNvSpPr/>
          <p:nvPr/>
        </p:nvSpPr>
        <p:spPr>
          <a:xfrm>
            <a:off x="6327648" y="2432304"/>
            <a:ext cx="457200" cy="457200"/>
          </a:xfrm>
          <a:prstGeom prst="ellipse">
            <a:avLst/>
          </a:prstGeom>
          <a:solidFill>
            <a:srgbClr val="01A88D"/>
          </a:solidFill>
          <a:ln/>
        </p:spPr>
        <p:txBody>
          <a:bodyPr/>
          <a:lstStyle/>
          <a:p>
            <a:endParaRPr lang="ko-Kore-KR" altLang="en-US"/>
          </a:p>
        </p:txBody>
      </p:sp>
      <p:sp>
        <p:nvSpPr>
          <p:cNvPr id="14" name="Text 12"/>
          <p:cNvSpPr txBox="1"/>
          <p:nvPr/>
        </p:nvSpPr>
        <p:spPr>
          <a:xfrm>
            <a:off x="6327648" y="243230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1</a:t>
            </a:r>
            <a:endParaRPr lang="en-US" sz="1400" dirty="0"/>
          </a:p>
        </p:txBody>
      </p:sp>
      <p:sp>
        <p:nvSpPr>
          <p:cNvPr id="15" name="Text 13"/>
          <p:cNvSpPr txBox="1"/>
          <p:nvPr/>
        </p:nvSpPr>
        <p:spPr>
          <a:xfrm>
            <a:off x="6949440" y="2359152"/>
            <a:ext cx="4282135" cy="658368"/>
          </a:xfrm>
          <a:prstGeom prst="rect">
            <a:avLst/>
          </a:prstGeom>
          <a:noFill/>
          <a:ln/>
        </p:spPr>
        <p:txBody>
          <a:bodyPr wrap="square" lIns="0" tIns="0" rIns="0" bIns="0" rtlCol="0" anchor="t"/>
          <a:lstStyle/>
          <a:p>
            <a:pPr marL="0" indent="0">
              <a:lnSpc>
                <a:spcPts val="1900"/>
              </a:lnSpc>
              <a:buNone/>
            </a:pPr>
            <a:r>
              <a:rPr lang="en-US" sz="1250" b="1" dirty="0">
                <a:solidFill>
                  <a:srgbClr val="232F3E"/>
                </a:solidFill>
                <a:latin typeface="Apple SD Gothic Neo" pitchFamily="34" charset="0"/>
                <a:ea typeface="Apple SD Gothic Neo" pitchFamily="34" charset="-122"/>
                <a:cs typeface="Apple SD Gothic Neo" pitchFamily="34" charset="-120"/>
              </a:rPr>
              <a:t>실행 도구(run_fis_experiment)를 에이전트에 연결하지 않았다</a:t>
            </a:r>
            <a:endParaRPr lang="en-US" sz="1250" dirty="0"/>
          </a:p>
        </p:txBody>
      </p:sp>
      <p:sp>
        <p:nvSpPr>
          <p:cNvPr id="16" name="Text 14"/>
          <p:cNvSpPr txBox="1"/>
          <p:nvPr/>
        </p:nvSpPr>
        <p:spPr>
          <a:xfrm>
            <a:off x="6949440" y="2907792"/>
            <a:ext cx="4282135" cy="310896"/>
          </a:xfrm>
          <a:prstGeom prst="rect">
            <a:avLst/>
          </a:prstGeom>
          <a:noFill/>
          <a:ln/>
        </p:spPr>
        <p:txBody>
          <a:bodyPr wrap="square" lIns="0" tIns="0" rIns="0" bIns="0" rtlCol="0" anchor="ctr"/>
          <a:lstStyle/>
          <a:p>
            <a:pPr marL="0" indent="0">
              <a:buNone/>
            </a:pPr>
            <a:r>
              <a:rPr lang="en-US" sz="1100" b="1" dirty="0">
                <a:solidFill>
                  <a:srgbClr val="01A88D"/>
                </a:solidFill>
                <a:latin typeface="Apple SD Gothic Neo" pitchFamily="34" charset="0"/>
                <a:ea typeface="Apple SD Gothic Neo" pitchFamily="34" charset="-122"/>
                <a:cs typeface="Apple SD Gothic Neo" pitchFamily="34" charset="-120"/>
              </a:rPr>
              <a:t>우리 선택 (안전장치)</a:t>
            </a:r>
            <a:endParaRPr lang="en-US" sz="1100" dirty="0"/>
          </a:p>
        </p:txBody>
      </p:sp>
      <p:sp>
        <p:nvSpPr>
          <p:cNvPr id="17" name="Shape 15"/>
          <p:cNvSpPr/>
          <p:nvPr/>
        </p:nvSpPr>
        <p:spPr>
          <a:xfrm>
            <a:off x="6035040" y="3474720"/>
            <a:ext cx="5516575" cy="1207008"/>
          </a:xfrm>
          <a:prstGeom prst="roundRect">
            <a:avLst>
              <a:gd name="adj" fmla="val 4545"/>
            </a:avLst>
          </a:prstGeom>
          <a:solidFill>
            <a:srgbClr val="FFF4E5"/>
          </a:solidFill>
          <a:ln/>
        </p:spPr>
        <p:txBody>
          <a:bodyPr/>
          <a:lstStyle/>
          <a:p>
            <a:endParaRPr lang="ko-Kore-KR" altLang="en-US"/>
          </a:p>
        </p:txBody>
      </p:sp>
      <p:sp>
        <p:nvSpPr>
          <p:cNvPr id="18" name="Shape 16"/>
          <p:cNvSpPr/>
          <p:nvPr/>
        </p:nvSpPr>
        <p:spPr>
          <a:xfrm>
            <a:off x="6327648" y="3749040"/>
            <a:ext cx="457200" cy="457200"/>
          </a:xfrm>
          <a:prstGeom prst="ellipse">
            <a:avLst/>
          </a:prstGeom>
          <a:solidFill>
            <a:srgbClr val="FF9900"/>
          </a:solidFill>
          <a:ln/>
        </p:spPr>
        <p:txBody>
          <a:bodyPr/>
          <a:lstStyle/>
          <a:p>
            <a:endParaRPr lang="ko-Kore-KR" altLang="en-US"/>
          </a:p>
        </p:txBody>
      </p:sp>
      <p:sp>
        <p:nvSpPr>
          <p:cNvPr id="19" name="Text 17"/>
          <p:cNvSpPr txBox="1"/>
          <p:nvPr/>
        </p:nvSpPr>
        <p:spPr>
          <a:xfrm>
            <a:off x="6327648" y="3749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2</a:t>
            </a:r>
            <a:endParaRPr lang="en-US" sz="1400" dirty="0"/>
          </a:p>
        </p:txBody>
      </p:sp>
      <p:sp>
        <p:nvSpPr>
          <p:cNvPr id="20" name="Text 18"/>
          <p:cNvSpPr txBox="1"/>
          <p:nvPr/>
        </p:nvSpPr>
        <p:spPr>
          <a:xfrm>
            <a:off x="6949440" y="3675888"/>
            <a:ext cx="4282135" cy="658368"/>
          </a:xfrm>
          <a:prstGeom prst="rect">
            <a:avLst/>
          </a:prstGeom>
          <a:noFill/>
          <a:ln/>
        </p:spPr>
        <p:txBody>
          <a:bodyPr wrap="square" lIns="0" tIns="0" rIns="0" bIns="0" rtlCol="0" anchor="t"/>
          <a:lstStyle/>
          <a:p>
            <a:pPr marL="0" indent="0">
              <a:lnSpc>
                <a:spcPts val="1900"/>
              </a:lnSpc>
              <a:buNone/>
            </a:pPr>
            <a:r>
              <a:rPr lang="en-US" sz="1250" b="1" dirty="0">
                <a:solidFill>
                  <a:srgbClr val="232F3E"/>
                </a:solidFill>
                <a:latin typeface="Apple SD Gothic Neo" pitchFamily="34" charset="0"/>
                <a:ea typeface="Apple SD Gothic Neo" pitchFamily="34" charset="-122"/>
                <a:cs typeface="Apple SD Gothic Neo" pitchFamily="34" charset="-120"/>
              </a:rPr>
              <a:t>모든 Deployment의 레플리카가 1개 → 가드레일에 걸림</a:t>
            </a:r>
            <a:endParaRPr lang="en-US" sz="1250" dirty="0"/>
          </a:p>
        </p:txBody>
      </p:sp>
      <p:sp>
        <p:nvSpPr>
          <p:cNvPr id="21" name="Text 19"/>
          <p:cNvSpPr txBox="1"/>
          <p:nvPr/>
        </p:nvSpPr>
        <p:spPr>
          <a:xfrm>
            <a:off x="6949440" y="4224528"/>
            <a:ext cx="4282135" cy="310896"/>
          </a:xfrm>
          <a:prstGeom prst="rect">
            <a:avLst/>
          </a:prstGeom>
          <a:noFill/>
          <a:ln/>
        </p:spPr>
        <p:txBody>
          <a:bodyPr wrap="square" lIns="0" tIns="0" rIns="0" bIns="0" rtlCol="0" anchor="ctr"/>
          <a:lstStyle/>
          <a:p>
            <a:pPr marL="0" indent="0">
              <a:buNone/>
            </a:pPr>
            <a:r>
              <a:rPr lang="en-US" sz="1100" b="1" dirty="0">
                <a:solidFill>
                  <a:srgbClr val="FF9900"/>
                </a:solidFill>
                <a:latin typeface="Apple SD Gothic Neo" pitchFamily="34" charset="0"/>
                <a:ea typeface="Apple SD Gothic Neo" pitchFamily="34" charset="-122"/>
                <a:cs typeface="Apple SD Gothic Neo" pitchFamily="34" charset="-120"/>
              </a:rPr>
              <a:t>대상 환경 문제</a:t>
            </a:r>
            <a:endParaRPr lang="en-US" sz="1100" dirty="0"/>
          </a:p>
        </p:txBody>
      </p:sp>
      <p:sp>
        <p:nvSpPr>
          <p:cNvPr id="22" name="Shape 20"/>
          <p:cNvSpPr/>
          <p:nvPr/>
        </p:nvSpPr>
        <p:spPr>
          <a:xfrm>
            <a:off x="6035040" y="4791456"/>
            <a:ext cx="5516575" cy="1481328"/>
          </a:xfrm>
          <a:prstGeom prst="roundRect">
            <a:avLst>
              <a:gd name="adj" fmla="val 3704"/>
            </a:avLst>
          </a:prstGeom>
          <a:solidFill>
            <a:srgbClr val="FDF0EE"/>
          </a:solidFill>
          <a:ln/>
        </p:spPr>
        <p:txBody>
          <a:bodyPr/>
          <a:lstStyle/>
          <a:p>
            <a:endParaRPr lang="ko-Kore-KR" altLang="en-US"/>
          </a:p>
        </p:txBody>
      </p:sp>
      <p:sp>
        <p:nvSpPr>
          <p:cNvPr id="23" name="Shape 21"/>
          <p:cNvSpPr/>
          <p:nvPr/>
        </p:nvSpPr>
        <p:spPr>
          <a:xfrm>
            <a:off x="6327648" y="5065776"/>
            <a:ext cx="457200" cy="457200"/>
          </a:xfrm>
          <a:prstGeom prst="ellipse">
            <a:avLst/>
          </a:prstGeom>
          <a:solidFill>
            <a:srgbClr val="D13212"/>
          </a:solidFill>
          <a:ln/>
        </p:spPr>
        <p:txBody>
          <a:bodyPr/>
          <a:lstStyle/>
          <a:p>
            <a:endParaRPr lang="ko-Kore-KR" altLang="en-US"/>
          </a:p>
        </p:txBody>
      </p:sp>
      <p:sp>
        <p:nvSpPr>
          <p:cNvPr id="24" name="Text 22"/>
          <p:cNvSpPr txBox="1"/>
          <p:nvPr/>
        </p:nvSpPr>
        <p:spPr>
          <a:xfrm>
            <a:off x="6327648" y="506577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5" name="Text 23"/>
          <p:cNvSpPr txBox="1"/>
          <p:nvPr/>
        </p:nvSpPr>
        <p:spPr>
          <a:xfrm>
            <a:off x="6949440" y="4992624"/>
            <a:ext cx="4282135" cy="658368"/>
          </a:xfrm>
          <a:prstGeom prst="rect">
            <a:avLst/>
          </a:prstGeom>
          <a:noFill/>
          <a:ln/>
        </p:spPr>
        <p:txBody>
          <a:bodyPr wrap="square" lIns="0" tIns="0" rIns="0" bIns="0" rtlCol="0" anchor="t"/>
          <a:lstStyle/>
          <a:p>
            <a:pPr marL="0" indent="0">
              <a:lnSpc>
                <a:spcPts val="1900"/>
              </a:lnSpc>
              <a:buNone/>
            </a:pPr>
            <a:r>
              <a:rPr lang="en-US" sz="1250" b="1" dirty="0">
                <a:solidFill>
                  <a:srgbClr val="232F3E"/>
                </a:solidFill>
                <a:latin typeface="Apple SD Gothic Neo" pitchFamily="34" charset="0"/>
                <a:ea typeface="Apple SD Gothic Neo" pitchFamily="34" charset="-122"/>
                <a:cs typeface="Apple SD Gothic Neo" pitchFamily="34" charset="-120"/>
              </a:rPr>
              <a:t>EKS Auto Mode에서는 FIS의 Pod 액션이 동작하지 않는다</a:t>
            </a:r>
            <a:endParaRPr lang="en-US" sz="1250" dirty="0"/>
          </a:p>
          <a:p>
            <a:pPr marL="0" indent="0">
              <a:lnSpc>
                <a:spcPts val="1900"/>
              </a:lnSpc>
              <a:buNone/>
            </a:pPr>
            <a:r>
              <a:rPr lang="en-US" sz="1250" b="1" dirty="0">
                <a:solidFill>
                  <a:srgbClr val="232F3E"/>
                </a:solidFill>
                <a:latin typeface="Apple SD Gothic Neo" pitchFamily="34" charset="0"/>
                <a:ea typeface="Apple SD Gothic Neo" pitchFamily="34" charset="-122"/>
                <a:cs typeface="Apple SD Gothic Neo" pitchFamily="34" charset="-120"/>
              </a:rPr>
              <a:t>(Pod Identity Agent 미동작, Nodegroup 없음)</a:t>
            </a:r>
            <a:endParaRPr lang="en-US" sz="1250" dirty="0"/>
          </a:p>
        </p:txBody>
      </p:sp>
      <p:sp>
        <p:nvSpPr>
          <p:cNvPr id="26" name="Text 24"/>
          <p:cNvSpPr txBox="1"/>
          <p:nvPr/>
        </p:nvSpPr>
        <p:spPr>
          <a:xfrm>
            <a:off x="6949440" y="5815584"/>
            <a:ext cx="4282135" cy="310896"/>
          </a:xfrm>
          <a:prstGeom prst="rect">
            <a:avLst/>
          </a:prstGeom>
          <a:noFill/>
          <a:ln/>
        </p:spPr>
        <p:txBody>
          <a:bodyPr wrap="square" lIns="0" tIns="0" rIns="0" bIns="0" rtlCol="0" anchor="ctr"/>
          <a:lstStyle/>
          <a:p>
            <a:pPr marL="0" indent="0">
              <a:buNone/>
            </a:pPr>
            <a:r>
              <a:rPr lang="en-US" sz="1100" b="1" dirty="0">
                <a:solidFill>
                  <a:srgbClr val="D13212"/>
                </a:solidFill>
                <a:latin typeface="Apple SD Gothic Neo" pitchFamily="34" charset="0"/>
                <a:ea typeface="Apple SD Gothic Neo" pitchFamily="34" charset="-122"/>
                <a:cs typeface="Apple SD Gothic Neo" pitchFamily="34" charset="-120"/>
              </a:rPr>
              <a:t>환경 제약</a:t>
            </a:r>
            <a:endParaRPr lang="en-US" sz="1100" dirty="0"/>
          </a:p>
        </p:txBody>
      </p:sp>
      <p:sp>
        <p:nvSpPr>
          <p:cNvPr id="28" name="Text 25"/>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3 · 실제로 돌려본 결과</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결과 ③ 얼마나 빨랐나 (실측)</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가설부터 FIS 템플릿까지 2분 32초, 토큰 33,731개.</a:t>
            </a:r>
            <a:endParaRPr lang="en-US" sz="1300" dirty="0"/>
          </a:p>
        </p:txBody>
      </p:sp>
      <p:graphicFrame>
        <p:nvGraphicFramePr>
          <p:cNvPr id="5" name="Chart 0"/>
          <p:cNvGraphicFramePr/>
          <p:nvPr/>
        </p:nvGraphicFramePr>
        <p:xfrm>
          <a:off x="640080" y="1755648"/>
          <a:ext cx="6583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498080" y="1755648"/>
            <a:ext cx="4053535" cy="1170432"/>
          </a:xfrm>
          <a:prstGeom prst="roundRect">
            <a:avLst>
              <a:gd name="adj" fmla="val 4688"/>
            </a:avLst>
          </a:prstGeom>
          <a:solidFill>
            <a:srgbClr val="FFF4E5"/>
          </a:solidFill>
          <a:ln/>
        </p:spPr>
        <p:txBody>
          <a:bodyPr/>
          <a:lstStyle/>
          <a:p>
            <a:endParaRPr lang="ko-Kore-KR" altLang="en-US"/>
          </a:p>
        </p:txBody>
      </p:sp>
      <p:sp>
        <p:nvSpPr>
          <p:cNvPr id="7" name="Text 4"/>
          <p:cNvSpPr txBox="1"/>
          <p:nvPr/>
        </p:nvSpPr>
        <p:spPr>
          <a:xfrm>
            <a:off x="7790688" y="1901952"/>
            <a:ext cx="3468319" cy="274320"/>
          </a:xfrm>
          <a:prstGeom prst="rect">
            <a:avLst/>
          </a:prstGeom>
          <a:noFill/>
          <a:ln/>
        </p:spPr>
        <p:txBody>
          <a:bodyPr wrap="square" lIns="0" tIns="0" rIns="0" bIns="0" rtlCol="0" anchor="ctr"/>
          <a:lstStyle/>
          <a:p>
            <a:pPr marL="0" indent="0">
              <a:buNone/>
            </a:pPr>
            <a:r>
              <a:rPr lang="en-US" sz="1150" dirty="0">
                <a:solidFill>
                  <a:srgbClr val="4A5561"/>
                </a:solidFill>
                <a:latin typeface="Apple SD Gothic Neo" pitchFamily="34" charset="0"/>
                <a:ea typeface="Apple SD Gothic Neo" pitchFamily="34" charset="-122"/>
                <a:cs typeface="Apple SD Gothic Neo" pitchFamily="34" charset="-120"/>
              </a:rPr>
              <a:t>5개 에이전트 합계</a:t>
            </a:r>
            <a:endParaRPr lang="en-US" sz="1150" dirty="0"/>
          </a:p>
        </p:txBody>
      </p:sp>
      <p:sp>
        <p:nvSpPr>
          <p:cNvPr id="8" name="Text 5"/>
          <p:cNvSpPr txBox="1"/>
          <p:nvPr/>
        </p:nvSpPr>
        <p:spPr>
          <a:xfrm>
            <a:off x="7790688" y="2194560"/>
            <a:ext cx="3468319" cy="566928"/>
          </a:xfrm>
          <a:prstGeom prst="rect">
            <a:avLst/>
          </a:prstGeom>
          <a:noFill/>
          <a:ln/>
        </p:spPr>
        <p:txBody>
          <a:bodyPr wrap="square" lIns="0" tIns="0" rIns="0" bIns="0" rtlCol="0" anchor="ctr"/>
          <a:lstStyle/>
          <a:p>
            <a:pPr marL="0" indent="0">
              <a:buNone/>
            </a:pPr>
            <a:r>
              <a:rPr lang="en-US" sz="3200" b="1" dirty="0">
                <a:solidFill>
                  <a:srgbClr val="FF9900"/>
                </a:solidFill>
                <a:latin typeface="Apple SD Gothic Neo" pitchFamily="34" charset="0"/>
                <a:ea typeface="Apple SD Gothic Neo" pitchFamily="34" charset="-122"/>
                <a:cs typeface="Apple SD Gothic Neo" pitchFamily="34" charset="-120"/>
              </a:rPr>
              <a:t>약 122초</a:t>
            </a:r>
            <a:endParaRPr lang="en-US" sz="3200" dirty="0"/>
          </a:p>
        </p:txBody>
      </p:sp>
      <p:sp>
        <p:nvSpPr>
          <p:cNvPr id="9" name="Shape 6"/>
          <p:cNvSpPr/>
          <p:nvPr/>
        </p:nvSpPr>
        <p:spPr>
          <a:xfrm>
            <a:off x="7498080" y="3127248"/>
            <a:ext cx="4053535" cy="1170432"/>
          </a:xfrm>
          <a:prstGeom prst="roundRect">
            <a:avLst>
              <a:gd name="adj" fmla="val 4688"/>
            </a:avLst>
          </a:prstGeom>
          <a:solidFill>
            <a:srgbClr val="F2F7FF"/>
          </a:solidFill>
          <a:ln/>
        </p:spPr>
        <p:txBody>
          <a:bodyPr/>
          <a:lstStyle/>
          <a:p>
            <a:endParaRPr lang="ko-Kore-KR" altLang="en-US"/>
          </a:p>
        </p:txBody>
      </p:sp>
      <p:sp>
        <p:nvSpPr>
          <p:cNvPr id="10" name="Text 7"/>
          <p:cNvSpPr txBox="1"/>
          <p:nvPr/>
        </p:nvSpPr>
        <p:spPr>
          <a:xfrm>
            <a:off x="7790688" y="3273552"/>
            <a:ext cx="3468319" cy="274320"/>
          </a:xfrm>
          <a:prstGeom prst="rect">
            <a:avLst/>
          </a:prstGeom>
          <a:noFill/>
          <a:ln/>
        </p:spPr>
        <p:txBody>
          <a:bodyPr wrap="square" lIns="0" tIns="0" rIns="0" bIns="0" rtlCol="0" anchor="ctr"/>
          <a:lstStyle/>
          <a:p>
            <a:pPr marL="0" indent="0">
              <a:buNone/>
            </a:pPr>
            <a:r>
              <a:rPr lang="en-US" sz="1150" dirty="0">
                <a:solidFill>
                  <a:srgbClr val="4A5561"/>
                </a:solidFill>
                <a:latin typeface="Apple SD Gothic Neo" pitchFamily="34" charset="0"/>
                <a:ea typeface="Apple SD Gothic Neo" pitchFamily="34" charset="-122"/>
                <a:cs typeface="Apple SD Gothic Neo" pitchFamily="34" charset="-120"/>
              </a:rPr>
              <a:t>전체 노트북 (Cell 0~8)</a:t>
            </a:r>
            <a:endParaRPr lang="en-US" sz="1150" dirty="0"/>
          </a:p>
        </p:txBody>
      </p:sp>
      <p:sp>
        <p:nvSpPr>
          <p:cNvPr id="11" name="Text 8"/>
          <p:cNvSpPr txBox="1"/>
          <p:nvPr/>
        </p:nvSpPr>
        <p:spPr>
          <a:xfrm>
            <a:off x="7790688" y="3566160"/>
            <a:ext cx="3468319" cy="566928"/>
          </a:xfrm>
          <a:prstGeom prst="rect">
            <a:avLst/>
          </a:prstGeom>
          <a:noFill/>
          <a:ln/>
        </p:spPr>
        <p:txBody>
          <a:bodyPr wrap="square" lIns="0" tIns="0" rIns="0" bIns="0" rtlCol="0" anchor="ctr"/>
          <a:lstStyle/>
          <a:p>
            <a:pPr marL="0" indent="0">
              <a:buNone/>
            </a:pPr>
            <a:r>
              <a:rPr lang="en-US" sz="3200" b="1" dirty="0">
                <a:solidFill>
                  <a:srgbClr val="232F3E"/>
                </a:solidFill>
                <a:latin typeface="Apple SD Gothic Neo" pitchFamily="34" charset="0"/>
                <a:ea typeface="Apple SD Gothic Neo" pitchFamily="34" charset="-122"/>
                <a:cs typeface="Apple SD Gothic Neo" pitchFamily="34" charset="-120"/>
              </a:rPr>
              <a:t>2분 32초</a:t>
            </a:r>
            <a:endParaRPr lang="en-US" sz="3200" dirty="0"/>
          </a:p>
        </p:txBody>
      </p:sp>
      <p:sp>
        <p:nvSpPr>
          <p:cNvPr id="12" name="Shape 9"/>
          <p:cNvSpPr/>
          <p:nvPr/>
        </p:nvSpPr>
        <p:spPr>
          <a:xfrm>
            <a:off x="7498080" y="4315968"/>
            <a:ext cx="4053535" cy="731520"/>
          </a:xfrm>
          <a:prstGeom prst="roundRect">
            <a:avLst>
              <a:gd name="adj" fmla="val 7500"/>
            </a:avLst>
          </a:prstGeom>
          <a:solidFill>
            <a:srgbClr val="F7F8F8"/>
          </a:solidFill>
          <a:ln w="12700">
            <a:solidFill>
              <a:srgbClr val="D5DBDB"/>
            </a:solidFill>
            <a:prstDash val="solid"/>
          </a:ln>
        </p:spPr>
        <p:txBody>
          <a:bodyPr/>
          <a:lstStyle/>
          <a:p>
            <a:endParaRPr lang="ko-Kore-KR" altLang="en-US"/>
          </a:p>
        </p:txBody>
      </p:sp>
      <p:sp>
        <p:nvSpPr>
          <p:cNvPr id="13" name="Text 10"/>
          <p:cNvSpPr txBox="1"/>
          <p:nvPr/>
        </p:nvSpPr>
        <p:spPr>
          <a:xfrm>
            <a:off x="7790688" y="4315968"/>
            <a:ext cx="3468319" cy="731520"/>
          </a:xfrm>
          <a:prstGeom prst="rect">
            <a:avLst/>
          </a:prstGeom>
          <a:noFill/>
          <a:ln/>
        </p:spPr>
        <p:txBody>
          <a:bodyPr wrap="square" lIns="0" tIns="0" rIns="0" bIns="0" rtlCol="0" anchor="ctr"/>
          <a:lstStyle/>
          <a:p>
            <a:pPr marL="0" indent="0">
              <a:buNone/>
            </a:pPr>
            <a:r>
              <a:rPr lang="en-US" sz="1150" dirty="0">
                <a:solidFill>
                  <a:srgbClr val="687078"/>
                </a:solidFill>
                <a:latin typeface="Apple SD Gothic Neo" pitchFamily="34" charset="0"/>
                <a:ea typeface="Apple SD Gothic Neo" pitchFamily="34" charset="-122"/>
                <a:cs typeface="Apple SD Gothic Neo" pitchFamily="34" charset="-120"/>
              </a:rPr>
              <a:t>토큰  </a:t>
            </a:r>
            <a:r>
              <a:rPr lang="en-US" sz="1900" b="1" dirty="0">
                <a:solidFill>
                  <a:srgbClr val="232F3E"/>
                </a:solidFill>
                <a:latin typeface="Apple SD Gothic Neo" pitchFamily="34" charset="0"/>
                <a:ea typeface="Apple SD Gothic Neo" pitchFamily="34" charset="-122"/>
                <a:cs typeface="Apple SD Gothic Neo" pitchFamily="34" charset="-120"/>
              </a:rPr>
              <a:t>33,731</a:t>
            </a:r>
            <a:r>
              <a:rPr lang="en-US" sz="1050" dirty="0">
                <a:solidFill>
                  <a:srgbClr val="687078"/>
                </a:solidFill>
                <a:latin typeface="Apple SD Gothic Neo" pitchFamily="34" charset="0"/>
                <a:ea typeface="Apple SD Gothic Neo" pitchFamily="34" charset="-122"/>
                <a:cs typeface="Apple SD Gothic Neo" pitchFamily="34" charset="-120"/>
              </a:rPr>
              <a:t>   입력 28,181 / 출력 5,550</a:t>
            </a:r>
            <a:endParaRPr lang="en-US" sz="1150" dirty="0"/>
          </a:p>
        </p:txBody>
      </p:sp>
      <p:sp>
        <p:nvSpPr>
          <p:cNvPr id="14" name="Shape 11"/>
          <p:cNvSpPr/>
          <p:nvPr/>
        </p:nvSpPr>
        <p:spPr>
          <a:xfrm>
            <a:off x="640080" y="5230368"/>
            <a:ext cx="10911535" cy="1005840"/>
          </a:xfrm>
          <a:prstGeom prst="roundRect">
            <a:avLst>
              <a:gd name="adj" fmla="val 5455"/>
            </a:avLst>
          </a:prstGeom>
          <a:solidFill>
            <a:srgbClr val="FDF0EE"/>
          </a:solidFill>
          <a:ln/>
        </p:spPr>
        <p:txBody>
          <a:bodyPr/>
          <a:lstStyle/>
          <a:p>
            <a:endParaRPr lang="ko-Kore-KR" altLang="en-US"/>
          </a:p>
        </p:txBody>
      </p:sp>
      <p:sp>
        <p:nvSpPr>
          <p:cNvPr id="15" name="Text 12"/>
          <p:cNvSpPr txBox="1"/>
          <p:nvPr/>
        </p:nvSpPr>
        <p:spPr>
          <a:xfrm>
            <a:off x="1005840" y="5230368"/>
            <a:ext cx="10180015" cy="1005840"/>
          </a:xfrm>
          <a:prstGeom prst="rect">
            <a:avLst/>
          </a:prstGeom>
          <a:noFill/>
          <a:ln/>
        </p:spPr>
        <p:txBody>
          <a:bodyPr wrap="square" lIns="0" tIns="0" rIns="0" bIns="0" rtlCol="0" anchor="ctr"/>
          <a:lstStyle/>
          <a:p>
            <a:pPr marL="0" indent="0">
              <a:lnSpc>
                <a:spcPts val="2200"/>
              </a:lnSpc>
              <a:buNone/>
            </a:pPr>
            <a:r>
              <a:rPr lang="en-US" sz="1250" b="1" dirty="0">
                <a:solidFill>
                  <a:srgbClr val="D13212"/>
                </a:solidFill>
                <a:latin typeface="Apple SD Gothic Neo" pitchFamily="34" charset="0"/>
                <a:ea typeface="Apple SD Gothic Neo" pitchFamily="34" charset="-122"/>
                <a:cs typeface="Apple SD Gothic Neo" pitchFamily="34" charset="-120"/>
              </a:rPr>
              <a:t>과장하지 않기 — </a:t>
            </a:r>
            <a:r>
              <a:rPr lang="en-US" sz="1250" dirty="0">
                <a:solidFill>
                  <a:srgbClr val="4A5561"/>
                </a:solidFill>
                <a:latin typeface="Apple SD Gothic Neo" pitchFamily="34" charset="0"/>
                <a:ea typeface="Apple SD Gothic Neo" pitchFamily="34" charset="-122"/>
                <a:cs typeface="Apple SD Gothic Neo" pitchFamily="34" charset="-120"/>
              </a:rPr>
              <a:t>"3~4주"는 AWS 자료 기준 추정치다. "90% 단축을 증명했다"고는 말하지 않는다.
</a:t>
            </a:r>
            <a:r>
              <a:rPr lang="en-US" sz="1250" b="1" dirty="0">
                <a:solidFill>
                  <a:srgbClr val="232F3E"/>
                </a:solidFill>
                <a:latin typeface="Apple SD Gothic Neo" pitchFamily="34" charset="0"/>
                <a:ea typeface="Apple SD Gothic Neo" pitchFamily="34" charset="-122"/>
                <a:cs typeface="Apple SD Gothic Neo" pitchFamily="34" charset="-120"/>
              </a:rPr>
              <a:t>확실히 말할 수 있는 것: 클러스터 분석 + 가설 5개 + FIS 템플릿 2개 생성 = 2분 32초. 사람이 하면 최소 며칠.</a:t>
            </a:r>
            <a:endParaRPr lang="en-US" sz="1250" dirty="0"/>
          </a:p>
        </p:txBody>
      </p:sp>
      <p:sp>
        <p:nvSpPr>
          <p:cNvPr id="17" name="Text 13"/>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4 · 배운 것과 한계</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잘 된 것 / 안 된 것</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과장하지 않는다. 한계를 먼저 말하면 나머지 주장의 신뢰도가 올라간다.</a:t>
            </a:r>
            <a:endParaRPr lang="en-US" sz="1300" dirty="0"/>
          </a:p>
        </p:txBody>
      </p:sp>
      <p:sp>
        <p:nvSpPr>
          <p:cNvPr id="5" name="Shape 3"/>
          <p:cNvSpPr/>
          <p:nvPr/>
        </p:nvSpPr>
        <p:spPr>
          <a:xfrm>
            <a:off x="640080" y="1755648"/>
            <a:ext cx="5272888" cy="3794760"/>
          </a:xfrm>
          <a:prstGeom prst="roundRect">
            <a:avLst>
              <a:gd name="adj" fmla="val 1446"/>
            </a:avLst>
          </a:prstGeom>
          <a:solidFill>
            <a:srgbClr val="E8F8F5"/>
          </a:solidFill>
          <a:ln/>
        </p:spPr>
        <p:txBody>
          <a:bodyPr/>
          <a:lstStyle/>
          <a:p>
            <a:endParaRPr lang="ko-Kore-KR" altLang="en-US"/>
          </a:p>
        </p:txBody>
      </p:sp>
      <p:sp>
        <p:nvSpPr>
          <p:cNvPr id="6" name="Text 4"/>
          <p:cNvSpPr txBox="1"/>
          <p:nvPr/>
        </p:nvSpPr>
        <p:spPr>
          <a:xfrm>
            <a:off x="987552" y="1901952"/>
            <a:ext cx="4577944" cy="384048"/>
          </a:xfrm>
          <a:prstGeom prst="rect">
            <a:avLst/>
          </a:prstGeom>
          <a:noFill/>
          <a:ln/>
        </p:spPr>
        <p:txBody>
          <a:bodyPr wrap="square" lIns="0" tIns="0" rIns="0" bIns="0" rtlCol="0" anchor="ctr"/>
          <a:lstStyle/>
          <a:p>
            <a:pPr marL="0" indent="0">
              <a:buNone/>
            </a:pPr>
            <a:r>
              <a:rPr lang="en-US" sz="1700" b="1" dirty="0">
                <a:solidFill>
                  <a:srgbClr val="01A88D"/>
                </a:solidFill>
                <a:latin typeface="Apple SD Gothic Neo" pitchFamily="34" charset="0"/>
                <a:ea typeface="Apple SD Gothic Neo" pitchFamily="34" charset="-122"/>
                <a:cs typeface="Apple SD Gothic Neo" pitchFamily="34" charset="-120"/>
              </a:rPr>
              <a:t>잘 된 것</a:t>
            </a:r>
            <a:endParaRPr lang="en-US" sz="1700" dirty="0"/>
          </a:p>
        </p:txBody>
      </p:sp>
      <p:sp>
        <p:nvSpPr>
          <p:cNvPr id="7" name="Text 5"/>
          <p:cNvSpPr txBox="1"/>
          <p:nvPr/>
        </p:nvSpPr>
        <p:spPr>
          <a:xfrm>
            <a:off x="987552" y="2377440"/>
            <a:ext cx="4577944" cy="3383280"/>
          </a:xfrm>
          <a:prstGeom prst="rect">
            <a:avLst/>
          </a:prstGeom>
          <a:noFill/>
          <a:ln/>
        </p:spPr>
        <p:txBody>
          <a:bodyPr wrap="square" lIns="0" tIns="0" rIns="0" bIns="0" rtlCol="0" anchor="t"/>
          <a:lstStyle/>
          <a:p>
            <a:pPr marL="342900" indent="-342900">
              <a:spcAft>
                <a:spcPts val="1300"/>
              </a:spcAft>
              <a:buSzPct val="100000"/>
              <a:buChar char="•"/>
            </a:pPr>
            <a:r>
              <a:rPr lang="en-US" sz="1250" b="1" dirty="0">
                <a:solidFill>
                  <a:srgbClr val="4A5561"/>
                </a:solidFill>
                <a:latin typeface="Apple SD Gothic Neo" pitchFamily="34" charset="0"/>
                <a:ea typeface="Apple SD Gothic Neo" pitchFamily="34" charset="-122"/>
                <a:cs typeface="Apple SD Gothic Neo" pitchFamily="34" charset="-120"/>
              </a:rPr>
              <a:t>실시간 클러스터 탐색 기반 가설 생성 — 아키텍처 문서 없이도 동작</a:t>
            </a:r>
            <a:endParaRPr lang="en-US" sz="1250" b="1" dirty="0"/>
          </a:p>
          <a:p>
            <a:pPr marL="342900" indent="-342900">
              <a:spcAft>
                <a:spcPts val="1300"/>
              </a:spcAft>
              <a:buSzPct val="100000"/>
              <a:buChar char="•"/>
            </a:pPr>
            <a:r>
              <a:rPr lang="en-US" sz="1250" b="1" dirty="0">
                <a:solidFill>
                  <a:srgbClr val="4A5561"/>
                </a:solidFill>
                <a:latin typeface="Apple SD Gothic Neo" pitchFamily="34" charset="0"/>
                <a:ea typeface="Apple SD Gothic Neo" pitchFamily="34" charset="-122"/>
                <a:cs typeface="Apple SD Gothic Neo" pitchFamily="34" charset="-120"/>
              </a:rPr>
              <a:t>FIS 실험 템플릿이 실제로 생성됨 (콘솔에서 확인 가능한 실물)</a:t>
            </a:r>
            <a:endParaRPr lang="en-US" sz="1250" b="1" dirty="0"/>
          </a:p>
          <a:p>
            <a:pPr marL="342900" indent="-342900">
              <a:spcAft>
                <a:spcPts val="13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가드레일의 자동 거부가 실제로 작동</a:t>
            </a:r>
            <a:endParaRPr lang="en-US" sz="1250" dirty="0"/>
          </a:p>
          <a:p>
            <a:pPr marL="342900" indent="-342900">
              <a:spcAft>
                <a:spcPts val="13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5개 실패 도메인을 빠짐없이 커버 — 사람의 경험 편향을 우회</a:t>
            </a:r>
            <a:endParaRPr lang="en-US" sz="1250" dirty="0"/>
          </a:p>
          <a:p>
            <a:pPr marL="342900" indent="-342900">
              <a:spcAft>
                <a:spcPts val="13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중간 산출물이 JSON으로 남아 사람이 개입·수정 가능</a:t>
            </a:r>
            <a:endParaRPr lang="en-US" sz="1250" dirty="0"/>
          </a:p>
        </p:txBody>
      </p:sp>
      <p:sp>
        <p:nvSpPr>
          <p:cNvPr id="8" name="Shape 6"/>
          <p:cNvSpPr/>
          <p:nvPr/>
        </p:nvSpPr>
        <p:spPr>
          <a:xfrm>
            <a:off x="6278728" y="1755648"/>
            <a:ext cx="5272888" cy="3794760"/>
          </a:xfrm>
          <a:prstGeom prst="roundRect">
            <a:avLst>
              <a:gd name="adj" fmla="val 1446"/>
            </a:avLst>
          </a:prstGeom>
          <a:solidFill>
            <a:srgbClr val="FDF0EE"/>
          </a:solidFill>
          <a:ln/>
        </p:spPr>
        <p:txBody>
          <a:bodyPr/>
          <a:lstStyle/>
          <a:p>
            <a:endParaRPr lang="ko-Kore-KR" altLang="en-US"/>
          </a:p>
        </p:txBody>
      </p:sp>
      <p:sp>
        <p:nvSpPr>
          <p:cNvPr id="9" name="Text 7"/>
          <p:cNvSpPr txBox="1"/>
          <p:nvPr/>
        </p:nvSpPr>
        <p:spPr>
          <a:xfrm>
            <a:off x="6626200" y="1901952"/>
            <a:ext cx="4577944" cy="384048"/>
          </a:xfrm>
          <a:prstGeom prst="rect">
            <a:avLst/>
          </a:prstGeom>
          <a:noFill/>
          <a:ln/>
        </p:spPr>
        <p:txBody>
          <a:bodyPr wrap="square" lIns="0" tIns="0" rIns="0" bIns="0" rtlCol="0" anchor="ctr"/>
          <a:lstStyle/>
          <a:p>
            <a:pPr marL="0" indent="0">
              <a:buNone/>
            </a:pPr>
            <a:r>
              <a:rPr lang="en-US" sz="1700" b="1" dirty="0">
                <a:solidFill>
                  <a:srgbClr val="D13212"/>
                </a:solidFill>
                <a:latin typeface="Apple SD Gothic Neo" pitchFamily="34" charset="0"/>
                <a:ea typeface="Apple SD Gothic Neo" pitchFamily="34" charset="-122"/>
                <a:cs typeface="Apple SD Gothic Neo" pitchFamily="34" charset="-120"/>
              </a:rPr>
              <a:t>안 된 것</a:t>
            </a:r>
            <a:endParaRPr lang="en-US" sz="1700" dirty="0"/>
          </a:p>
        </p:txBody>
      </p:sp>
      <p:sp>
        <p:nvSpPr>
          <p:cNvPr id="10" name="Text 8"/>
          <p:cNvSpPr txBox="1"/>
          <p:nvPr/>
        </p:nvSpPr>
        <p:spPr>
          <a:xfrm>
            <a:off x="6626200" y="2377440"/>
            <a:ext cx="4577944" cy="3383280"/>
          </a:xfrm>
          <a:prstGeom prst="rect">
            <a:avLst/>
          </a:prstGeom>
          <a:noFill/>
          <a:ln/>
        </p:spPr>
        <p:txBody>
          <a:bodyPr wrap="square" lIns="0" tIns="0" rIns="0" bIns="0" rtlCol="0" anchor="t"/>
          <a:lstStyle/>
          <a:p>
            <a:pPr marL="342900" indent="-342900">
              <a:spcAft>
                <a:spcPts val="13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실제 </a:t>
            </a:r>
            <a:r>
              <a:rPr lang="en-US" sz="1250" dirty="0" err="1">
                <a:solidFill>
                  <a:srgbClr val="4A5561"/>
                </a:solidFill>
                <a:latin typeface="Apple SD Gothic Neo" pitchFamily="34" charset="0"/>
                <a:ea typeface="Apple SD Gothic Neo" pitchFamily="34" charset="-122"/>
                <a:cs typeface="Apple SD Gothic Neo" pitchFamily="34" charset="-120"/>
              </a:rPr>
              <a:t>장애</a:t>
            </a:r>
            <a:r>
              <a:rPr lang="en-US" sz="1250" dirty="0">
                <a:solidFill>
                  <a:srgbClr val="4A5561"/>
                </a:solidFill>
                <a:latin typeface="Apple SD Gothic Neo" pitchFamily="34" charset="0"/>
                <a:ea typeface="Apple SD Gothic Neo" pitchFamily="34" charset="-122"/>
                <a:cs typeface="Apple SD Gothic Neo" pitchFamily="34" charset="-120"/>
              </a:rPr>
              <a:t> </a:t>
            </a:r>
            <a:r>
              <a:rPr lang="en-US" sz="1250" dirty="0" err="1">
                <a:solidFill>
                  <a:srgbClr val="4A5561"/>
                </a:solidFill>
                <a:latin typeface="Apple SD Gothic Neo" pitchFamily="34" charset="0"/>
                <a:ea typeface="Apple SD Gothic Neo" pitchFamily="34" charset="-122"/>
                <a:cs typeface="Apple SD Gothic Neo" pitchFamily="34" charset="-120"/>
              </a:rPr>
              <a:t>주입</a:t>
            </a:r>
            <a:r>
              <a:rPr lang="ko-KR" altLang="en-US" sz="1250" dirty="0">
                <a:solidFill>
                  <a:srgbClr val="4A5561"/>
                </a:solidFill>
                <a:latin typeface="Apple SD Gothic Neo" pitchFamily="34" charset="0"/>
                <a:ea typeface="Apple SD Gothic Neo" pitchFamily="34" charset="-122"/>
                <a:cs typeface="Apple SD Gothic Neo" pitchFamily="34" charset="-120"/>
              </a:rPr>
              <a:t> 결과 미확인</a:t>
            </a:r>
            <a:endParaRPr lang="en-US" sz="1250" dirty="0"/>
          </a:p>
          <a:p>
            <a:pPr marL="342900" indent="-342900">
              <a:spcAft>
                <a:spcPts val="13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중단 조건을 걸지 않았다 — stopConditions: source: none</a:t>
            </a:r>
            <a:endParaRPr lang="en-US" sz="1250" dirty="0"/>
          </a:p>
          <a:p>
            <a:pPr marL="342900" indent="-342900">
              <a:spcAft>
                <a:spcPts val="1300"/>
              </a:spcAft>
              <a:buSzPct val="100000"/>
              <a:buChar char="•"/>
            </a:pPr>
            <a:r>
              <a:rPr lang="en-US" sz="1250" b="1" dirty="0">
                <a:solidFill>
                  <a:srgbClr val="4A5561"/>
                </a:solidFill>
                <a:latin typeface="Apple SD Gothic Neo" pitchFamily="34" charset="0"/>
                <a:ea typeface="Apple SD Gothic Neo" pitchFamily="34" charset="-122"/>
                <a:cs typeface="Apple SD Gothic Neo" pitchFamily="34" charset="-120"/>
              </a:rPr>
              <a:t>실제 트래픽이 없었다 </a:t>
            </a:r>
            <a:r>
              <a:rPr lang="en-US" sz="1250" dirty="0">
                <a:solidFill>
                  <a:srgbClr val="4A5561"/>
                </a:solidFill>
                <a:latin typeface="Apple SD Gothic Neo" pitchFamily="34" charset="0"/>
                <a:ea typeface="Apple SD Gothic Neo" pitchFamily="34" charset="-122"/>
                <a:cs typeface="Apple SD Gothic Neo" pitchFamily="34" charset="-120"/>
              </a:rPr>
              <a:t>→ 다음 장에서 따로 다룸</a:t>
            </a:r>
            <a:endParaRPr lang="en-US" sz="1250" dirty="0"/>
          </a:p>
          <a:p>
            <a:pPr marL="342900" indent="-342900">
              <a:spcAft>
                <a:spcPts val="1300"/>
              </a:spcAft>
              <a:buSzPct val="100000"/>
              <a:buChar char="•"/>
            </a:pPr>
            <a:r>
              <a:rPr lang="en-US" sz="1250" b="1" dirty="0">
                <a:solidFill>
                  <a:srgbClr val="4A5561"/>
                </a:solidFill>
                <a:latin typeface="Apple SD Gothic Neo" pitchFamily="34" charset="0"/>
                <a:ea typeface="Apple SD Gothic Neo" pitchFamily="34" charset="-122"/>
                <a:cs typeface="Apple SD Gothic Neo" pitchFamily="34" charset="-120"/>
              </a:rPr>
              <a:t>에이전트 출력이 매 실행마다 달라짐. 존재하지 않는 서비스명을 낸 흔적도 있다</a:t>
            </a:r>
            <a:endParaRPr lang="en-US" sz="1250" b="1" dirty="0"/>
          </a:p>
          <a:p>
            <a:pPr marL="342900" indent="-342900">
              <a:spcAft>
                <a:spcPts val="1300"/>
              </a:spcAft>
              <a:buSzPct val="100000"/>
              <a:buChar char="•"/>
            </a:pPr>
            <a:r>
              <a:rPr lang="en-US" sz="1250" dirty="0">
                <a:solidFill>
                  <a:srgbClr val="4A5561"/>
                </a:solidFill>
                <a:latin typeface="Apple SD Gothic Neo" pitchFamily="34" charset="0"/>
                <a:ea typeface="Apple SD Gothic Neo" pitchFamily="34" charset="-122"/>
                <a:cs typeface="Apple SD Gothic Neo" pitchFamily="34" charset="-120"/>
              </a:rPr>
              <a:t>승인 게이트가 노트북 셀 실행에 의존 — 자동화된 워크플로 아님</a:t>
            </a:r>
            <a:endParaRPr lang="en-US" sz="1250" dirty="0"/>
          </a:p>
        </p:txBody>
      </p:sp>
      <p:sp>
        <p:nvSpPr>
          <p:cNvPr id="11" name="Shape 9"/>
          <p:cNvSpPr/>
          <p:nvPr/>
        </p:nvSpPr>
        <p:spPr>
          <a:xfrm>
            <a:off x="640080" y="5742432"/>
            <a:ext cx="10911535" cy="566928"/>
          </a:xfrm>
          <a:prstGeom prst="roundRect">
            <a:avLst>
              <a:gd name="adj" fmla="val 9677"/>
            </a:avLst>
          </a:prstGeom>
          <a:solidFill>
            <a:srgbClr val="F7F8F8"/>
          </a:solidFill>
          <a:ln/>
        </p:spPr>
        <p:txBody>
          <a:bodyPr/>
          <a:lstStyle/>
          <a:p>
            <a:endParaRPr lang="ko-Kore-KR" altLang="en-US"/>
          </a:p>
        </p:txBody>
      </p:sp>
      <p:sp>
        <p:nvSpPr>
          <p:cNvPr id="12" name="Text 10"/>
          <p:cNvSpPr txBox="1"/>
          <p:nvPr/>
        </p:nvSpPr>
        <p:spPr>
          <a:xfrm>
            <a:off x="1005840" y="5742432"/>
            <a:ext cx="10180015" cy="566928"/>
          </a:xfrm>
          <a:prstGeom prst="rect">
            <a:avLst/>
          </a:prstGeom>
          <a:noFill/>
          <a:ln/>
        </p:spPr>
        <p:txBody>
          <a:bodyPr wrap="square" lIns="0" tIns="0" rIns="0" bIns="0" rtlCol="0" anchor="ctr"/>
          <a:lstStyle/>
          <a:p>
            <a:pPr marL="0" indent="0">
              <a:buNone/>
            </a:pPr>
            <a:r>
              <a:rPr lang="en-US" sz="1200" b="1" dirty="0">
                <a:solidFill>
                  <a:srgbClr val="232F3E"/>
                </a:solidFill>
                <a:latin typeface="Apple SD Gothic Neo" pitchFamily="34" charset="0"/>
                <a:ea typeface="Apple SD Gothic Neo" pitchFamily="34" charset="-122"/>
                <a:cs typeface="Apple SD Gothic Neo" pitchFamily="34" charset="-120"/>
              </a:rPr>
              <a:t>안 된 것 중 가장 근본적인 건 세 번째 — 이건 따로 한 장을 쓴다.</a:t>
            </a:r>
            <a:endParaRPr lang="en-US" sz="1200" dirty="0"/>
          </a:p>
        </p:txBody>
      </p:sp>
      <p:sp>
        <p:nvSpPr>
          <p:cNvPr id="14" name="Text 11"/>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4 · 배운 것과 한계</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가장 큰 한계: 실제 트래픽이 없었다</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사용자 요청이 없는 상태에서 실험했다. 그래서 "장애가 사용자에게 얼마나 아픈가"는 측정하지 못했다.</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3072384"/>
        </p:xfrm>
        <a:graphic>
          <a:graphicData uri="http://schemas.openxmlformats.org/drawingml/2006/table">
            <a:tbl>
              <a:tblPr/>
              <a:tblGrid>
                <a:gridCol w="4206240">
                  <a:extLst>
                    <a:ext uri="{9D8B030D-6E8A-4147-A177-3AD203B41FA5}">
                      <a16:colId xmlns:a16="http://schemas.microsoft.com/office/drawing/2014/main" val="20000"/>
                    </a:ext>
                  </a:extLst>
                </a:gridCol>
                <a:gridCol w="6705295">
                  <a:extLst>
                    <a:ext uri="{9D8B030D-6E8A-4147-A177-3AD203B41FA5}">
                      <a16:colId xmlns:a16="http://schemas.microsoft.com/office/drawing/2014/main" val="20001"/>
                    </a:ext>
                  </a:extLst>
                </a:gridCol>
              </a:tblGrid>
              <a:tr h="512064">
                <a:tc>
                  <a:txBody>
                    <a:bodyPr/>
                    <a:lstStyle/>
                    <a:p>
                      <a:pPr marL="0" indent="0" algn="l">
                        <a:buNone/>
                      </a:pPr>
                      <a:r>
                        <a:rPr lang="en-US" sz="1150" b="1" dirty="0">
                          <a:solidFill>
                            <a:srgbClr val="FFFFFF"/>
                          </a:solidFill>
                          <a:latin typeface="Apple SD Gothic Neo" pitchFamily="34" charset="0"/>
                          <a:ea typeface="Apple SD Gothic Neo" pitchFamily="34" charset="-122"/>
                          <a:cs typeface="Apple SD Gothic Neo" pitchFamily="34" charset="-120"/>
                        </a:rPr>
                        <a:t>측정 못 한 것</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50" b="1" dirty="0">
                          <a:solidFill>
                            <a:srgbClr val="FFFFFF"/>
                          </a:solidFill>
                          <a:latin typeface="Apple SD Gothic Neo" pitchFamily="34" charset="0"/>
                          <a:ea typeface="Apple SD Gothic Neo" pitchFamily="34" charset="-122"/>
                          <a:cs typeface="Apple SD Gothic Neo" pitchFamily="34" charset="-120"/>
                        </a:rPr>
                        <a:t>왜 트래픽이 필요한가</a:t>
                      </a:r>
                      <a:endParaRPr lang="en-US" sz="11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512064">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실패한 요청 수 / 에러율</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요청이 없으면 실패할 요청도 없다</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p99 레이턴시 변화</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응답이 없으면 응답 시간도 없다</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2"/>
                  </a:ext>
                </a:extLst>
              </a:tr>
              <a:tr h="512064">
                <a:tc>
                  <a:txBody>
                    <a:bodyPr/>
                    <a:lstStyle/>
                    <a:p>
                      <a:pPr marL="0" indent="0" algn="l">
                        <a:buNone/>
                      </a:pPr>
                      <a:r>
                        <a:rPr lang="en-US" sz="1250" b="1" dirty="0">
                          <a:solidFill>
                            <a:srgbClr val="232F3E"/>
                          </a:solidFill>
                          <a:latin typeface="Apple SD Gothic Neo" pitchFamily="34" charset="0"/>
                          <a:ea typeface="Apple SD Gothic Neo" pitchFamily="34" charset="-122"/>
                          <a:cs typeface="Apple SD Gothic Neo" pitchFamily="34" charset="-120"/>
                        </a:rPr>
                        <a:t>주문 성공률 같은 비즈니스 지표</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232F3E"/>
                          </a:solidFill>
                          <a:latin typeface="Apple SD Gothic Neo" pitchFamily="34" charset="0"/>
                          <a:ea typeface="Apple SD Gothic Neo" pitchFamily="34" charset="-122"/>
                          <a:cs typeface="Apple SD Gothic Neo" pitchFamily="34" charset="-120"/>
                        </a:rPr>
                        <a:t>4단계 사이클의 1단계 "정상 상태"가 애초에 비어 있다</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커넥션 풀 · 스레드 고갈</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부하가 있어야 자원이 고갈된다</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4"/>
                  </a:ext>
                </a:extLst>
              </a:tr>
              <a:tr h="512064">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리트라이 폭주, 캐시 미스 연쇄</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A5561"/>
                          </a:solidFill>
                          <a:latin typeface="Apple SD Gothic Neo" pitchFamily="34" charset="0"/>
                          <a:ea typeface="Apple SD Gothic Neo" pitchFamily="34" charset="-122"/>
                          <a:cs typeface="Apple SD Gothic Neo" pitchFamily="34" charset="-120"/>
                        </a:rPr>
                        <a:t>트래픽이 있어야 증폭이 일어난다</a:t>
                      </a:r>
                      <a:endParaRPr lang="en-US" sz="1250" dirty="0">
                        <a:latin typeface="Apple SD Gothic Neo" charset="0"/>
                        <a:ea typeface="Apple SD Gothic Neo" charset="0"/>
                        <a:cs typeface="Apple SD Gothic Neo" charset="0"/>
                      </a:endParaRPr>
                    </a:p>
                  </a:txBody>
                  <a:tcPr marL="114300" marR="114300" marT="76200" marB="762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640080" y="4892040"/>
            <a:ext cx="10911535" cy="1325880"/>
          </a:xfrm>
          <a:prstGeom prst="roundRect">
            <a:avLst>
              <a:gd name="adj" fmla="val 4138"/>
            </a:avLst>
          </a:prstGeom>
          <a:solidFill>
            <a:srgbClr val="FDF0EE"/>
          </a:solidFill>
          <a:ln/>
        </p:spPr>
        <p:txBody>
          <a:bodyPr/>
          <a:lstStyle/>
          <a:p>
            <a:endParaRPr lang="ko-Kore-KR" altLang="en-US"/>
          </a:p>
        </p:txBody>
      </p:sp>
      <p:sp>
        <p:nvSpPr>
          <p:cNvPr id="7" name="Text 4"/>
          <p:cNvSpPr txBox="1"/>
          <p:nvPr/>
        </p:nvSpPr>
        <p:spPr>
          <a:xfrm>
            <a:off x="1005840" y="4892040"/>
            <a:ext cx="10180015" cy="1325880"/>
          </a:xfrm>
          <a:prstGeom prst="rect">
            <a:avLst/>
          </a:prstGeom>
          <a:noFill/>
          <a:ln/>
        </p:spPr>
        <p:txBody>
          <a:bodyPr wrap="square" lIns="0" tIns="0" rIns="0" bIns="0" rtlCol="0" anchor="ctr"/>
          <a:lstStyle/>
          <a:p>
            <a:pPr marL="0" indent="0">
              <a:lnSpc>
                <a:spcPts val="2600"/>
              </a:lnSpc>
              <a:buNone/>
            </a:pPr>
            <a:r>
              <a:rPr lang="en-US" sz="1500" b="1" dirty="0">
                <a:solidFill>
                  <a:srgbClr val="D13212"/>
                </a:solidFill>
                <a:latin typeface="Apple SD Gothic Neo" pitchFamily="34" charset="0"/>
                <a:ea typeface="Apple SD Gothic Neo" pitchFamily="34" charset="-122"/>
                <a:cs typeface="Apple SD Gothic Neo" pitchFamily="34" charset="-120"/>
              </a:rPr>
              <a:t>부하 의존적 실패 유형은 통째로 사각지대다.
</a:t>
            </a:r>
            <a:r>
              <a:rPr lang="en-US" sz="1250" dirty="0">
                <a:solidFill>
                  <a:srgbClr val="4A5561"/>
                </a:solidFill>
                <a:latin typeface="Apple SD Gothic Neo" pitchFamily="34" charset="0"/>
                <a:ea typeface="Apple SD Gothic Neo" pitchFamily="34" charset="-122"/>
                <a:cs typeface="Apple SD Gothic Neo" pitchFamily="34" charset="-120"/>
              </a:rPr>
              <a:t>1단계가 비어 있는 채로 3단계를 한 셈이다. 정직하게 말하면 지금 결과는 실제 운영 환경의 거동과 다를 수 있다.</a:t>
            </a:r>
            <a:endParaRPr lang="en-US" sz="1500" dirty="0"/>
          </a:p>
        </p:txBody>
      </p:sp>
      <p:sp>
        <p:nvSpPr>
          <p:cNvPr id="9" name="Text 5"/>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4 · 배운 것과 한계</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그래도 의미가 있는 이유: 이건 재해 복구의 문제다</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카오스 엔지니어링이 답하려는 질문은 "얼마나 견디나(성능)"가 아니라 "깨졌을 때 돌아오나(복구)"다.</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11535" cy="1463040"/>
        </p:xfrm>
        <a:graphic>
          <a:graphicData uri="http://schemas.openxmlformats.org/drawingml/2006/table">
            <a:tbl>
              <a:tblPr/>
              <a:tblGrid>
                <a:gridCol w="15544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365760">
                <a:tc>
                  <a:txBody>
                    <a:bodyPr/>
                    <a:lstStyle/>
                    <a:p>
                      <a:pPr marL="0" indent="0" algn="l">
                        <a:buNone/>
                      </a:pPr>
                      <a:endParaRPr lang="en-US" sz="110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00" b="1" dirty="0">
                          <a:solidFill>
                            <a:srgbClr val="FFFFFF"/>
                          </a:solidFill>
                          <a:latin typeface="Apple SD Gothic Neo" pitchFamily="34" charset="0"/>
                          <a:ea typeface="Apple SD Gothic Neo" pitchFamily="34" charset="-122"/>
                          <a:cs typeface="Apple SD Gothic Neo" pitchFamily="34" charset="-120"/>
                        </a:rPr>
                        <a:t>부하 테스트 / 성능 시험</a:t>
                      </a:r>
                      <a:endParaRPr lang="en-US" sz="110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00" b="1" dirty="0">
                          <a:solidFill>
                            <a:srgbClr val="FFFFFF"/>
                          </a:solidFill>
                          <a:latin typeface="Apple SD Gothic Neo" pitchFamily="34" charset="0"/>
                          <a:ea typeface="Apple SD Gothic Neo" pitchFamily="34" charset="-122"/>
                          <a:cs typeface="Apple SD Gothic Neo" pitchFamily="34" charset="-120"/>
                        </a:rPr>
                        <a:t>카오스 엔지니어링</a:t>
                      </a:r>
                      <a:endParaRPr lang="en-US" sz="110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365760">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질문</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얼마나 많이 버티나</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232F3E"/>
                          </a:solidFill>
                          <a:latin typeface="Apple SD Gothic Neo" pitchFamily="34" charset="0"/>
                          <a:ea typeface="Apple SD Gothic Neo" pitchFamily="34" charset="-122"/>
                          <a:cs typeface="Apple SD Gothic Neo" pitchFamily="34" charset="-120"/>
                        </a:rPr>
                        <a:t>깨졌을 때 돌아오나</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필요한 것</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트래픽이 반드시 필요</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150" b="1" dirty="0">
                          <a:solidFill>
                            <a:srgbClr val="232F3E"/>
                          </a:solidFill>
                          <a:latin typeface="Apple SD Gothic Neo" pitchFamily="34" charset="0"/>
                          <a:ea typeface="Apple SD Gothic Neo" pitchFamily="34" charset="-122"/>
                          <a:cs typeface="Apple SD Gothic Neo" pitchFamily="34" charset="-120"/>
                        </a:rPr>
                        <a:t>복구 검증은 트래픽 없이도 상당 부분 가능</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2"/>
                  </a:ext>
                </a:extLst>
              </a:tr>
              <a:tr h="365760">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목표 지표</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TPS, 레이턴시</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01A88D"/>
                          </a:solidFill>
                          <a:latin typeface="Apple SD Gothic Neo" pitchFamily="34" charset="0"/>
                          <a:ea typeface="Apple SD Gothic Neo" pitchFamily="34" charset="-122"/>
                          <a:cs typeface="Apple SD Gothic Neo" pitchFamily="34" charset="-120"/>
                        </a:rPr>
                        <a:t>RTO / RPO, 자동 복구 여부</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txBox="1"/>
          <p:nvPr/>
        </p:nvSpPr>
        <p:spPr>
          <a:xfrm>
            <a:off x="640080" y="3346704"/>
            <a:ext cx="10911535" cy="310896"/>
          </a:xfrm>
          <a:prstGeom prst="rect">
            <a:avLst/>
          </a:prstGeom>
          <a:noFill/>
          <a:ln/>
        </p:spPr>
        <p:txBody>
          <a:bodyPr wrap="square" lIns="0" tIns="0" rIns="0" bIns="0" rtlCol="0" anchor="ctr"/>
          <a:lstStyle/>
          <a:p>
            <a:pPr marL="0" indent="0">
              <a:buNone/>
            </a:pPr>
            <a:r>
              <a:rPr lang="en-US" sz="1250" b="1" dirty="0">
                <a:solidFill>
                  <a:srgbClr val="232F3E"/>
                </a:solidFill>
                <a:latin typeface="Apple SD Gothic Neo" pitchFamily="34" charset="0"/>
                <a:ea typeface="Apple SD Gothic Neo" pitchFamily="34" charset="-122"/>
                <a:cs typeface="Apple SD Gothic Neo" pitchFamily="34" charset="-120"/>
              </a:rPr>
              <a:t>트래픽 없이도 확인되는 것 — 그리고 우리가 실제로 확인한 것</a:t>
            </a:r>
            <a:endParaRPr lang="en-US" sz="12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40080" y="3675888"/>
          <a:ext cx="10911535" cy="1828800"/>
        </p:xfrm>
        <a:graphic>
          <a:graphicData uri="http://schemas.openxmlformats.org/drawingml/2006/table">
            <a:tbl>
              <a:tblPr/>
              <a:tblGrid>
                <a:gridCol w="3931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608015">
                  <a:extLst>
                    <a:ext uri="{9D8B030D-6E8A-4147-A177-3AD203B41FA5}">
                      <a16:colId xmlns:a16="http://schemas.microsoft.com/office/drawing/2014/main" val="20002"/>
                    </a:ext>
                  </a:extLst>
                </a:gridCol>
              </a:tblGrid>
              <a:tr h="365760">
                <a:tc>
                  <a:txBody>
                    <a:bodyPr/>
                    <a:lstStyle/>
                    <a:p>
                      <a:pPr marL="0" indent="0" algn="l">
                        <a:buNone/>
                      </a:pPr>
                      <a:r>
                        <a:rPr lang="en-US" sz="1100" b="1" dirty="0">
                          <a:solidFill>
                            <a:srgbClr val="FFFFFF"/>
                          </a:solidFill>
                          <a:latin typeface="Apple SD Gothic Neo" pitchFamily="34" charset="0"/>
                          <a:ea typeface="Apple SD Gothic Neo" pitchFamily="34" charset="-122"/>
                          <a:cs typeface="Apple SD Gothic Neo" pitchFamily="34" charset="-120"/>
                        </a:rPr>
                        <a:t>확인 대상</a:t>
                      </a:r>
                      <a:endParaRPr lang="en-US" sz="110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00" b="1" dirty="0">
                          <a:solidFill>
                            <a:srgbClr val="FFFFFF"/>
                          </a:solidFill>
                          <a:latin typeface="Apple SD Gothic Neo" pitchFamily="34" charset="0"/>
                          <a:ea typeface="Apple SD Gothic Neo" pitchFamily="34" charset="-122"/>
                          <a:cs typeface="Apple SD Gothic Neo" pitchFamily="34" charset="-120"/>
                        </a:rPr>
                        <a:t>대응 개념</a:t>
                      </a:r>
                      <a:endParaRPr lang="en-US" sz="110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tc>
                  <a:txBody>
                    <a:bodyPr/>
                    <a:lstStyle/>
                    <a:p>
                      <a:pPr marL="0" indent="0" algn="l">
                        <a:buNone/>
                      </a:pPr>
                      <a:r>
                        <a:rPr lang="en-US" sz="1100" b="1" dirty="0">
                          <a:solidFill>
                            <a:srgbClr val="FFFFFF"/>
                          </a:solidFill>
                          <a:latin typeface="Apple SD Gothic Neo" pitchFamily="34" charset="0"/>
                          <a:ea typeface="Apple SD Gothic Neo" pitchFamily="34" charset="-122"/>
                          <a:cs typeface="Apple SD Gothic Neo" pitchFamily="34" charset="-120"/>
                        </a:rPr>
                        <a:t>우리 결과</a:t>
                      </a:r>
                      <a:endParaRPr lang="en-US" sz="110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365760">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Pod가 죽으면 자동 재생성되나, 몇 초 걸리나</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RTO</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687078"/>
                          </a:solidFill>
                          <a:latin typeface="Apple SD Gothic Neo" pitchFamily="34" charset="0"/>
                          <a:ea typeface="Apple SD Gothic Neo" pitchFamily="34" charset="-122"/>
                          <a:cs typeface="Apple SD Gothic Neo" pitchFamily="34" charset="-120"/>
                        </a:rPr>
                        <a:t>미측정 (주입 못 함)</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데이터가 살아남나</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RPO</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150" b="1" dirty="0">
                          <a:solidFill>
                            <a:srgbClr val="D13212"/>
                          </a:solidFill>
                          <a:latin typeface="Apple SD Gothic Neo" pitchFamily="34" charset="0"/>
                          <a:ea typeface="Apple SD Gothic Neo" pitchFamily="34" charset="-122"/>
                          <a:cs typeface="Apple SD Gothic Neo" pitchFamily="34" charset="-120"/>
                        </a:rPr>
                        <a:t>확인됨 — catalog-mysql이 emptyDir → 데이터 100% 손실</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2"/>
                  </a:ext>
                </a:extLst>
              </a:tr>
              <a:tr h="365760">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단일 장애점이 있나</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이중화</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D13212"/>
                          </a:solidFill>
                          <a:latin typeface="Apple SD Gothic Neo" pitchFamily="34" charset="0"/>
                          <a:ea typeface="Apple SD Gothic Neo" pitchFamily="34" charset="-122"/>
                          <a:cs typeface="Apple SD Gothic Neo" pitchFamily="34" charset="-120"/>
                        </a:rPr>
                        <a:t>확인됨 — checkout-redis 레플리카 1개 → SPOF</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의존성이 어디서 끊기나</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150" dirty="0">
                          <a:solidFill>
                            <a:srgbClr val="4A5561"/>
                          </a:solidFill>
                          <a:latin typeface="Apple SD Gothic Neo" pitchFamily="34" charset="0"/>
                          <a:ea typeface="Apple SD Gothic Neo" pitchFamily="34" charset="-122"/>
                          <a:cs typeface="Apple SD Gothic Neo" pitchFamily="34" charset="-120"/>
                        </a:rPr>
                        <a:t>격리 경계</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tc>
                  <a:txBody>
                    <a:bodyPr/>
                    <a:lstStyle/>
                    <a:p>
                      <a:pPr marL="0" indent="0" algn="l">
                        <a:buNone/>
                      </a:pPr>
                      <a:r>
                        <a:rPr lang="en-US" sz="1150" b="1" dirty="0">
                          <a:solidFill>
                            <a:srgbClr val="D13212"/>
                          </a:solidFill>
                          <a:latin typeface="Apple SD Gothic Neo" pitchFamily="34" charset="0"/>
                          <a:ea typeface="Apple SD Gothic Neo" pitchFamily="34" charset="-122"/>
                          <a:cs typeface="Apple SD Gothic Neo" pitchFamily="34" charset="-120"/>
                        </a:rPr>
                        <a:t>확인됨 — checkout → redis → orders 연쇄</a:t>
                      </a:r>
                      <a:endParaRPr lang="en-US" sz="1150" dirty="0">
                        <a:latin typeface="Apple SD Gothic Neo" charset="0"/>
                        <a:ea typeface="Apple SD Gothic Neo" charset="0"/>
                        <a:cs typeface="Apple SD Gothic Neo" charset="0"/>
                      </a:endParaRPr>
                    </a:p>
                  </a:txBody>
                  <a:tcPr marL="114300" marR="1143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F7F8F8"/>
                    </a:solidFill>
                  </a:tcPr>
                </a:tc>
                <a:extLst>
                  <a:ext uri="{0D108BD9-81ED-4DB2-BD59-A6C34878D82A}">
                    <a16:rowId xmlns:a16="http://schemas.microsoft.com/office/drawing/2014/main" val="10004"/>
                  </a:ext>
                </a:extLst>
              </a:tr>
            </a:tbl>
          </a:graphicData>
        </a:graphic>
      </p:graphicFrame>
      <p:sp>
        <p:nvSpPr>
          <p:cNvPr id="8" name="Shape 4"/>
          <p:cNvSpPr/>
          <p:nvPr/>
        </p:nvSpPr>
        <p:spPr>
          <a:xfrm>
            <a:off x="640080" y="5742432"/>
            <a:ext cx="10911535" cy="566928"/>
          </a:xfrm>
          <a:prstGeom prst="roundRect">
            <a:avLst>
              <a:gd name="adj" fmla="val 9677"/>
            </a:avLst>
          </a:prstGeom>
          <a:solidFill>
            <a:srgbClr val="E8F8F5"/>
          </a:solidFill>
          <a:ln/>
        </p:spPr>
        <p:txBody>
          <a:bodyPr/>
          <a:lstStyle/>
          <a:p>
            <a:endParaRPr lang="ko-Kore-KR" altLang="en-US"/>
          </a:p>
        </p:txBody>
      </p:sp>
      <p:sp>
        <p:nvSpPr>
          <p:cNvPr id="9" name="Text 5"/>
          <p:cNvSpPr txBox="1"/>
          <p:nvPr/>
        </p:nvSpPr>
        <p:spPr>
          <a:xfrm>
            <a:off x="1005840" y="5742432"/>
            <a:ext cx="10180015" cy="566928"/>
          </a:xfrm>
          <a:prstGeom prst="rect">
            <a:avLst/>
          </a:prstGeom>
          <a:noFill/>
          <a:ln/>
        </p:spPr>
        <p:txBody>
          <a:bodyPr wrap="square" lIns="0" tIns="0" rIns="0" bIns="0" rtlCol="0" anchor="ctr"/>
          <a:lstStyle/>
          <a:p>
            <a:pPr marL="0" indent="0">
              <a:buNone/>
            </a:pPr>
            <a:r>
              <a:rPr lang="en-US" sz="1250" b="1" dirty="0">
                <a:solidFill>
                  <a:srgbClr val="01A88D"/>
                </a:solidFill>
                <a:latin typeface="Apple SD Gothic Neo" pitchFamily="34" charset="0"/>
                <a:ea typeface="Apple SD Gothic Neo" pitchFamily="34" charset="-122"/>
                <a:cs typeface="Apple SD Gothic Neo" pitchFamily="34" charset="-120"/>
              </a:rPr>
              <a:t>순서 — </a:t>
            </a:r>
            <a:r>
              <a:rPr lang="en-US" sz="1250" b="1" dirty="0">
                <a:solidFill>
                  <a:srgbClr val="232F3E"/>
                </a:solidFill>
                <a:latin typeface="Apple SD Gothic Neo" pitchFamily="34" charset="0"/>
                <a:ea typeface="Apple SD Gothic Neo" pitchFamily="34" charset="-122"/>
                <a:cs typeface="Apple SD Gothic Neo" pitchFamily="34" charset="-120"/>
              </a:rPr>
              <a:t>구조적 복원력을 먼저 확보하고, 그다음 트래픽을 얹어 영향의 크기를 측정한다.</a:t>
            </a:r>
            <a:endParaRPr lang="en-US" sz="1250" dirty="0"/>
          </a:p>
        </p:txBody>
      </p:sp>
      <p:sp>
        <p:nvSpPr>
          <p:cNvPr id="11" name="Text 6"/>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256032"/>
          </a:xfrm>
          <a:prstGeom prst="rect">
            <a:avLst/>
          </a:prstGeom>
          <a:noFill/>
          <a:ln/>
        </p:spPr>
        <p:txBody>
          <a:bodyPr wrap="square" lIns="0" tIns="0" rIns="0" bIns="0" rtlCol="0" anchor="ctr"/>
          <a:lstStyle/>
          <a:p>
            <a:pPr marL="0" indent="0">
              <a:buNone/>
            </a:pPr>
            <a:r>
              <a:rPr lang="en-US" sz="1100" b="1" kern="0" spc="120" dirty="0">
                <a:solidFill>
                  <a:srgbClr val="FF9900"/>
                </a:solidFill>
                <a:latin typeface="Apple SD Gothic Neo" pitchFamily="34" charset="0"/>
                <a:ea typeface="Apple SD Gothic Neo" pitchFamily="34" charset="-122"/>
                <a:cs typeface="Apple SD Gothic Neo" pitchFamily="34" charset="-120"/>
              </a:rPr>
              <a:t>PART 4 · 배운 것과 한계</a:t>
            </a:r>
            <a:endParaRPr lang="en-US" sz="1100" dirty="0"/>
          </a:p>
        </p:txBody>
      </p:sp>
      <p:sp>
        <p:nvSpPr>
          <p:cNvPr id="3" name="Text 1"/>
          <p:cNvSpPr txBox="1"/>
          <p:nvPr/>
        </p:nvSpPr>
        <p:spPr>
          <a:xfrm>
            <a:off x="640080" y="548640"/>
            <a:ext cx="10911535" cy="502920"/>
          </a:xfrm>
          <a:prstGeom prst="rect">
            <a:avLst/>
          </a:prstGeom>
          <a:noFill/>
          <a:ln/>
        </p:spPr>
        <p:txBody>
          <a:bodyPr wrap="square" lIns="0" tIns="0" rIns="0" bIns="0" rtlCol="0" anchor="ctr"/>
          <a:lstStyle/>
          <a:p>
            <a:pPr marL="0" indent="0">
              <a:buNone/>
            </a:pPr>
            <a:r>
              <a:rPr lang="en-US" sz="2800" b="1" dirty="0">
                <a:solidFill>
                  <a:srgbClr val="232F3E"/>
                </a:solidFill>
                <a:latin typeface="Apple SD Gothic Neo" pitchFamily="34" charset="0"/>
                <a:ea typeface="Apple SD Gothic Neo" pitchFamily="34" charset="-122"/>
                <a:cs typeface="Apple SD Gothic Neo" pitchFamily="34" charset="-120"/>
              </a:rPr>
              <a:t>RTO와 RPO — 복구를 재는 두 개의 자</a:t>
            </a:r>
            <a:endParaRPr lang="en-US" sz="2800" dirty="0"/>
          </a:p>
        </p:txBody>
      </p:sp>
      <p:sp>
        <p:nvSpPr>
          <p:cNvPr id="4" name="Text 2"/>
          <p:cNvSpPr txBox="1"/>
          <p:nvPr/>
        </p:nvSpPr>
        <p:spPr>
          <a:xfrm>
            <a:off x="640080" y="1078992"/>
            <a:ext cx="10911535" cy="310896"/>
          </a:xfrm>
          <a:prstGeom prst="rect">
            <a:avLst/>
          </a:prstGeom>
          <a:noFill/>
          <a:ln/>
        </p:spPr>
        <p:txBody>
          <a:bodyPr wrap="square" lIns="0" tIns="0" rIns="0" bIns="0" rtlCol="0" anchor="ctr"/>
          <a:lstStyle/>
          <a:p>
            <a:pPr marL="0" indent="0">
              <a:buNone/>
            </a:pPr>
            <a:r>
              <a:rPr lang="en-US" sz="1300" dirty="0">
                <a:solidFill>
                  <a:srgbClr val="687078"/>
                </a:solidFill>
                <a:latin typeface="Apple SD Gothic Neo" pitchFamily="34" charset="0"/>
                <a:ea typeface="Apple SD Gothic Neo" pitchFamily="34" charset="-122"/>
                <a:cs typeface="Apple SD Gothic Neo" pitchFamily="34" charset="-120"/>
              </a:rPr>
              <a:t>앞 장의 목표 지표를 풀어둔다. 하나는 시간 축, 하나는 데이터 축이다.</a:t>
            </a:r>
            <a:endParaRPr lang="en-US" sz="1300" dirty="0"/>
          </a:p>
        </p:txBody>
      </p:sp>
      <p:sp>
        <p:nvSpPr>
          <p:cNvPr id="5" name="Shape 3"/>
          <p:cNvSpPr/>
          <p:nvPr/>
        </p:nvSpPr>
        <p:spPr>
          <a:xfrm>
            <a:off x="640080" y="1627632"/>
            <a:ext cx="10911535" cy="1682496"/>
          </a:xfrm>
          <a:prstGeom prst="roundRect">
            <a:avLst>
              <a:gd name="adj" fmla="val 3261"/>
            </a:avLst>
          </a:prstGeom>
          <a:solidFill>
            <a:srgbClr val="F7F8F8"/>
          </a:solidFill>
          <a:ln/>
        </p:spPr>
        <p:txBody>
          <a:bodyPr/>
          <a:lstStyle/>
          <a:p>
            <a:endParaRPr lang="ko-Kore-KR" altLang="en-US"/>
          </a:p>
        </p:txBody>
      </p:sp>
      <p:sp>
        <p:nvSpPr>
          <p:cNvPr id="6" name="Text 4"/>
          <p:cNvSpPr txBox="1"/>
          <p:nvPr/>
        </p:nvSpPr>
        <p:spPr>
          <a:xfrm>
            <a:off x="5440680" y="1719072"/>
            <a:ext cx="1645920" cy="274320"/>
          </a:xfrm>
          <a:prstGeom prst="rect">
            <a:avLst/>
          </a:prstGeom>
          <a:noFill/>
          <a:ln/>
        </p:spPr>
        <p:txBody>
          <a:bodyPr wrap="square" lIns="0" tIns="0" rIns="0" bIns="0" rtlCol="0" anchor="ctr"/>
          <a:lstStyle/>
          <a:p>
            <a:pPr marL="0" indent="0" algn="ctr">
              <a:buNone/>
            </a:pPr>
            <a:r>
              <a:rPr lang="en-US" sz="1200" b="1" dirty="0">
                <a:solidFill>
                  <a:srgbClr val="D13212"/>
                </a:solidFill>
                <a:latin typeface="Apple SD Gothic Neo" pitchFamily="34" charset="0"/>
                <a:ea typeface="Apple SD Gothic Neo" pitchFamily="34" charset="-122"/>
                <a:cs typeface="Apple SD Gothic Neo" pitchFamily="34" charset="-120"/>
              </a:rPr>
              <a:t>장애 발생</a:t>
            </a:r>
            <a:endParaRPr lang="en-US" sz="1200" dirty="0"/>
          </a:p>
        </p:txBody>
      </p:sp>
      <p:sp>
        <p:nvSpPr>
          <p:cNvPr id="7" name="Shape 5"/>
          <p:cNvSpPr/>
          <p:nvPr/>
        </p:nvSpPr>
        <p:spPr>
          <a:xfrm>
            <a:off x="6249924" y="2011680"/>
            <a:ext cx="27432" cy="786384"/>
          </a:xfrm>
          <a:prstGeom prst="rect">
            <a:avLst/>
          </a:prstGeom>
          <a:solidFill>
            <a:srgbClr val="D13212"/>
          </a:solidFill>
          <a:ln/>
        </p:spPr>
        <p:txBody>
          <a:bodyPr/>
          <a:lstStyle/>
          <a:p>
            <a:endParaRPr lang="ko-Kore-KR" altLang="en-US"/>
          </a:p>
        </p:txBody>
      </p:sp>
      <p:sp>
        <p:nvSpPr>
          <p:cNvPr id="8" name="Text 6"/>
          <p:cNvSpPr txBox="1"/>
          <p:nvPr/>
        </p:nvSpPr>
        <p:spPr>
          <a:xfrm>
            <a:off x="3017520" y="2121408"/>
            <a:ext cx="3246120" cy="274320"/>
          </a:xfrm>
          <a:prstGeom prst="rect">
            <a:avLst/>
          </a:prstGeom>
          <a:noFill/>
          <a:ln/>
        </p:spPr>
        <p:txBody>
          <a:bodyPr wrap="square" lIns="0" tIns="0" rIns="0" bIns="0" rtlCol="0" anchor="ctr"/>
          <a:lstStyle/>
          <a:p>
            <a:pPr marL="0" indent="0" algn="ctr">
              <a:buNone/>
            </a:pPr>
            <a:r>
              <a:rPr lang="en-US" sz="1200" b="1" dirty="0">
                <a:solidFill>
                  <a:srgbClr val="527FFF"/>
                </a:solidFill>
                <a:latin typeface="Apple SD Gothic Neo" pitchFamily="34" charset="0"/>
                <a:ea typeface="Apple SD Gothic Neo" pitchFamily="34" charset="-122"/>
                <a:cs typeface="Apple SD Gothic Neo" pitchFamily="34" charset="-120"/>
              </a:rPr>
              <a:t>RPO  ·  데이터 손실 구간</a:t>
            </a:r>
            <a:endParaRPr lang="en-US" sz="1200" dirty="0"/>
          </a:p>
        </p:txBody>
      </p:sp>
      <p:sp>
        <p:nvSpPr>
          <p:cNvPr id="9" name="Text 7"/>
          <p:cNvSpPr txBox="1"/>
          <p:nvPr/>
        </p:nvSpPr>
        <p:spPr>
          <a:xfrm>
            <a:off x="6263640" y="2121408"/>
            <a:ext cx="3246120" cy="274320"/>
          </a:xfrm>
          <a:prstGeom prst="rect">
            <a:avLst/>
          </a:prstGeom>
          <a:noFill/>
          <a:ln/>
        </p:spPr>
        <p:txBody>
          <a:bodyPr wrap="square" lIns="0" tIns="0" rIns="0" bIns="0" rtlCol="0" anchor="ctr"/>
          <a:lstStyle/>
          <a:p>
            <a:pPr marL="0" indent="0" algn="ctr">
              <a:buNone/>
            </a:pPr>
            <a:r>
              <a:rPr lang="en-US" sz="1200" b="1" dirty="0">
                <a:solidFill>
                  <a:srgbClr val="FF9900"/>
                </a:solidFill>
                <a:latin typeface="Apple SD Gothic Neo" pitchFamily="34" charset="0"/>
                <a:ea typeface="Apple SD Gothic Neo" pitchFamily="34" charset="-122"/>
                <a:cs typeface="Apple SD Gothic Neo" pitchFamily="34" charset="-120"/>
              </a:rPr>
              <a:t>RTO  ·  다운타임</a:t>
            </a:r>
            <a:endParaRPr lang="en-US" sz="1200" dirty="0"/>
          </a:p>
        </p:txBody>
      </p:sp>
      <p:sp>
        <p:nvSpPr>
          <p:cNvPr id="10" name="Shape 8"/>
          <p:cNvSpPr/>
          <p:nvPr/>
        </p:nvSpPr>
        <p:spPr>
          <a:xfrm>
            <a:off x="3017520" y="2487168"/>
            <a:ext cx="3246120" cy="164592"/>
          </a:xfrm>
          <a:prstGeom prst="rect">
            <a:avLst/>
          </a:prstGeom>
          <a:solidFill>
            <a:srgbClr val="527FFF"/>
          </a:solidFill>
          <a:ln/>
        </p:spPr>
        <p:txBody>
          <a:bodyPr/>
          <a:lstStyle/>
          <a:p>
            <a:endParaRPr lang="ko-Kore-KR" altLang="en-US"/>
          </a:p>
        </p:txBody>
      </p:sp>
      <p:sp>
        <p:nvSpPr>
          <p:cNvPr id="11" name="Shape 9"/>
          <p:cNvSpPr/>
          <p:nvPr/>
        </p:nvSpPr>
        <p:spPr>
          <a:xfrm>
            <a:off x="6263640" y="2487168"/>
            <a:ext cx="3246120" cy="164592"/>
          </a:xfrm>
          <a:prstGeom prst="rect">
            <a:avLst/>
          </a:prstGeom>
          <a:solidFill>
            <a:srgbClr val="FF9900"/>
          </a:solidFill>
          <a:ln/>
        </p:spPr>
        <p:txBody>
          <a:bodyPr/>
          <a:lstStyle/>
          <a:p>
            <a:endParaRPr lang="ko-Kore-KR" altLang="en-US"/>
          </a:p>
        </p:txBody>
      </p:sp>
      <p:sp>
        <p:nvSpPr>
          <p:cNvPr id="12" name="Shape 10"/>
          <p:cNvSpPr/>
          <p:nvPr/>
        </p:nvSpPr>
        <p:spPr>
          <a:xfrm>
            <a:off x="3003804" y="2395728"/>
            <a:ext cx="27432" cy="347472"/>
          </a:xfrm>
          <a:prstGeom prst="rect">
            <a:avLst/>
          </a:prstGeom>
          <a:solidFill>
            <a:srgbClr val="687078"/>
          </a:solidFill>
          <a:ln/>
        </p:spPr>
        <p:txBody>
          <a:bodyPr/>
          <a:lstStyle/>
          <a:p>
            <a:endParaRPr lang="ko-Kore-KR" altLang="en-US"/>
          </a:p>
        </p:txBody>
      </p:sp>
      <p:sp>
        <p:nvSpPr>
          <p:cNvPr id="13" name="Shape 11"/>
          <p:cNvSpPr/>
          <p:nvPr/>
        </p:nvSpPr>
        <p:spPr>
          <a:xfrm>
            <a:off x="9496044" y="2395728"/>
            <a:ext cx="27432" cy="347472"/>
          </a:xfrm>
          <a:prstGeom prst="rect">
            <a:avLst/>
          </a:prstGeom>
          <a:solidFill>
            <a:srgbClr val="687078"/>
          </a:solidFill>
          <a:ln/>
        </p:spPr>
        <p:txBody>
          <a:bodyPr/>
          <a:lstStyle/>
          <a:p>
            <a:endParaRPr lang="ko-Kore-KR" altLang="en-US"/>
          </a:p>
        </p:txBody>
      </p:sp>
      <p:sp>
        <p:nvSpPr>
          <p:cNvPr id="14" name="Text 12"/>
          <p:cNvSpPr txBox="1"/>
          <p:nvPr/>
        </p:nvSpPr>
        <p:spPr>
          <a:xfrm>
            <a:off x="1920240" y="2779776"/>
            <a:ext cx="2194560" cy="457200"/>
          </a:xfrm>
          <a:prstGeom prst="rect">
            <a:avLst/>
          </a:prstGeom>
          <a:noFill/>
          <a:ln/>
        </p:spPr>
        <p:txBody>
          <a:bodyPr wrap="square" lIns="0" tIns="0" rIns="0" bIns="0" rtlCol="0" anchor="t"/>
          <a:lstStyle/>
          <a:p>
            <a:pPr marL="0" indent="0" algn="ctr">
              <a:lnSpc>
                <a:spcPts val="1400"/>
              </a:lnSpc>
              <a:buNone/>
            </a:pPr>
            <a:r>
              <a:rPr lang="en-US" sz="1000" dirty="0">
                <a:solidFill>
                  <a:srgbClr val="687078"/>
                </a:solidFill>
                <a:latin typeface="Apple SD Gothic Neo" pitchFamily="34" charset="0"/>
                <a:ea typeface="Apple SD Gothic Neo" pitchFamily="34" charset="-122"/>
                <a:cs typeface="Apple SD Gothic Neo" pitchFamily="34" charset="-120"/>
              </a:rPr>
              <a:t>마지막 정상 시점</a:t>
            </a:r>
            <a:endParaRPr lang="en-US" sz="1000" dirty="0"/>
          </a:p>
          <a:p>
            <a:pPr marL="0" indent="0" algn="ctr">
              <a:lnSpc>
                <a:spcPts val="1400"/>
              </a:lnSpc>
              <a:buNone/>
            </a:pPr>
            <a:r>
              <a:rPr lang="en-US" sz="1000" dirty="0">
                <a:solidFill>
                  <a:srgbClr val="687078"/>
                </a:solidFill>
                <a:latin typeface="Apple SD Gothic Neo" pitchFamily="34" charset="0"/>
                <a:ea typeface="Apple SD Gothic Neo" pitchFamily="34" charset="-122"/>
                <a:cs typeface="Apple SD Gothic Neo" pitchFamily="34" charset="-120"/>
              </a:rPr>
              <a:t>(백업 · 복제 지점)</a:t>
            </a:r>
            <a:endParaRPr lang="en-US" sz="1000" dirty="0"/>
          </a:p>
        </p:txBody>
      </p:sp>
      <p:sp>
        <p:nvSpPr>
          <p:cNvPr id="15" name="Text 13"/>
          <p:cNvSpPr txBox="1"/>
          <p:nvPr/>
        </p:nvSpPr>
        <p:spPr>
          <a:xfrm>
            <a:off x="8412480" y="2779776"/>
            <a:ext cx="2194560" cy="457200"/>
          </a:xfrm>
          <a:prstGeom prst="rect">
            <a:avLst/>
          </a:prstGeom>
          <a:noFill/>
          <a:ln/>
        </p:spPr>
        <p:txBody>
          <a:bodyPr wrap="square" lIns="0" tIns="0" rIns="0" bIns="0" rtlCol="0" anchor="t"/>
          <a:lstStyle/>
          <a:p>
            <a:pPr marL="0" indent="0" algn="ctr">
              <a:lnSpc>
                <a:spcPts val="1400"/>
              </a:lnSpc>
              <a:buNone/>
            </a:pPr>
            <a:r>
              <a:rPr lang="en-US" sz="1000" dirty="0">
                <a:solidFill>
                  <a:srgbClr val="687078"/>
                </a:solidFill>
                <a:latin typeface="Apple SD Gothic Neo" pitchFamily="34" charset="0"/>
                <a:ea typeface="Apple SD Gothic Neo" pitchFamily="34" charset="-122"/>
                <a:cs typeface="Apple SD Gothic Neo" pitchFamily="34" charset="-120"/>
              </a:rPr>
              <a:t>완전 복구</a:t>
            </a:r>
            <a:endParaRPr lang="en-US" sz="1000" dirty="0"/>
          </a:p>
          <a:p>
            <a:pPr marL="0" indent="0" algn="ctr">
              <a:lnSpc>
                <a:spcPts val="1400"/>
              </a:lnSpc>
              <a:buNone/>
            </a:pPr>
            <a:r>
              <a:rPr lang="en-US" sz="1000" dirty="0">
                <a:solidFill>
                  <a:srgbClr val="687078"/>
                </a:solidFill>
                <a:latin typeface="Apple SD Gothic Neo" pitchFamily="34" charset="0"/>
                <a:ea typeface="Apple SD Gothic Neo" pitchFamily="34" charset="-122"/>
                <a:cs typeface="Apple SD Gothic Neo" pitchFamily="34" charset="-120"/>
              </a:rPr>
              <a:t>(서비스 정상)</a:t>
            </a:r>
            <a:endParaRPr lang="en-US" sz="1000" dirty="0"/>
          </a:p>
        </p:txBody>
      </p:sp>
      <p:sp>
        <p:nvSpPr>
          <p:cNvPr id="16" name="Shape 14"/>
          <p:cNvSpPr/>
          <p:nvPr/>
        </p:nvSpPr>
        <p:spPr>
          <a:xfrm>
            <a:off x="640080" y="3438144"/>
            <a:ext cx="5272888" cy="2148840"/>
          </a:xfrm>
          <a:prstGeom prst="roundRect">
            <a:avLst>
              <a:gd name="adj" fmla="val 2553"/>
            </a:avLst>
          </a:prstGeom>
          <a:solidFill>
            <a:srgbClr val="F2F7FF"/>
          </a:solidFill>
          <a:ln/>
        </p:spPr>
        <p:txBody>
          <a:bodyPr/>
          <a:lstStyle/>
          <a:p>
            <a:endParaRPr lang="ko-Kore-KR" altLang="en-US"/>
          </a:p>
        </p:txBody>
      </p:sp>
      <p:sp>
        <p:nvSpPr>
          <p:cNvPr id="17" name="Text 15"/>
          <p:cNvSpPr txBox="1"/>
          <p:nvPr/>
        </p:nvSpPr>
        <p:spPr>
          <a:xfrm>
            <a:off x="950976" y="3566160"/>
            <a:ext cx="4651096" cy="274320"/>
          </a:xfrm>
          <a:prstGeom prst="rect">
            <a:avLst/>
          </a:prstGeom>
          <a:noFill/>
          <a:ln/>
        </p:spPr>
        <p:txBody>
          <a:bodyPr wrap="square" lIns="0" tIns="0" rIns="0" bIns="0" rtlCol="0" anchor="ctr"/>
          <a:lstStyle/>
          <a:p>
            <a:pPr marL="0" indent="0">
              <a:buNone/>
            </a:pPr>
            <a:r>
              <a:rPr lang="en-US" sz="1400" b="1" dirty="0">
                <a:solidFill>
                  <a:srgbClr val="527FFF"/>
                </a:solidFill>
                <a:latin typeface="Apple SD Gothic Neo" pitchFamily="34" charset="0"/>
                <a:ea typeface="Apple SD Gothic Neo" pitchFamily="34" charset="-122"/>
                <a:cs typeface="Apple SD Gothic Neo" pitchFamily="34" charset="-120"/>
              </a:rPr>
              <a:t>RPO — Recovery Point Objective</a:t>
            </a:r>
            <a:endParaRPr lang="en-US" sz="1400" dirty="0"/>
          </a:p>
        </p:txBody>
      </p:sp>
      <p:sp>
        <p:nvSpPr>
          <p:cNvPr id="18" name="Text 16"/>
          <p:cNvSpPr txBox="1"/>
          <p:nvPr/>
        </p:nvSpPr>
        <p:spPr>
          <a:xfrm>
            <a:off x="950976" y="3840480"/>
            <a:ext cx="4651096" cy="237744"/>
          </a:xfrm>
          <a:prstGeom prst="rect">
            <a:avLst/>
          </a:prstGeom>
          <a:noFill/>
          <a:ln/>
        </p:spPr>
        <p:txBody>
          <a:bodyPr wrap="square" lIns="0" tIns="0" rIns="0" bIns="0" rtlCol="0" anchor="ctr"/>
          <a:lstStyle/>
          <a:p>
            <a:pPr marL="0" indent="0">
              <a:buNone/>
            </a:pPr>
            <a:r>
              <a:rPr lang="en-US" sz="1050" dirty="0">
                <a:solidFill>
                  <a:srgbClr val="687078"/>
                </a:solidFill>
                <a:latin typeface="Apple SD Gothic Neo" pitchFamily="34" charset="0"/>
                <a:ea typeface="Apple SD Gothic Neo" pitchFamily="34" charset="-122"/>
                <a:cs typeface="Apple SD Gothic Neo" pitchFamily="34" charset="-120"/>
              </a:rPr>
              <a:t>얼마나 되돌아가는가  ·  데이터 축</a:t>
            </a:r>
            <a:endParaRPr lang="en-US" sz="1050" dirty="0"/>
          </a:p>
        </p:txBody>
      </p:sp>
      <p:sp>
        <p:nvSpPr>
          <p:cNvPr id="19" name="Text 17"/>
          <p:cNvSpPr txBox="1"/>
          <p:nvPr/>
        </p:nvSpPr>
        <p:spPr>
          <a:xfrm>
            <a:off x="950976" y="4114800"/>
            <a:ext cx="4651096" cy="475488"/>
          </a:xfrm>
          <a:prstGeom prst="rect">
            <a:avLst/>
          </a:prstGeom>
          <a:noFill/>
          <a:ln/>
        </p:spPr>
        <p:txBody>
          <a:bodyPr wrap="square" lIns="0" tIns="0" rIns="0" bIns="0" rtlCol="0" anchor="t"/>
          <a:lstStyle/>
          <a:p>
            <a:pPr marL="0" indent="0">
              <a:lnSpc>
                <a:spcPts val="1800"/>
              </a:lnSpc>
              <a:buNone/>
            </a:pPr>
            <a:r>
              <a:rPr lang="en-US" sz="1150" dirty="0">
                <a:solidFill>
                  <a:srgbClr val="4A5561"/>
                </a:solidFill>
                <a:latin typeface="Apple SD Gothic Neo" pitchFamily="34" charset="0"/>
                <a:ea typeface="Apple SD Gothic Neo" pitchFamily="34" charset="-122"/>
                <a:cs typeface="Apple SD Gothic Neo" pitchFamily="34" charset="-120"/>
              </a:rPr>
              <a:t>장애가 나면 어느 시점까지의 데이터를 잃어도 되는가.</a:t>
            </a:r>
            <a:endParaRPr lang="en-US" sz="1150" dirty="0"/>
          </a:p>
          <a:p>
            <a:pPr marL="0" indent="0">
              <a:lnSpc>
                <a:spcPts val="1800"/>
              </a:lnSpc>
              <a:buNone/>
            </a:pPr>
            <a:r>
              <a:rPr lang="en-US" sz="1150" dirty="0">
                <a:solidFill>
                  <a:srgbClr val="4A5561"/>
                </a:solidFill>
                <a:latin typeface="Apple SD Gothic Neo" pitchFamily="34" charset="0"/>
                <a:ea typeface="Apple SD Gothic Neo" pitchFamily="34" charset="-122"/>
                <a:cs typeface="Apple SD Gothic Neo" pitchFamily="34" charset="-120"/>
              </a:rPr>
              <a:t>마지막 복구 지점과 장애 시점 사이가 곧 잃는 데이터다.</a:t>
            </a:r>
            <a:endParaRPr lang="en-US" sz="1150" dirty="0"/>
          </a:p>
        </p:txBody>
      </p:sp>
      <p:sp>
        <p:nvSpPr>
          <p:cNvPr id="20" name="Text 18"/>
          <p:cNvSpPr txBox="1"/>
          <p:nvPr/>
        </p:nvSpPr>
        <p:spPr>
          <a:xfrm>
            <a:off x="950976" y="4626864"/>
            <a:ext cx="4651096" cy="457200"/>
          </a:xfrm>
          <a:prstGeom prst="rect">
            <a:avLst/>
          </a:prstGeom>
          <a:noFill/>
          <a:ln/>
        </p:spPr>
        <p:txBody>
          <a:bodyPr wrap="square" lIns="0" tIns="0" rIns="0" bIns="0" rtlCol="0" anchor="t"/>
          <a:lstStyle/>
          <a:p>
            <a:pPr marL="0" indent="0">
              <a:lnSpc>
                <a:spcPts val="1600"/>
              </a:lnSpc>
              <a:buNone/>
            </a:pPr>
            <a:r>
              <a:rPr lang="en-US" sz="1050" dirty="0">
                <a:solidFill>
                  <a:srgbClr val="687078"/>
                </a:solidFill>
                <a:latin typeface="Apple SD Gothic Neo" pitchFamily="34" charset="0"/>
                <a:ea typeface="Apple SD Gothic Neo" pitchFamily="34" charset="-122"/>
                <a:cs typeface="Apple SD Gothic Neo" pitchFamily="34" charset="-120"/>
              </a:rPr>
              <a:t>확인하는 법 — 볼륨·복제 구성을 읽고 Pod를 재시작해본다.</a:t>
            </a:r>
            <a:endParaRPr lang="en-US" sz="1050" dirty="0"/>
          </a:p>
          <a:p>
            <a:pPr marL="0" indent="0">
              <a:lnSpc>
                <a:spcPts val="1600"/>
              </a:lnSpc>
              <a:buNone/>
            </a:pPr>
            <a:r>
              <a:rPr lang="en-US" sz="1050" dirty="0">
                <a:solidFill>
                  <a:srgbClr val="687078"/>
                </a:solidFill>
                <a:latin typeface="Apple SD Gothic Neo" pitchFamily="34" charset="0"/>
                <a:ea typeface="Apple SD Gothic Neo" pitchFamily="34" charset="-122"/>
                <a:cs typeface="Apple SD Gothic Neo" pitchFamily="34" charset="-120"/>
              </a:rPr>
              <a:t>트래픽이 없어도 확인된다.</a:t>
            </a:r>
            <a:endParaRPr lang="en-US" sz="1050" dirty="0"/>
          </a:p>
        </p:txBody>
      </p:sp>
      <p:sp>
        <p:nvSpPr>
          <p:cNvPr id="21" name="Shape 19"/>
          <p:cNvSpPr/>
          <p:nvPr/>
        </p:nvSpPr>
        <p:spPr>
          <a:xfrm>
            <a:off x="950976" y="5084064"/>
            <a:ext cx="4651096" cy="402336"/>
          </a:xfrm>
          <a:prstGeom prst="roundRect">
            <a:avLst>
              <a:gd name="adj" fmla="val 13636"/>
            </a:avLst>
          </a:prstGeom>
          <a:solidFill>
            <a:srgbClr val="FFFFFF"/>
          </a:solidFill>
          <a:ln/>
        </p:spPr>
        <p:txBody>
          <a:bodyPr/>
          <a:lstStyle/>
          <a:p>
            <a:endParaRPr lang="ko-Kore-KR" altLang="en-US"/>
          </a:p>
        </p:txBody>
      </p:sp>
      <p:sp>
        <p:nvSpPr>
          <p:cNvPr id="22" name="Text 20"/>
          <p:cNvSpPr txBox="1"/>
          <p:nvPr/>
        </p:nvSpPr>
        <p:spPr>
          <a:xfrm>
            <a:off x="1152144" y="5084064"/>
            <a:ext cx="4248760" cy="402336"/>
          </a:xfrm>
          <a:prstGeom prst="rect">
            <a:avLst/>
          </a:prstGeom>
          <a:noFill/>
          <a:ln/>
        </p:spPr>
        <p:txBody>
          <a:bodyPr wrap="square" lIns="0" tIns="0" rIns="0" bIns="0" rtlCol="0" anchor="ctr"/>
          <a:lstStyle/>
          <a:p>
            <a:pPr marL="0" indent="0">
              <a:buNone/>
            </a:pPr>
            <a:r>
              <a:rPr lang="en-US" sz="1050" b="1" dirty="0">
                <a:solidFill>
                  <a:srgbClr val="D13212"/>
                </a:solidFill>
                <a:latin typeface="Apple SD Gothic Neo" pitchFamily="34" charset="0"/>
                <a:ea typeface="Apple SD Gothic Neo" pitchFamily="34" charset="-122"/>
                <a:cs typeface="Apple SD Gothic Neo" pitchFamily="34" charset="-120"/>
              </a:rPr>
              <a:t>우리 결과 — catalog-mysql = emptyDir → 사실상 무한대</a:t>
            </a:r>
            <a:endParaRPr lang="en-US" sz="1050" dirty="0"/>
          </a:p>
        </p:txBody>
      </p:sp>
      <p:sp>
        <p:nvSpPr>
          <p:cNvPr id="23" name="Shape 21"/>
          <p:cNvSpPr/>
          <p:nvPr/>
        </p:nvSpPr>
        <p:spPr>
          <a:xfrm>
            <a:off x="6278728" y="3438144"/>
            <a:ext cx="5272888" cy="2148840"/>
          </a:xfrm>
          <a:prstGeom prst="roundRect">
            <a:avLst>
              <a:gd name="adj" fmla="val 2553"/>
            </a:avLst>
          </a:prstGeom>
          <a:solidFill>
            <a:srgbClr val="FFF4E5"/>
          </a:solidFill>
          <a:ln/>
        </p:spPr>
        <p:txBody>
          <a:bodyPr/>
          <a:lstStyle/>
          <a:p>
            <a:endParaRPr lang="ko-Kore-KR" altLang="en-US"/>
          </a:p>
        </p:txBody>
      </p:sp>
      <p:sp>
        <p:nvSpPr>
          <p:cNvPr id="24" name="Text 22"/>
          <p:cNvSpPr txBox="1"/>
          <p:nvPr/>
        </p:nvSpPr>
        <p:spPr>
          <a:xfrm>
            <a:off x="6589624" y="3566160"/>
            <a:ext cx="4651096" cy="274320"/>
          </a:xfrm>
          <a:prstGeom prst="rect">
            <a:avLst/>
          </a:prstGeom>
          <a:noFill/>
          <a:ln/>
        </p:spPr>
        <p:txBody>
          <a:bodyPr wrap="square" lIns="0" tIns="0" rIns="0" bIns="0" rtlCol="0" anchor="ctr"/>
          <a:lstStyle/>
          <a:p>
            <a:pPr marL="0" indent="0">
              <a:buNone/>
            </a:pPr>
            <a:r>
              <a:rPr lang="en-US" sz="1400" b="1" dirty="0">
                <a:solidFill>
                  <a:srgbClr val="FF9900"/>
                </a:solidFill>
                <a:latin typeface="Apple SD Gothic Neo" pitchFamily="34" charset="0"/>
                <a:ea typeface="Apple SD Gothic Neo" pitchFamily="34" charset="-122"/>
                <a:cs typeface="Apple SD Gothic Neo" pitchFamily="34" charset="-120"/>
              </a:rPr>
              <a:t>RTO — Recovery Time Objective</a:t>
            </a:r>
            <a:endParaRPr lang="en-US" sz="1400" dirty="0"/>
          </a:p>
        </p:txBody>
      </p:sp>
      <p:sp>
        <p:nvSpPr>
          <p:cNvPr id="25" name="Text 23"/>
          <p:cNvSpPr txBox="1"/>
          <p:nvPr/>
        </p:nvSpPr>
        <p:spPr>
          <a:xfrm>
            <a:off x="6589624" y="3840480"/>
            <a:ext cx="4651096" cy="237744"/>
          </a:xfrm>
          <a:prstGeom prst="rect">
            <a:avLst/>
          </a:prstGeom>
          <a:noFill/>
          <a:ln/>
        </p:spPr>
        <p:txBody>
          <a:bodyPr wrap="square" lIns="0" tIns="0" rIns="0" bIns="0" rtlCol="0" anchor="ctr"/>
          <a:lstStyle/>
          <a:p>
            <a:pPr marL="0" indent="0">
              <a:buNone/>
            </a:pPr>
            <a:r>
              <a:rPr lang="en-US" sz="1050" dirty="0">
                <a:solidFill>
                  <a:srgbClr val="687078"/>
                </a:solidFill>
                <a:latin typeface="Apple SD Gothic Neo" pitchFamily="34" charset="0"/>
                <a:ea typeface="Apple SD Gothic Neo" pitchFamily="34" charset="-122"/>
                <a:cs typeface="Apple SD Gothic Neo" pitchFamily="34" charset="-120"/>
              </a:rPr>
              <a:t>얼마나 빨리 돌아오는가  ·  시간 축</a:t>
            </a:r>
            <a:endParaRPr lang="en-US" sz="1050" dirty="0"/>
          </a:p>
        </p:txBody>
      </p:sp>
      <p:sp>
        <p:nvSpPr>
          <p:cNvPr id="26" name="Text 24"/>
          <p:cNvSpPr txBox="1"/>
          <p:nvPr/>
        </p:nvSpPr>
        <p:spPr>
          <a:xfrm>
            <a:off x="6589624" y="4114800"/>
            <a:ext cx="4651096" cy="475488"/>
          </a:xfrm>
          <a:prstGeom prst="rect">
            <a:avLst/>
          </a:prstGeom>
          <a:noFill/>
          <a:ln/>
        </p:spPr>
        <p:txBody>
          <a:bodyPr wrap="square" lIns="0" tIns="0" rIns="0" bIns="0" rtlCol="0" anchor="t"/>
          <a:lstStyle/>
          <a:p>
            <a:pPr marL="0" indent="0">
              <a:lnSpc>
                <a:spcPts val="1800"/>
              </a:lnSpc>
              <a:buNone/>
            </a:pPr>
            <a:r>
              <a:rPr lang="en-US" sz="1150" dirty="0">
                <a:solidFill>
                  <a:srgbClr val="4A5561"/>
                </a:solidFill>
                <a:latin typeface="Apple SD Gothic Neo" pitchFamily="34" charset="0"/>
                <a:ea typeface="Apple SD Gothic Neo" pitchFamily="34" charset="-122"/>
                <a:cs typeface="Apple SD Gothic Neo" pitchFamily="34" charset="-120"/>
              </a:rPr>
              <a:t>장애 발생부터 서비스가 정상으로 돌아올 때까지</a:t>
            </a:r>
            <a:endParaRPr lang="en-US" sz="1150" dirty="0"/>
          </a:p>
          <a:p>
            <a:pPr marL="0" indent="0">
              <a:lnSpc>
                <a:spcPts val="1800"/>
              </a:lnSpc>
              <a:buNone/>
            </a:pPr>
            <a:r>
              <a:rPr lang="en-US" sz="1150" dirty="0">
                <a:solidFill>
                  <a:srgbClr val="4A5561"/>
                </a:solidFill>
                <a:latin typeface="Apple SD Gothic Neo" pitchFamily="34" charset="0"/>
                <a:ea typeface="Apple SD Gothic Neo" pitchFamily="34" charset="-122"/>
                <a:cs typeface="Apple SD Gothic Neo" pitchFamily="34" charset="-120"/>
              </a:rPr>
              <a:t>허용 가능한 시간. 그 사이가 다운타임이다.</a:t>
            </a:r>
            <a:endParaRPr lang="en-US" sz="1150" dirty="0"/>
          </a:p>
        </p:txBody>
      </p:sp>
      <p:sp>
        <p:nvSpPr>
          <p:cNvPr id="27" name="Text 25"/>
          <p:cNvSpPr txBox="1"/>
          <p:nvPr/>
        </p:nvSpPr>
        <p:spPr>
          <a:xfrm>
            <a:off x="6589624" y="4626864"/>
            <a:ext cx="4651096" cy="457200"/>
          </a:xfrm>
          <a:prstGeom prst="rect">
            <a:avLst/>
          </a:prstGeom>
          <a:noFill/>
          <a:ln/>
        </p:spPr>
        <p:txBody>
          <a:bodyPr wrap="square" lIns="0" tIns="0" rIns="0" bIns="0" rtlCol="0" anchor="t"/>
          <a:lstStyle/>
          <a:p>
            <a:pPr marL="0" indent="0">
              <a:lnSpc>
                <a:spcPts val="1600"/>
              </a:lnSpc>
              <a:buNone/>
            </a:pPr>
            <a:r>
              <a:rPr lang="en-US" sz="1050" dirty="0">
                <a:solidFill>
                  <a:srgbClr val="687078"/>
                </a:solidFill>
                <a:latin typeface="Apple SD Gothic Neo" pitchFamily="34" charset="0"/>
                <a:ea typeface="Apple SD Gothic Neo" pitchFamily="34" charset="-122"/>
                <a:cs typeface="Apple SD Gothic Neo" pitchFamily="34" charset="-120"/>
              </a:rPr>
              <a:t>확인하는 법 — Pod를 죽이고 새 Pod가 Ready가 될 때까지</a:t>
            </a:r>
            <a:endParaRPr lang="en-US" sz="1050" dirty="0"/>
          </a:p>
          <a:p>
            <a:pPr marL="0" indent="0">
              <a:lnSpc>
                <a:spcPts val="1600"/>
              </a:lnSpc>
              <a:buNone/>
            </a:pPr>
            <a:r>
              <a:rPr lang="en-US" sz="1050" dirty="0">
                <a:solidFill>
                  <a:srgbClr val="687078"/>
                </a:solidFill>
                <a:latin typeface="Apple SD Gothic Neo" pitchFamily="34" charset="0"/>
                <a:ea typeface="Apple SD Gothic Neo" pitchFamily="34" charset="-122"/>
                <a:cs typeface="Apple SD Gothic Neo" pitchFamily="34" charset="-120"/>
              </a:rPr>
              <a:t>초를 잰다. 실제 주입이 필요하다.</a:t>
            </a:r>
            <a:endParaRPr lang="en-US" sz="1050" dirty="0"/>
          </a:p>
        </p:txBody>
      </p:sp>
      <p:sp>
        <p:nvSpPr>
          <p:cNvPr id="28" name="Shape 26"/>
          <p:cNvSpPr/>
          <p:nvPr/>
        </p:nvSpPr>
        <p:spPr>
          <a:xfrm>
            <a:off x="6589624" y="5084064"/>
            <a:ext cx="4651096" cy="402336"/>
          </a:xfrm>
          <a:prstGeom prst="roundRect">
            <a:avLst>
              <a:gd name="adj" fmla="val 13636"/>
            </a:avLst>
          </a:prstGeom>
          <a:solidFill>
            <a:srgbClr val="FFFFFF"/>
          </a:solidFill>
          <a:ln/>
        </p:spPr>
        <p:txBody>
          <a:bodyPr/>
          <a:lstStyle/>
          <a:p>
            <a:endParaRPr lang="ko-Kore-KR" altLang="en-US"/>
          </a:p>
        </p:txBody>
      </p:sp>
      <p:sp>
        <p:nvSpPr>
          <p:cNvPr id="29" name="Text 27"/>
          <p:cNvSpPr txBox="1"/>
          <p:nvPr/>
        </p:nvSpPr>
        <p:spPr>
          <a:xfrm>
            <a:off x="6790792" y="5084064"/>
            <a:ext cx="4248760" cy="402336"/>
          </a:xfrm>
          <a:prstGeom prst="rect">
            <a:avLst/>
          </a:prstGeom>
          <a:noFill/>
          <a:ln/>
        </p:spPr>
        <p:txBody>
          <a:bodyPr wrap="square" lIns="0" tIns="0" rIns="0" bIns="0" rtlCol="0" anchor="ctr"/>
          <a:lstStyle/>
          <a:p>
            <a:pPr marL="0" indent="0">
              <a:buNone/>
            </a:pPr>
            <a:r>
              <a:rPr lang="en-US" sz="1050" b="1" dirty="0">
                <a:solidFill>
                  <a:srgbClr val="4A5561"/>
                </a:solidFill>
                <a:latin typeface="Apple SD Gothic Neo" pitchFamily="34" charset="0"/>
                <a:ea typeface="Apple SD Gothic Neo" pitchFamily="34" charset="-122"/>
                <a:cs typeface="Apple SD Gothic Neo" pitchFamily="34" charset="-120"/>
              </a:rPr>
              <a:t>우리 결과 — 미측정. 주입을 못 해 숫자가 없다</a:t>
            </a:r>
            <a:endParaRPr lang="en-US" sz="1050" dirty="0"/>
          </a:p>
        </p:txBody>
      </p:sp>
      <p:sp>
        <p:nvSpPr>
          <p:cNvPr id="30" name="Shape 28"/>
          <p:cNvSpPr/>
          <p:nvPr/>
        </p:nvSpPr>
        <p:spPr>
          <a:xfrm>
            <a:off x="640080" y="5715000"/>
            <a:ext cx="10911535" cy="566928"/>
          </a:xfrm>
          <a:prstGeom prst="roundRect">
            <a:avLst>
              <a:gd name="adj" fmla="val 9677"/>
            </a:avLst>
          </a:prstGeom>
          <a:solidFill>
            <a:srgbClr val="E8F8F5"/>
          </a:solidFill>
          <a:ln/>
        </p:spPr>
        <p:txBody>
          <a:bodyPr/>
          <a:lstStyle/>
          <a:p>
            <a:endParaRPr lang="ko-Kore-KR" altLang="en-US"/>
          </a:p>
        </p:txBody>
      </p:sp>
      <p:sp>
        <p:nvSpPr>
          <p:cNvPr id="31" name="Text 29"/>
          <p:cNvSpPr txBox="1"/>
          <p:nvPr/>
        </p:nvSpPr>
        <p:spPr>
          <a:xfrm>
            <a:off x="1005840" y="5715000"/>
            <a:ext cx="10180015" cy="566928"/>
          </a:xfrm>
          <a:prstGeom prst="rect">
            <a:avLst/>
          </a:prstGeom>
          <a:noFill/>
          <a:ln/>
        </p:spPr>
        <p:txBody>
          <a:bodyPr wrap="square" lIns="0" tIns="0" rIns="0" bIns="0" rtlCol="0" anchor="ctr"/>
          <a:lstStyle/>
          <a:p>
            <a:pPr marL="0" indent="0">
              <a:buNone/>
            </a:pPr>
            <a:r>
              <a:rPr lang="en-US" sz="1250" b="1" dirty="0">
                <a:solidFill>
                  <a:srgbClr val="232F3E"/>
                </a:solidFill>
                <a:latin typeface="Apple SD Gothic Neo" pitchFamily="34" charset="0"/>
                <a:ea typeface="Apple SD Gothic Neo" pitchFamily="34" charset="-122"/>
                <a:cs typeface="Apple SD Gothic Neo" pitchFamily="34" charset="-120"/>
              </a:rPr>
              <a:t>이 둘이 카오스 엔지니어링의 목표 지표다. </a:t>
            </a:r>
            <a:r>
              <a:rPr lang="en-US" sz="1250" dirty="0">
                <a:solidFill>
                  <a:srgbClr val="4A5561"/>
                </a:solidFill>
                <a:latin typeface="Apple SD Gothic Neo" pitchFamily="34" charset="0"/>
                <a:ea typeface="Apple SD Gothic Neo" pitchFamily="34" charset="-122"/>
                <a:cs typeface="Apple SD Gothic Neo" pitchFamily="34" charset="-120"/>
              </a:rPr>
              <a:t>TPS·레이턴시는 부하 테스트의 지표다.</a:t>
            </a:r>
            <a:endParaRPr lang="en-US" sz="1250" dirty="0"/>
          </a:p>
        </p:txBody>
      </p:sp>
      <p:sp>
        <p:nvSpPr>
          <p:cNvPr id="33" name="Text 30"/>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D5DBDB"/>
                </a:solidFill>
                <a:latin typeface="Apple SD Gothic Neo" pitchFamily="34" charset="0"/>
                <a:ea typeface="Apple SD Gothic Neo" pitchFamily="34" charset="-122"/>
                <a:cs typeface="Apple SD Gothic Neo"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32F3E"/>
        </a:solidFill>
        <a:effectLst/>
      </p:bgPr>
    </p:bg>
    <p:spTree>
      <p:nvGrpSpPr>
        <p:cNvPr id="1" name=""/>
        <p:cNvGrpSpPr/>
        <p:nvPr/>
      </p:nvGrpSpPr>
      <p:grpSpPr>
        <a:xfrm>
          <a:off x="0" y="0"/>
          <a:ext cx="0" cy="0"/>
          <a:chOff x="0" y="0"/>
          <a:chExt cx="0" cy="0"/>
        </a:xfrm>
      </p:grpSpPr>
      <p:sp>
        <p:nvSpPr>
          <p:cNvPr id="2" name="Text 0"/>
          <p:cNvSpPr txBox="1"/>
          <p:nvPr/>
        </p:nvSpPr>
        <p:spPr>
          <a:xfrm>
            <a:off x="914400" y="1737360"/>
            <a:ext cx="10362895" cy="2194560"/>
          </a:xfrm>
          <a:prstGeom prst="rect">
            <a:avLst/>
          </a:prstGeom>
          <a:noFill/>
          <a:ln/>
        </p:spPr>
        <p:txBody>
          <a:bodyPr wrap="square" lIns="0" tIns="0" rIns="0" bIns="0" rtlCol="0" anchor="ctr"/>
          <a:lstStyle/>
          <a:p>
            <a:pPr marL="0" indent="0">
              <a:lnSpc>
                <a:spcPts val="6200"/>
              </a:lnSpc>
              <a:buNone/>
            </a:pPr>
            <a:r>
              <a:rPr lang="en-US" sz="4000" b="1" dirty="0">
                <a:solidFill>
                  <a:srgbClr val="FFFFFF"/>
                </a:solidFill>
                <a:latin typeface="Apple SD Gothic Neo" pitchFamily="34" charset="0"/>
                <a:ea typeface="Apple SD Gothic Neo" pitchFamily="34" charset="-122"/>
                <a:cs typeface="Apple SD Gothic Neo" pitchFamily="34" charset="-120"/>
              </a:rPr>
              <a:t>"실패를 없애려 하지 말고,</a:t>
            </a:r>
            <a:endParaRPr lang="en-US" sz="4000" dirty="0"/>
          </a:p>
          <a:p>
            <a:pPr marL="0" indent="0">
              <a:lnSpc>
                <a:spcPts val="6200"/>
              </a:lnSpc>
              <a:buNone/>
            </a:pPr>
            <a:r>
              <a:rPr lang="en-US" sz="4000" b="1" dirty="0">
                <a:solidFill>
                  <a:srgbClr val="FFFFFF"/>
                </a:solidFill>
                <a:latin typeface="Apple SD Gothic Neo" pitchFamily="34" charset="0"/>
                <a:ea typeface="Apple SD Gothic Neo" pitchFamily="34" charset="-122"/>
                <a:cs typeface="Apple SD Gothic Neo" pitchFamily="34" charset="-120"/>
              </a:rPr>
              <a:t>AI와 함께 실패를 설계하세요."</a:t>
            </a:r>
            <a:endParaRPr lang="en-US" sz="4000" dirty="0"/>
          </a:p>
        </p:txBody>
      </p:sp>
      <p:sp>
        <p:nvSpPr>
          <p:cNvPr id="3" name="Text 1"/>
          <p:cNvSpPr txBox="1"/>
          <p:nvPr/>
        </p:nvSpPr>
        <p:spPr>
          <a:xfrm>
            <a:off x="914400" y="3977640"/>
            <a:ext cx="10362895" cy="347472"/>
          </a:xfrm>
          <a:prstGeom prst="rect">
            <a:avLst/>
          </a:prstGeom>
          <a:noFill/>
          <a:ln/>
        </p:spPr>
        <p:txBody>
          <a:bodyPr wrap="square" lIns="0" tIns="0" rIns="0" bIns="0" rtlCol="0" anchor="ctr"/>
          <a:lstStyle/>
          <a:p>
            <a:pPr marL="0" indent="0">
              <a:buNone/>
            </a:pPr>
            <a:r>
              <a:rPr lang="en-US" sz="1400" dirty="0">
                <a:solidFill>
                  <a:srgbClr val="FF9900"/>
                </a:solidFill>
                <a:latin typeface="Apple SD Gothic Neo" pitchFamily="34" charset="0"/>
                <a:ea typeface="Apple SD Gothic Neo" pitchFamily="34" charset="-122"/>
                <a:cs typeface="Apple SD Gothic Neo" pitchFamily="34" charset="-120"/>
              </a:rPr>
              <a:t>— AWS Summit Seoul 2026 세션</a:t>
            </a:r>
            <a:endParaRPr lang="en-US" sz="1400" dirty="0"/>
          </a:p>
        </p:txBody>
      </p:sp>
      <p:sp>
        <p:nvSpPr>
          <p:cNvPr id="4" name="Shape 2"/>
          <p:cNvSpPr/>
          <p:nvPr/>
        </p:nvSpPr>
        <p:spPr>
          <a:xfrm>
            <a:off x="914400" y="4663440"/>
            <a:ext cx="10362895" cy="1280160"/>
          </a:xfrm>
          <a:prstGeom prst="roundRect">
            <a:avLst>
              <a:gd name="adj" fmla="val 4286"/>
            </a:avLst>
          </a:prstGeom>
          <a:solidFill>
            <a:srgbClr val="2E3B4C"/>
          </a:solidFill>
          <a:ln/>
        </p:spPr>
        <p:txBody>
          <a:bodyPr/>
          <a:lstStyle/>
          <a:p>
            <a:endParaRPr lang="ko-Kore-KR" altLang="en-US"/>
          </a:p>
        </p:txBody>
      </p:sp>
      <p:sp>
        <p:nvSpPr>
          <p:cNvPr id="5" name="Text 3"/>
          <p:cNvSpPr txBox="1"/>
          <p:nvPr/>
        </p:nvSpPr>
        <p:spPr>
          <a:xfrm>
            <a:off x="1280160" y="4663440"/>
            <a:ext cx="9631375" cy="1280160"/>
          </a:xfrm>
          <a:prstGeom prst="rect">
            <a:avLst/>
          </a:prstGeom>
          <a:noFill/>
          <a:ln/>
        </p:spPr>
        <p:txBody>
          <a:bodyPr wrap="square" lIns="0" tIns="0" rIns="0" bIns="0" rtlCol="0" anchor="ctr"/>
          <a:lstStyle/>
          <a:p>
            <a:pPr marL="0" indent="0">
              <a:lnSpc>
                <a:spcPts val="2400"/>
              </a:lnSpc>
              <a:buNone/>
            </a:pPr>
            <a:r>
              <a:rPr lang="en-US" sz="1350" b="1" dirty="0">
                <a:solidFill>
                  <a:srgbClr val="FFFFFF"/>
                </a:solidFill>
                <a:latin typeface="Apple SD Gothic Neo" pitchFamily="34" charset="0"/>
                <a:ea typeface="Apple SD Gothic Neo" pitchFamily="34" charset="-122"/>
                <a:cs typeface="Apple SD Gothic Neo" pitchFamily="34" charset="-120"/>
              </a:rPr>
              <a:t>AWS가 공식 제공하는 샘플 앱에도 상품 데이터가 Pod 재시작으로 전부 사라지는 구성이 들어 있었다.
</a:t>
            </a:r>
            <a:r>
              <a:rPr lang="en-US" sz="1350" dirty="0">
                <a:solidFill>
                  <a:srgbClr val="B8C0C8"/>
                </a:solidFill>
                <a:latin typeface="Apple SD Gothic Neo" pitchFamily="34" charset="0"/>
                <a:ea typeface="Apple SD Gothic Neo" pitchFamily="34" charset="-122"/>
                <a:cs typeface="Apple SD Gothic Neo" pitchFamily="34" charset="-120"/>
              </a:rPr>
              <a:t>트래픽 없이도, 2분 만에 찾았습니다. 우리 서비스에 같은 구성이 없다고 자신할 수 있는지는, 각자 한번 확인해보셨으면 합니다.</a:t>
            </a:r>
            <a:endParaRPr lang="en-US" sz="1350" dirty="0"/>
          </a:p>
        </p:txBody>
      </p:sp>
      <p:sp>
        <p:nvSpPr>
          <p:cNvPr id="7" name="Text 4"/>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5A6572"/>
                </a:solidFill>
                <a:latin typeface="Apple SD Gothic Neo" pitchFamily="34" charset="0"/>
                <a:ea typeface="Apple SD Gothic Neo" pitchFamily="34" charset="-122"/>
                <a:cs typeface="Apple SD Gothic Neo"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32F3E"/>
        </a:solidFill>
        <a:effectLst/>
      </p:bgPr>
    </p:bg>
    <p:spTree>
      <p:nvGrpSpPr>
        <p:cNvPr id="1" name=""/>
        <p:cNvGrpSpPr/>
        <p:nvPr/>
      </p:nvGrpSpPr>
      <p:grpSpPr>
        <a:xfrm>
          <a:off x="0" y="0"/>
          <a:ext cx="0" cy="0"/>
          <a:chOff x="0" y="0"/>
          <a:chExt cx="0" cy="0"/>
        </a:xfrm>
      </p:grpSpPr>
      <p:sp>
        <p:nvSpPr>
          <p:cNvPr id="2" name="Text 0"/>
          <p:cNvSpPr txBox="1"/>
          <p:nvPr/>
        </p:nvSpPr>
        <p:spPr>
          <a:xfrm>
            <a:off x="914400" y="1783080"/>
            <a:ext cx="10362895" cy="1097280"/>
          </a:xfrm>
          <a:prstGeom prst="rect">
            <a:avLst/>
          </a:prstGeom>
          <a:noFill/>
          <a:ln/>
        </p:spPr>
        <p:txBody>
          <a:bodyPr wrap="square" lIns="0" tIns="0" rIns="0" bIns="0" rtlCol="0" anchor="ctr"/>
          <a:lstStyle/>
          <a:p>
            <a:pPr marL="0" indent="0">
              <a:buNone/>
            </a:pPr>
            <a:r>
              <a:rPr lang="en-US" sz="4600" b="1" dirty="0">
                <a:solidFill>
                  <a:srgbClr val="FFFFFF"/>
                </a:solidFill>
                <a:latin typeface="Apple SD Gothic Neo" pitchFamily="34" charset="0"/>
                <a:ea typeface="Apple SD Gothic Neo" pitchFamily="34" charset="-122"/>
                <a:cs typeface="Apple SD Gothic Neo" pitchFamily="34" charset="-120"/>
              </a:rPr>
              <a:t>은총알은 없다</a:t>
            </a:r>
            <a:endParaRPr lang="en-US" sz="4600" dirty="0"/>
          </a:p>
        </p:txBody>
      </p:sp>
      <p:sp>
        <p:nvSpPr>
          <p:cNvPr id="3" name="Text 1"/>
          <p:cNvSpPr txBox="1"/>
          <p:nvPr/>
        </p:nvSpPr>
        <p:spPr>
          <a:xfrm>
            <a:off x="914400" y="2926080"/>
            <a:ext cx="10362895" cy="457200"/>
          </a:xfrm>
          <a:prstGeom prst="rect">
            <a:avLst/>
          </a:prstGeom>
          <a:noFill/>
          <a:ln/>
        </p:spPr>
        <p:txBody>
          <a:bodyPr wrap="square" lIns="0" tIns="0" rIns="0" bIns="0" rtlCol="0" anchor="ctr"/>
          <a:lstStyle/>
          <a:p>
            <a:pPr marL="0" indent="0">
              <a:buNone/>
            </a:pPr>
            <a:r>
              <a:rPr lang="en-US" sz="1900" dirty="0">
                <a:solidFill>
                  <a:srgbClr val="CFD6DD"/>
                </a:solidFill>
                <a:latin typeface="Apple SD Gothic Neo" pitchFamily="34" charset="0"/>
                <a:ea typeface="Apple SD Gothic Neo" pitchFamily="34" charset="-122"/>
                <a:cs typeface="Apple SD Gothic Neo" pitchFamily="34" charset="-120"/>
              </a:rPr>
              <a:t>No Silver Bullet — Essence and Accident in Software Engineering</a:t>
            </a:r>
            <a:endParaRPr lang="en-US" sz="1900" dirty="0"/>
          </a:p>
        </p:txBody>
      </p:sp>
      <p:sp>
        <p:nvSpPr>
          <p:cNvPr id="4" name="Text 2"/>
          <p:cNvSpPr txBox="1"/>
          <p:nvPr/>
        </p:nvSpPr>
        <p:spPr>
          <a:xfrm>
            <a:off x="914400" y="3429000"/>
            <a:ext cx="10362895" cy="347472"/>
          </a:xfrm>
          <a:prstGeom prst="rect">
            <a:avLst/>
          </a:prstGeom>
          <a:noFill/>
          <a:ln/>
        </p:spPr>
        <p:txBody>
          <a:bodyPr wrap="square" lIns="0" tIns="0" rIns="0" bIns="0" rtlCol="0" anchor="ctr"/>
          <a:lstStyle/>
          <a:p>
            <a:pPr marL="0" indent="0">
              <a:buNone/>
            </a:pPr>
            <a:r>
              <a:rPr lang="en-US" sz="1400" dirty="0">
                <a:solidFill>
                  <a:srgbClr val="FF9900"/>
                </a:solidFill>
                <a:latin typeface="Apple SD Gothic Neo" pitchFamily="34" charset="0"/>
                <a:ea typeface="Apple SD Gothic Neo" pitchFamily="34" charset="-122"/>
                <a:cs typeface="Apple SD Gothic Neo" pitchFamily="34" charset="-120"/>
              </a:rPr>
              <a:t>— Fred Brooks, 1986</a:t>
            </a:r>
            <a:endParaRPr lang="en-US" sz="1400" dirty="0"/>
          </a:p>
        </p:txBody>
      </p:sp>
      <p:sp>
        <p:nvSpPr>
          <p:cNvPr id="5" name="Shape 3"/>
          <p:cNvSpPr/>
          <p:nvPr/>
        </p:nvSpPr>
        <p:spPr>
          <a:xfrm>
            <a:off x="914400" y="4206240"/>
            <a:ext cx="10362895" cy="1600200"/>
          </a:xfrm>
          <a:prstGeom prst="roundRect">
            <a:avLst>
              <a:gd name="adj" fmla="val 3429"/>
            </a:avLst>
          </a:prstGeom>
          <a:solidFill>
            <a:srgbClr val="2E3B4C"/>
          </a:solidFill>
          <a:ln/>
        </p:spPr>
        <p:txBody>
          <a:bodyPr/>
          <a:lstStyle/>
          <a:p>
            <a:endParaRPr lang="ko-Kore-KR" altLang="en-US"/>
          </a:p>
        </p:txBody>
      </p:sp>
      <p:sp>
        <p:nvSpPr>
          <p:cNvPr id="6" name="Text 4"/>
          <p:cNvSpPr txBox="1"/>
          <p:nvPr/>
        </p:nvSpPr>
        <p:spPr>
          <a:xfrm>
            <a:off x="1280160" y="4206240"/>
            <a:ext cx="9631375" cy="1600200"/>
          </a:xfrm>
          <a:prstGeom prst="rect">
            <a:avLst/>
          </a:prstGeom>
          <a:noFill/>
          <a:ln/>
        </p:spPr>
        <p:txBody>
          <a:bodyPr wrap="square" lIns="0" tIns="0" rIns="0" bIns="0" rtlCol="0" anchor="ctr"/>
          <a:lstStyle/>
          <a:p>
            <a:pPr marL="0" indent="0">
              <a:lnSpc>
                <a:spcPts val="2600"/>
              </a:lnSpc>
              <a:buNone/>
            </a:pPr>
            <a:r>
              <a:rPr lang="en-US" sz="1350" b="1" dirty="0">
                <a:solidFill>
                  <a:srgbClr val="FFFFFF"/>
                </a:solidFill>
                <a:latin typeface="Apple SD Gothic Neo" pitchFamily="34" charset="0"/>
                <a:ea typeface="Apple SD Gothic Neo" pitchFamily="34" charset="-122"/>
                <a:cs typeface="Apple SD Gothic Neo" pitchFamily="34" charset="-120"/>
              </a:rPr>
              <a:t>카오스 엔지니어링을 한다고 장애를 완벽히 막을 수는 없습니다. AI 에이전트도 은총알이 아닙니다.
</a:t>
            </a:r>
            <a:r>
              <a:rPr lang="en-US" sz="1350" dirty="0">
                <a:solidFill>
                  <a:srgbClr val="B8C0C8"/>
                </a:solidFill>
                <a:latin typeface="Apple SD Gothic Neo" pitchFamily="34" charset="0"/>
                <a:ea typeface="Apple SD Gothic Neo" pitchFamily="34" charset="-122"/>
                <a:cs typeface="Apple SD Gothic Neo" pitchFamily="34" charset="-120"/>
              </a:rPr>
              <a:t>다만 대비를 시작하는 비용을 낮춰줍니다. 그리고 지금까지 우리를 막아온 건 바로 그 비용이었습니다.</a:t>
            </a:r>
            <a:endParaRPr lang="en-US" sz="1350" dirty="0"/>
          </a:p>
        </p:txBody>
      </p:sp>
      <p:sp>
        <p:nvSpPr>
          <p:cNvPr id="8" name="Text 5"/>
          <p:cNvSpPr txBox="1"/>
          <p:nvPr/>
        </p:nvSpPr>
        <p:spPr>
          <a:xfrm>
            <a:off x="11277295" y="6382512"/>
            <a:ext cx="457200" cy="274320"/>
          </a:xfrm>
          <a:prstGeom prst="rect">
            <a:avLst/>
          </a:prstGeom>
          <a:noFill/>
          <a:ln/>
        </p:spPr>
        <p:txBody>
          <a:bodyPr wrap="square" lIns="0" tIns="0" rIns="0" bIns="0" rtlCol="0" anchor="ctr"/>
          <a:lstStyle/>
          <a:p>
            <a:pPr marL="0" indent="0" algn="r">
              <a:buNone/>
            </a:pPr>
            <a:r>
              <a:rPr lang="en-US" sz="1000" dirty="0">
                <a:solidFill>
                  <a:srgbClr val="5A6572"/>
                </a:solidFill>
                <a:latin typeface="Apple SD Gothic Neo" pitchFamily="34" charset="0"/>
                <a:ea typeface="Apple SD Gothic Neo" pitchFamily="34" charset="-122"/>
                <a:cs typeface="Apple SD Gothic Neo" pitchFamily="34" charset="-120"/>
              </a:rPr>
              <a:t>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7228</Words>
  <Application>Microsoft Macintosh PowerPoint</Application>
  <PresentationFormat>와이드스크린</PresentationFormat>
  <Paragraphs>542</Paragraphs>
  <Slides>30</Slides>
  <Notes>30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30</vt:i4>
      </vt:variant>
    </vt:vector>
  </HeadingPairs>
  <TitlesOfParts>
    <vt:vector size="34" baseType="lpstr">
      <vt:lpstr>Apple SD Gothic Neo</vt:lpstr>
      <vt:lpstr>Arial</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실패를 설계하다 — AI 에이전트와 함께하는 카오스 엔지니어링</dc:title>
  <dc:subject>PptxGenJS Presentation</dc:subject>
  <dc:creator>Hyeonmin Park</dc:creator>
  <cp:lastModifiedBy>Hyeonmin Park (박현민)</cp:lastModifiedBy>
  <cp:revision>2</cp:revision>
  <dcterms:created xsi:type="dcterms:W3CDTF">2026-09-17T03:13:27Z</dcterms:created>
  <dcterms:modified xsi:type="dcterms:W3CDTF">2026-09-17T04:27:04Z</dcterms:modified>
</cp:coreProperties>
</file>